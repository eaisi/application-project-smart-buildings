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0"/>
  </p:notesMasterIdLst>
  <p:sldIdLst>
    <p:sldId id="392" r:id="rId5"/>
    <p:sldId id="376" r:id="rId6"/>
    <p:sldId id="285" r:id="rId7"/>
    <p:sldId id="382" r:id="rId8"/>
    <p:sldId id="383" r:id="rId9"/>
    <p:sldId id="280" r:id="rId10"/>
    <p:sldId id="282" r:id="rId11"/>
    <p:sldId id="378" r:id="rId12"/>
    <p:sldId id="391" r:id="rId13"/>
    <p:sldId id="389" r:id="rId14"/>
    <p:sldId id="384" r:id="rId15"/>
    <p:sldId id="281" r:id="rId16"/>
    <p:sldId id="393" r:id="rId17"/>
    <p:sldId id="394" r:id="rId18"/>
    <p:sldId id="387" r:id="rId19"/>
  </p:sldIdLst>
  <p:sldSz cx="12192000" cy="6858000"/>
  <p:notesSz cx="6797675" cy="99266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69696"/>
    <a:srgbClr val="4040FF"/>
    <a:srgbClr val="A7A7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301" autoAdjust="0"/>
    <p:restoredTop sz="94670" autoAdjust="0"/>
  </p:normalViewPr>
  <p:slideViewPr>
    <p:cSldViewPr snapToGrid="0">
      <p:cViewPr>
        <p:scale>
          <a:sx n="80" d="100"/>
          <a:sy n="80" d="100"/>
        </p:scale>
        <p:origin x="198" y="31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946275" cy="498366"/>
          </a:xfrm>
          <a:prstGeom prst="rect">
            <a:avLst/>
          </a:prstGeom>
        </p:spPr>
        <p:txBody>
          <a:bodyPr vert="horz" lIns="91440" tIns="45720" rIns="91440" bIns="45720" rtlCol="0"/>
          <a:lstStyle>
            <a:lvl1pPr algn="l">
              <a:defRPr sz="1200"/>
            </a:lvl1pPr>
          </a:lstStyle>
          <a:p>
            <a:endParaRPr lang="nl-NL"/>
          </a:p>
        </p:txBody>
      </p:sp>
      <p:sp>
        <p:nvSpPr>
          <p:cNvPr id="3" name="Date Placeholder 2"/>
          <p:cNvSpPr>
            <a:spLocks noGrp="1"/>
          </p:cNvSpPr>
          <p:nvPr>
            <p:ph type="dt" idx="1"/>
          </p:nvPr>
        </p:nvSpPr>
        <p:spPr>
          <a:xfrm>
            <a:off x="3849862" y="1"/>
            <a:ext cx="2946275" cy="498366"/>
          </a:xfrm>
          <a:prstGeom prst="rect">
            <a:avLst/>
          </a:prstGeom>
        </p:spPr>
        <p:txBody>
          <a:bodyPr vert="horz" lIns="91440" tIns="45720" rIns="91440" bIns="45720" rtlCol="0"/>
          <a:lstStyle>
            <a:lvl1pPr algn="r">
              <a:defRPr sz="1200"/>
            </a:lvl1pPr>
          </a:lstStyle>
          <a:p>
            <a:fld id="{3285F952-E140-426B-8E36-D0B63CAACA7C}" type="datetimeFigureOut">
              <a:rPr lang="nl-NL" smtClean="0"/>
              <a:t>4-6-2026</a:t>
            </a:fld>
            <a:endParaRPr lang="nl-NL"/>
          </a:p>
        </p:txBody>
      </p:sp>
      <p:sp>
        <p:nvSpPr>
          <p:cNvPr id="4" name="Slide Image Placehold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nl-NL"/>
          </a:p>
        </p:txBody>
      </p:sp>
      <p:sp>
        <p:nvSpPr>
          <p:cNvPr id="5" name="Notes Placeholder 4"/>
          <p:cNvSpPr>
            <a:spLocks noGrp="1"/>
          </p:cNvSpPr>
          <p:nvPr>
            <p:ph type="body" sz="quarter" idx="3"/>
          </p:nvPr>
        </p:nvSpPr>
        <p:spPr>
          <a:xfrm>
            <a:off x="680383" y="4776856"/>
            <a:ext cx="5436909" cy="3908953"/>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6" name="Footer Placeholder 5"/>
          <p:cNvSpPr>
            <a:spLocks noGrp="1"/>
          </p:cNvSpPr>
          <p:nvPr>
            <p:ph type="ftr" sz="quarter" idx="4"/>
          </p:nvPr>
        </p:nvSpPr>
        <p:spPr>
          <a:xfrm>
            <a:off x="0" y="9428273"/>
            <a:ext cx="2946275" cy="498366"/>
          </a:xfrm>
          <a:prstGeom prst="rect">
            <a:avLst/>
          </a:prstGeom>
        </p:spPr>
        <p:txBody>
          <a:bodyPr vert="horz" lIns="91440" tIns="45720" rIns="91440" bIns="45720" rtlCol="0" anchor="b"/>
          <a:lstStyle>
            <a:lvl1pPr algn="l">
              <a:defRPr sz="1200"/>
            </a:lvl1pPr>
          </a:lstStyle>
          <a:p>
            <a:endParaRPr lang="nl-NL"/>
          </a:p>
        </p:txBody>
      </p:sp>
      <p:sp>
        <p:nvSpPr>
          <p:cNvPr id="7" name="Slide Number Placeholder 6"/>
          <p:cNvSpPr>
            <a:spLocks noGrp="1"/>
          </p:cNvSpPr>
          <p:nvPr>
            <p:ph type="sldNum" sz="quarter" idx="5"/>
          </p:nvPr>
        </p:nvSpPr>
        <p:spPr>
          <a:xfrm>
            <a:off x="3849862" y="9428273"/>
            <a:ext cx="2946275" cy="498366"/>
          </a:xfrm>
          <a:prstGeom prst="rect">
            <a:avLst/>
          </a:prstGeom>
        </p:spPr>
        <p:txBody>
          <a:bodyPr vert="horz" lIns="91440" tIns="45720" rIns="91440" bIns="45720" rtlCol="0" anchor="b"/>
          <a:lstStyle>
            <a:lvl1pPr algn="r">
              <a:defRPr sz="1200"/>
            </a:lvl1pPr>
          </a:lstStyle>
          <a:p>
            <a:fld id="{2DBBF9B1-AD78-47AD-8582-C696995BC453}" type="slidenum">
              <a:rPr lang="nl-NL" smtClean="0"/>
              <a:t>‹#›</a:t>
            </a:fld>
            <a:endParaRPr lang="nl-NL"/>
          </a:p>
        </p:txBody>
      </p:sp>
    </p:spTree>
    <p:extLst>
      <p:ext uri="{BB962C8B-B14F-4D97-AF65-F5344CB8AC3E}">
        <p14:creationId xmlns:p14="http://schemas.microsoft.com/office/powerpoint/2010/main" val="23736301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F260E9-6971-4151-3012-A77B1FE980C5}"/>
            </a:ext>
          </a:extLst>
        </p:cNvPr>
        <p:cNvGrpSpPr/>
        <p:nvPr/>
      </p:nvGrpSpPr>
      <p:grpSpPr>
        <a:xfrm>
          <a:off x="0" y="0"/>
          <a:ext cx="0" cy="0"/>
          <a:chOff x="0" y="0"/>
          <a:chExt cx="0" cy="0"/>
        </a:xfrm>
      </p:grpSpPr>
      <p:sp>
        <p:nvSpPr>
          <p:cNvPr id="27649" name="Slide Image Placeholder 1">
            <a:extLst>
              <a:ext uri="{FF2B5EF4-FFF2-40B4-BE49-F238E27FC236}">
                <a16:creationId xmlns:a16="http://schemas.microsoft.com/office/drawing/2014/main" id="{6216B4CE-D1CB-B5AC-C09B-56E5F3624299}"/>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0" name="Notes Placeholder 2">
            <a:extLst>
              <a:ext uri="{FF2B5EF4-FFF2-40B4-BE49-F238E27FC236}">
                <a16:creationId xmlns:a16="http://schemas.microsoft.com/office/drawing/2014/main" id="{A6E16275-99F4-7400-FBA5-66A1FEB638FA}"/>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GB" sz="1200" b="0" i="0" u="none" strike="noStrike" cap="none" dirty="0">
                <a:solidFill>
                  <a:srgbClr val="000000"/>
                </a:solidFill>
                <a:effectLst/>
                <a:latin typeface="Arial"/>
                <a:ea typeface="Arial"/>
                <a:cs typeface="Arial"/>
                <a:sym typeface="Arial"/>
              </a:rPr>
              <a:t>The occupant count at a given timestep was defined as the sum of PIR sensors detecting presence in the space. Thus, the occupant count was the number of desks that were used in a given timestep. The diversity factor at a given timestep was defined as the ratio between the number of PIR sensors detecting presence (or the occupant count) compared to the total number of PIR sensors in the space. Thus, the diversity factor expressed the ratio of how many desks were used in a given timestep.</a:t>
            </a:r>
          </a:p>
          <a:p>
            <a:endParaRPr lang="en-GB" altLang="en-US" sz="1200" b="0" i="0" u="none" strike="noStrike" cap="none" dirty="0">
              <a:solidFill>
                <a:srgbClr val="000000"/>
              </a:solidFill>
              <a:effectLst/>
              <a:latin typeface="Arial"/>
              <a:cs typeface="Arial"/>
              <a:sym typeface="Arial"/>
            </a:endParaRPr>
          </a:p>
          <a:p>
            <a:endParaRPr lang="en-US" altLang="en-US" dirty="0"/>
          </a:p>
        </p:txBody>
      </p:sp>
      <p:sp>
        <p:nvSpPr>
          <p:cNvPr id="4" name="Slide Number Placeholder 3">
            <a:extLst>
              <a:ext uri="{FF2B5EF4-FFF2-40B4-BE49-F238E27FC236}">
                <a16:creationId xmlns:a16="http://schemas.microsoft.com/office/drawing/2014/main" id="{C81E99C1-2325-8D36-A1A5-59E0318C7078}"/>
              </a:ext>
            </a:extLst>
          </p:cNvPr>
          <p:cNvSpPr>
            <a:spLocks noGrp="1"/>
          </p:cNvSpPr>
          <p:nvPr>
            <p:ph type="sldNum" sz="quarter" idx="5"/>
          </p:nvPr>
        </p:nvSpPr>
        <p:spPr/>
        <p:txBody>
          <a:bodyPr/>
          <a:lstStyle/>
          <a:p>
            <a:pPr>
              <a:defRPr/>
            </a:pPr>
            <a:fld id="{58AA3376-7E56-4565-9E49-D9190D132FA2}" type="slidenum">
              <a:rPr lang="en-US" smtClean="0"/>
              <a:pPr>
                <a:defRPr/>
              </a:pPr>
              <a:t>1</a:t>
            </a:fld>
            <a:endParaRPr lang="en-US"/>
          </a:p>
        </p:txBody>
      </p:sp>
    </p:spTree>
    <p:extLst>
      <p:ext uri="{BB962C8B-B14F-4D97-AF65-F5344CB8AC3E}">
        <p14:creationId xmlns:p14="http://schemas.microsoft.com/office/powerpoint/2010/main" val="37724116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20A52B-66B7-C7B9-A4A6-6A64320FA0F8}"/>
            </a:ext>
          </a:extLst>
        </p:cNvPr>
        <p:cNvGrpSpPr/>
        <p:nvPr/>
      </p:nvGrpSpPr>
      <p:grpSpPr>
        <a:xfrm>
          <a:off x="0" y="0"/>
          <a:ext cx="0" cy="0"/>
          <a:chOff x="0" y="0"/>
          <a:chExt cx="0" cy="0"/>
        </a:xfrm>
      </p:grpSpPr>
      <p:sp>
        <p:nvSpPr>
          <p:cNvPr id="27649" name="Slide Image Placeholder 1">
            <a:extLst>
              <a:ext uri="{FF2B5EF4-FFF2-40B4-BE49-F238E27FC236}">
                <a16:creationId xmlns:a16="http://schemas.microsoft.com/office/drawing/2014/main" id="{D21E9F32-859E-317C-326D-461A59240683}"/>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0" name="Notes Placeholder 2">
            <a:extLst>
              <a:ext uri="{FF2B5EF4-FFF2-40B4-BE49-F238E27FC236}">
                <a16:creationId xmlns:a16="http://schemas.microsoft.com/office/drawing/2014/main" id="{F60E1816-6A1B-F87C-D969-40C3CAA92CCA}"/>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GB" sz="1200" b="0" i="0" u="none" strike="noStrike" cap="none" dirty="0">
                <a:solidFill>
                  <a:srgbClr val="000000"/>
                </a:solidFill>
                <a:effectLst/>
                <a:latin typeface="Arial"/>
                <a:ea typeface="Arial"/>
                <a:cs typeface="Arial"/>
                <a:sym typeface="Arial"/>
              </a:rPr>
              <a:t>The occupant count at a given timestep was defined as the sum of PIR sensors detecting presence in the space. Thus, the occupant count was the number of desks that were used in a given timestep. The diversity factor at a given timestep was defined as the ratio between the number of PIR sensors detecting presence (or the occupant count) compared to the total number of PIR sensors in the space. Thus, the diversity factor expressed the ratio of how many desks were used in a given timestep.</a:t>
            </a:r>
          </a:p>
          <a:p>
            <a:endParaRPr lang="en-GB" altLang="en-US" sz="1200" b="0" i="0" u="none" strike="noStrike" cap="none" dirty="0">
              <a:solidFill>
                <a:srgbClr val="000000"/>
              </a:solidFill>
              <a:effectLst/>
              <a:latin typeface="Arial"/>
              <a:cs typeface="Arial"/>
              <a:sym typeface="Arial"/>
            </a:endParaRPr>
          </a:p>
          <a:p>
            <a:endParaRPr lang="en-US" altLang="en-US" dirty="0"/>
          </a:p>
        </p:txBody>
      </p:sp>
      <p:sp>
        <p:nvSpPr>
          <p:cNvPr id="4" name="Slide Number Placeholder 3">
            <a:extLst>
              <a:ext uri="{FF2B5EF4-FFF2-40B4-BE49-F238E27FC236}">
                <a16:creationId xmlns:a16="http://schemas.microsoft.com/office/drawing/2014/main" id="{1038B907-5000-AB63-6A7A-6C115FC62C33}"/>
              </a:ext>
            </a:extLst>
          </p:cNvPr>
          <p:cNvSpPr>
            <a:spLocks noGrp="1"/>
          </p:cNvSpPr>
          <p:nvPr>
            <p:ph type="sldNum" sz="quarter" idx="5"/>
          </p:nvPr>
        </p:nvSpPr>
        <p:spPr/>
        <p:txBody>
          <a:bodyPr/>
          <a:lstStyle/>
          <a:p>
            <a:pPr>
              <a:defRPr/>
            </a:pPr>
            <a:fld id="{58AA3376-7E56-4565-9E49-D9190D132FA2}" type="slidenum">
              <a:rPr lang="en-US" smtClean="0"/>
              <a:pPr>
                <a:defRPr/>
              </a:pPr>
              <a:t>2</a:t>
            </a:fld>
            <a:endParaRPr lang="en-US"/>
          </a:p>
        </p:txBody>
      </p:sp>
    </p:spTree>
    <p:extLst>
      <p:ext uri="{BB962C8B-B14F-4D97-AF65-F5344CB8AC3E}">
        <p14:creationId xmlns:p14="http://schemas.microsoft.com/office/powerpoint/2010/main" val="5913523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a:extLst>
            <a:ext uri="{FF2B5EF4-FFF2-40B4-BE49-F238E27FC236}">
              <a16:creationId xmlns:a16="http://schemas.microsoft.com/office/drawing/2014/main" id="{E0C92EAD-44CC-8865-8914-F85D72338134}"/>
            </a:ext>
          </a:extLst>
        </p:cNvPr>
        <p:cNvGrpSpPr/>
        <p:nvPr/>
      </p:nvGrpSpPr>
      <p:grpSpPr>
        <a:xfrm>
          <a:off x="0" y="0"/>
          <a:ext cx="0" cy="0"/>
          <a:chOff x="0" y="0"/>
          <a:chExt cx="0" cy="0"/>
        </a:xfrm>
      </p:grpSpPr>
      <p:sp>
        <p:nvSpPr>
          <p:cNvPr id="372" name="Google Shape;372;p20:notes">
            <a:extLst>
              <a:ext uri="{FF2B5EF4-FFF2-40B4-BE49-F238E27FC236}">
                <a16:creationId xmlns:a16="http://schemas.microsoft.com/office/drawing/2014/main" id="{6610F64C-3BF5-B217-1754-20611656B5B3}"/>
              </a:ext>
            </a:extLst>
          </p:cNvPr>
          <p:cNvSpPr txBox="1">
            <a:spLocks noGrp="1"/>
          </p:cNvSpPr>
          <p:nvPr>
            <p:ph type="body" idx="1"/>
          </p:nvPr>
        </p:nvSpPr>
        <p:spPr>
          <a:xfrm>
            <a:off x="667761" y="5148374"/>
            <a:ext cx="5342086" cy="4212305"/>
          </a:xfrm>
          <a:prstGeom prst="rect">
            <a:avLst/>
          </a:prstGeom>
        </p:spPr>
        <p:txBody>
          <a:bodyPr spcFirstLastPara="1" wrap="square" lIns="96569" tIns="48272" rIns="96569" bIns="48272" anchor="t" anchorCtr="0">
            <a:noAutofit/>
          </a:bodyPr>
          <a:lstStyle/>
          <a:p>
            <a:pPr marL="0" indent="0"/>
            <a:endParaRPr dirty="0"/>
          </a:p>
        </p:txBody>
      </p:sp>
      <p:sp>
        <p:nvSpPr>
          <p:cNvPr id="373" name="Google Shape;373;p20:notes">
            <a:extLst>
              <a:ext uri="{FF2B5EF4-FFF2-40B4-BE49-F238E27FC236}">
                <a16:creationId xmlns:a16="http://schemas.microsoft.com/office/drawing/2014/main" id="{E9165E76-B964-6EFF-BC34-C039B20E6060}"/>
              </a:ext>
            </a:extLst>
          </p:cNvPr>
          <p:cNvSpPr>
            <a:spLocks noGrp="1" noRot="1" noChangeAspect="1"/>
          </p:cNvSpPr>
          <p:nvPr>
            <p:ph type="sldImg" idx="2"/>
          </p:nvPr>
        </p:nvSpPr>
        <p:spPr>
          <a:xfrm>
            <a:off x="130175" y="1336675"/>
            <a:ext cx="6418263" cy="3611563"/>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462097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a:extLst>
            <a:ext uri="{FF2B5EF4-FFF2-40B4-BE49-F238E27FC236}">
              <a16:creationId xmlns:a16="http://schemas.microsoft.com/office/drawing/2014/main" id="{CEB99423-CF7B-2BB1-54FB-CCB638DC5E6D}"/>
            </a:ext>
          </a:extLst>
        </p:cNvPr>
        <p:cNvGrpSpPr/>
        <p:nvPr/>
      </p:nvGrpSpPr>
      <p:grpSpPr>
        <a:xfrm>
          <a:off x="0" y="0"/>
          <a:ext cx="0" cy="0"/>
          <a:chOff x="0" y="0"/>
          <a:chExt cx="0" cy="0"/>
        </a:xfrm>
      </p:grpSpPr>
      <p:sp>
        <p:nvSpPr>
          <p:cNvPr id="372" name="Google Shape;372;p20:notes">
            <a:extLst>
              <a:ext uri="{FF2B5EF4-FFF2-40B4-BE49-F238E27FC236}">
                <a16:creationId xmlns:a16="http://schemas.microsoft.com/office/drawing/2014/main" id="{4F47871A-9FD4-8CF7-3811-030B0E8E5779}"/>
              </a:ext>
            </a:extLst>
          </p:cNvPr>
          <p:cNvSpPr txBox="1">
            <a:spLocks noGrp="1"/>
          </p:cNvSpPr>
          <p:nvPr>
            <p:ph type="body" idx="1"/>
          </p:nvPr>
        </p:nvSpPr>
        <p:spPr>
          <a:xfrm>
            <a:off x="667761" y="5148374"/>
            <a:ext cx="5342086" cy="4212305"/>
          </a:xfrm>
          <a:prstGeom prst="rect">
            <a:avLst/>
          </a:prstGeom>
        </p:spPr>
        <p:txBody>
          <a:bodyPr spcFirstLastPara="1" wrap="square" lIns="96569" tIns="48272" rIns="96569" bIns="48272" anchor="t" anchorCtr="0">
            <a:noAutofit/>
          </a:bodyPr>
          <a:lstStyle/>
          <a:p>
            <a:pPr marL="0" indent="0"/>
            <a:endParaRPr dirty="0"/>
          </a:p>
        </p:txBody>
      </p:sp>
      <p:sp>
        <p:nvSpPr>
          <p:cNvPr id="373" name="Google Shape;373;p20:notes">
            <a:extLst>
              <a:ext uri="{FF2B5EF4-FFF2-40B4-BE49-F238E27FC236}">
                <a16:creationId xmlns:a16="http://schemas.microsoft.com/office/drawing/2014/main" id="{3D92EB23-E44E-884E-9C05-6EBA110110E7}"/>
              </a:ext>
            </a:extLst>
          </p:cNvPr>
          <p:cNvSpPr>
            <a:spLocks noGrp="1" noRot="1" noChangeAspect="1"/>
          </p:cNvSpPr>
          <p:nvPr>
            <p:ph type="sldImg" idx="2"/>
          </p:nvPr>
        </p:nvSpPr>
        <p:spPr>
          <a:xfrm>
            <a:off x="130175" y="1336675"/>
            <a:ext cx="6418263" cy="3611563"/>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770673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a:extLst>
            <a:ext uri="{FF2B5EF4-FFF2-40B4-BE49-F238E27FC236}">
              <a16:creationId xmlns:a16="http://schemas.microsoft.com/office/drawing/2014/main" id="{739B7703-7F87-CF5B-F86A-A903B1B27AEA}"/>
            </a:ext>
          </a:extLst>
        </p:cNvPr>
        <p:cNvGrpSpPr/>
        <p:nvPr/>
      </p:nvGrpSpPr>
      <p:grpSpPr>
        <a:xfrm>
          <a:off x="0" y="0"/>
          <a:ext cx="0" cy="0"/>
          <a:chOff x="0" y="0"/>
          <a:chExt cx="0" cy="0"/>
        </a:xfrm>
      </p:grpSpPr>
      <p:sp>
        <p:nvSpPr>
          <p:cNvPr id="372" name="Google Shape;372;p20:notes">
            <a:extLst>
              <a:ext uri="{FF2B5EF4-FFF2-40B4-BE49-F238E27FC236}">
                <a16:creationId xmlns:a16="http://schemas.microsoft.com/office/drawing/2014/main" id="{41180E56-5CB3-C504-6833-C8BF2ED8B739}"/>
              </a:ext>
            </a:extLst>
          </p:cNvPr>
          <p:cNvSpPr txBox="1">
            <a:spLocks noGrp="1"/>
          </p:cNvSpPr>
          <p:nvPr>
            <p:ph type="body" idx="1"/>
          </p:nvPr>
        </p:nvSpPr>
        <p:spPr>
          <a:xfrm>
            <a:off x="667761" y="5148374"/>
            <a:ext cx="5342086" cy="4212305"/>
          </a:xfrm>
          <a:prstGeom prst="rect">
            <a:avLst/>
          </a:prstGeom>
        </p:spPr>
        <p:txBody>
          <a:bodyPr spcFirstLastPara="1" wrap="square" lIns="96569" tIns="48272" rIns="96569" bIns="48272" anchor="t" anchorCtr="0">
            <a:noAutofit/>
          </a:bodyPr>
          <a:lstStyle/>
          <a:p>
            <a:pPr marL="0" indent="0"/>
            <a:endParaRPr dirty="0"/>
          </a:p>
        </p:txBody>
      </p:sp>
      <p:sp>
        <p:nvSpPr>
          <p:cNvPr id="373" name="Google Shape;373;p20:notes">
            <a:extLst>
              <a:ext uri="{FF2B5EF4-FFF2-40B4-BE49-F238E27FC236}">
                <a16:creationId xmlns:a16="http://schemas.microsoft.com/office/drawing/2014/main" id="{7442E560-6A6F-D64A-8CA5-BDEA9506AADB}"/>
              </a:ext>
            </a:extLst>
          </p:cNvPr>
          <p:cNvSpPr>
            <a:spLocks noGrp="1" noRot="1" noChangeAspect="1"/>
          </p:cNvSpPr>
          <p:nvPr>
            <p:ph type="sldImg" idx="2"/>
          </p:nvPr>
        </p:nvSpPr>
        <p:spPr>
          <a:xfrm>
            <a:off x="130175" y="1336675"/>
            <a:ext cx="6418263" cy="3611563"/>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604038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a:extLst>
            <a:ext uri="{FF2B5EF4-FFF2-40B4-BE49-F238E27FC236}">
              <a16:creationId xmlns:a16="http://schemas.microsoft.com/office/drawing/2014/main" id="{41278031-5543-BAFB-42B7-7C04FD6FE759}"/>
            </a:ext>
          </a:extLst>
        </p:cNvPr>
        <p:cNvGrpSpPr/>
        <p:nvPr/>
      </p:nvGrpSpPr>
      <p:grpSpPr>
        <a:xfrm>
          <a:off x="0" y="0"/>
          <a:ext cx="0" cy="0"/>
          <a:chOff x="0" y="0"/>
          <a:chExt cx="0" cy="0"/>
        </a:xfrm>
      </p:grpSpPr>
      <p:sp>
        <p:nvSpPr>
          <p:cNvPr id="372" name="Google Shape;372;p20:notes">
            <a:extLst>
              <a:ext uri="{FF2B5EF4-FFF2-40B4-BE49-F238E27FC236}">
                <a16:creationId xmlns:a16="http://schemas.microsoft.com/office/drawing/2014/main" id="{BC92F3D3-72F1-20F4-825E-454573165D38}"/>
              </a:ext>
            </a:extLst>
          </p:cNvPr>
          <p:cNvSpPr txBox="1">
            <a:spLocks noGrp="1"/>
          </p:cNvSpPr>
          <p:nvPr>
            <p:ph type="body" idx="1"/>
          </p:nvPr>
        </p:nvSpPr>
        <p:spPr>
          <a:xfrm>
            <a:off x="667761" y="5148374"/>
            <a:ext cx="5342086" cy="4212305"/>
          </a:xfrm>
          <a:prstGeom prst="rect">
            <a:avLst/>
          </a:prstGeom>
        </p:spPr>
        <p:txBody>
          <a:bodyPr spcFirstLastPara="1" wrap="square" lIns="96569" tIns="48272" rIns="96569" bIns="48272" anchor="t" anchorCtr="0">
            <a:noAutofit/>
          </a:bodyPr>
          <a:lstStyle/>
          <a:p>
            <a:pPr marL="0" indent="0"/>
            <a:endParaRPr dirty="0"/>
          </a:p>
        </p:txBody>
      </p:sp>
      <p:sp>
        <p:nvSpPr>
          <p:cNvPr id="373" name="Google Shape;373;p20:notes">
            <a:extLst>
              <a:ext uri="{FF2B5EF4-FFF2-40B4-BE49-F238E27FC236}">
                <a16:creationId xmlns:a16="http://schemas.microsoft.com/office/drawing/2014/main" id="{9209BAC7-E95B-3152-CDC7-C41A967A4E52}"/>
              </a:ext>
            </a:extLst>
          </p:cNvPr>
          <p:cNvSpPr>
            <a:spLocks noGrp="1" noRot="1" noChangeAspect="1"/>
          </p:cNvSpPr>
          <p:nvPr>
            <p:ph type="sldImg" idx="2"/>
          </p:nvPr>
        </p:nvSpPr>
        <p:spPr>
          <a:xfrm>
            <a:off x="130175" y="1336675"/>
            <a:ext cx="6418263" cy="3611563"/>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463594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a:extLst>
            <a:ext uri="{FF2B5EF4-FFF2-40B4-BE49-F238E27FC236}">
              <a16:creationId xmlns:a16="http://schemas.microsoft.com/office/drawing/2014/main" id="{51C7627A-4FA4-107A-CA72-048BF6DA02FF}"/>
            </a:ext>
          </a:extLst>
        </p:cNvPr>
        <p:cNvGrpSpPr/>
        <p:nvPr/>
      </p:nvGrpSpPr>
      <p:grpSpPr>
        <a:xfrm>
          <a:off x="0" y="0"/>
          <a:ext cx="0" cy="0"/>
          <a:chOff x="0" y="0"/>
          <a:chExt cx="0" cy="0"/>
        </a:xfrm>
      </p:grpSpPr>
      <p:sp>
        <p:nvSpPr>
          <p:cNvPr id="372" name="Google Shape;372;p20:notes">
            <a:extLst>
              <a:ext uri="{FF2B5EF4-FFF2-40B4-BE49-F238E27FC236}">
                <a16:creationId xmlns:a16="http://schemas.microsoft.com/office/drawing/2014/main" id="{4F6F398D-0D52-AD8C-32D6-DDA196CB34ED}"/>
              </a:ext>
            </a:extLst>
          </p:cNvPr>
          <p:cNvSpPr txBox="1">
            <a:spLocks noGrp="1"/>
          </p:cNvSpPr>
          <p:nvPr>
            <p:ph type="body" idx="1"/>
          </p:nvPr>
        </p:nvSpPr>
        <p:spPr>
          <a:xfrm>
            <a:off x="667761" y="5148374"/>
            <a:ext cx="5342086" cy="4212305"/>
          </a:xfrm>
          <a:prstGeom prst="rect">
            <a:avLst/>
          </a:prstGeom>
        </p:spPr>
        <p:txBody>
          <a:bodyPr spcFirstLastPara="1" wrap="square" lIns="96569" tIns="48272" rIns="96569" bIns="48272" anchor="t" anchorCtr="0">
            <a:noAutofit/>
          </a:bodyPr>
          <a:lstStyle/>
          <a:p>
            <a:pPr marL="0" indent="0"/>
            <a:endParaRPr dirty="0"/>
          </a:p>
        </p:txBody>
      </p:sp>
      <p:sp>
        <p:nvSpPr>
          <p:cNvPr id="373" name="Google Shape;373;p20:notes">
            <a:extLst>
              <a:ext uri="{FF2B5EF4-FFF2-40B4-BE49-F238E27FC236}">
                <a16:creationId xmlns:a16="http://schemas.microsoft.com/office/drawing/2014/main" id="{3843AAEB-7159-7D44-906C-D7D1A67E1F55}"/>
              </a:ext>
            </a:extLst>
          </p:cNvPr>
          <p:cNvSpPr>
            <a:spLocks noGrp="1" noRot="1" noChangeAspect="1"/>
          </p:cNvSpPr>
          <p:nvPr>
            <p:ph type="sldImg" idx="2"/>
          </p:nvPr>
        </p:nvSpPr>
        <p:spPr>
          <a:xfrm>
            <a:off x="130175" y="1336675"/>
            <a:ext cx="6418263" cy="3611563"/>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589142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a:extLst>
            <a:ext uri="{FF2B5EF4-FFF2-40B4-BE49-F238E27FC236}">
              <a16:creationId xmlns:a16="http://schemas.microsoft.com/office/drawing/2014/main" id="{80102557-A9EB-83B1-C184-C24DF3B125BA}"/>
            </a:ext>
          </a:extLst>
        </p:cNvPr>
        <p:cNvGrpSpPr/>
        <p:nvPr/>
      </p:nvGrpSpPr>
      <p:grpSpPr>
        <a:xfrm>
          <a:off x="0" y="0"/>
          <a:ext cx="0" cy="0"/>
          <a:chOff x="0" y="0"/>
          <a:chExt cx="0" cy="0"/>
        </a:xfrm>
      </p:grpSpPr>
      <p:sp>
        <p:nvSpPr>
          <p:cNvPr id="372" name="Google Shape;372;p20:notes">
            <a:extLst>
              <a:ext uri="{FF2B5EF4-FFF2-40B4-BE49-F238E27FC236}">
                <a16:creationId xmlns:a16="http://schemas.microsoft.com/office/drawing/2014/main" id="{9858010B-3E00-1F78-D215-F5EF81D98B13}"/>
              </a:ext>
            </a:extLst>
          </p:cNvPr>
          <p:cNvSpPr txBox="1">
            <a:spLocks noGrp="1"/>
          </p:cNvSpPr>
          <p:nvPr>
            <p:ph type="body" idx="1"/>
          </p:nvPr>
        </p:nvSpPr>
        <p:spPr>
          <a:xfrm>
            <a:off x="667761" y="5148374"/>
            <a:ext cx="5342086" cy="4212305"/>
          </a:xfrm>
          <a:prstGeom prst="rect">
            <a:avLst/>
          </a:prstGeom>
        </p:spPr>
        <p:txBody>
          <a:bodyPr spcFirstLastPara="1" wrap="square" lIns="96569" tIns="48272" rIns="96569" bIns="48272" anchor="t" anchorCtr="0">
            <a:noAutofit/>
          </a:bodyPr>
          <a:lstStyle/>
          <a:p>
            <a:pPr marL="0" indent="0"/>
            <a:endParaRPr dirty="0"/>
          </a:p>
        </p:txBody>
      </p:sp>
      <p:sp>
        <p:nvSpPr>
          <p:cNvPr id="373" name="Google Shape;373;p20:notes">
            <a:extLst>
              <a:ext uri="{FF2B5EF4-FFF2-40B4-BE49-F238E27FC236}">
                <a16:creationId xmlns:a16="http://schemas.microsoft.com/office/drawing/2014/main" id="{FF9FDD49-5D20-1403-9183-89B552386C2F}"/>
              </a:ext>
            </a:extLst>
          </p:cNvPr>
          <p:cNvSpPr>
            <a:spLocks noGrp="1" noRot="1" noChangeAspect="1"/>
          </p:cNvSpPr>
          <p:nvPr>
            <p:ph type="sldImg" idx="2"/>
          </p:nvPr>
        </p:nvSpPr>
        <p:spPr>
          <a:xfrm>
            <a:off x="130175" y="1336675"/>
            <a:ext cx="6418263" cy="3611563"/>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807053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a:extLst>
            <a:ext uri="{FF2B5EF4-FFF2-40B4-BE49-F238E27FC236}">
              <a16:creationId xmlns:a16="http://schemas.microsoft.com/office/drawing/2014/main" id="{C51482B3-9CB9-EEC5-E80C-7CF4043E9CBF}"/>
            </a:ext>
          </a:extLst>
        </p:cNvPr>
        <p:cNvGrpSpPr/>
        <p:nvPr/>
      </p:nvGrpSpPr>
      <p:grpSpPr>
        <a:xfrm>
          <a:off x="0" y="0"/>
          <a:ext cx="0" cy="0"/>
          <a:chOff x="0" y="0"/>
          <a:chExt cx="0" cy="0"/>
        </a:xfrm>
      </p:grpSpPr>
      <p:sp>
        <p:nvSpPr>
          <p:cNvPr id="372" name="Google Shape;372;p20:notes">
            <a:extLst>
              <a:ext uri="{FF2B5EF4-FFF2-40B4-BE49-F238E27FC236}">
                <a16:creationId xmlns:a16="http://schemas.microsoft.com/office/drawing/2014/main" id="{071A4435-5204-D033-C541-6693F6461A6C}"/>
              </a:ext>
            </a:extLst>
          </p:cNvPr>
          <p:cNvSpPr txBox="1">
            <a:spLocks noGrp="1"/>
          </p:cNvSpPr>
          <p:nvPr>
            <p:ph type="body" idx="1"/>
          </p:nvPr>
        </p:nvSpPr>
        <p:spPr>
          <a:xfrm>
            <a:off x="667761" y="5148374"/>
            <a:ext cx="5342086" cy="4212305"/>
          </a:xfrm>
          <a:prstGeom prst="rect">
            <a:avLst/>
          </a:prstGeom>
        </p:spPr>
        <p:txBody>
          <a:bodyPr spcFirstLastPara="1" wrap="square" lIns="96569" tIns="48272" rIns="96569" bIns="48272" anchor="t" anchorCtr="0">
            <a:noAutofit/>
          </a:bodyPr>
          <a:lstStyle/>
          <a:p>
            <a:pPr marL="171450" indent="-171450">
              <a:buFont typeface="Arial" panose="020B0604020202020204" pitchFamily="34" charset="0"/>
              <a:buChar char="•"/>
            </a:pPr>
            <a:r>
              <a:rPr lang="en-US" dirty="0"/>
              <a:t>PIR sensors </a:t>
            </a:r>
            <a:r>
              <a:rPr lang="en-US" b="1" dirty="0"/>
              <a:t>strongly reflect actual occupancy</a:t>
            </a:r>
            <a:r>
              <a:rPr lang="en-US" dirty="0"/>
              <a:t>, even though people report their numbers manually and PIR counts vary due to activity level.</a:t>
            </a:r>
          </a:p>
          <a:p>
            <a:pPr marL="171450" indent="-171450">
              <a:buFont typeface="Arial" panose="020B0604020202020204" pitchFamily="34" charset="0"/>
              <a:buChar char="•"/>
            </a:pPr>
            <a:r>
              <a:rPr lang="en-US" b="1" dirty="0"/>
              <a:t>Your survey timestamps are aligned accurately</a:t>
            </a:r>
            <a:r>
              <a:rPr lang="en-US" dirty="0"/>
              <a:t> enough to capture representative motion for those periods.</a:t>
            </a:r>
          </a:p>
          <a:p>
            <a:pPr marL="171450" indent="-171450">
              <a:buFont typeface="Arial" panose="020B0604020202020204" pitchFamily="34" charset="0"/>
              <a:buChar char="•"/>
            </a:pPr>
            <a:r>
              <a:rPr lang="en-US" dirty="0"/>
              <a:t>The data quality and timestamp alignment (especially with nearest-time matching) are </a:t>
            </a:r>
            <a:r>
              <a:rPr lang="en-US" b="1" dirty="0"/>
              <a:t>validated by this strong correlation</a:t>
            </a:r>
            <a:r>
              <a:rPr lang="en-US" dirty="0"/>
              <a:t>.</a:t>
            </a:r>
          </a:p>
          <a:p>
            <a:pPr marL="171450" indent="-171450">
              <a:buFont typeface="Arial" panose="020B0604020202020204" pitchFamily="34" charset="0"/>
              <a:buChar char="•"/>
            </a:pPr>
            <a:r>
              <a:rPr lang="en-US" dirty="0"/>
              <a:t>This supports using PIR motion counts as a </a:t>
            </a:r>
            <a:r>
              <a:rPr lang="en-US" b="1" dirty="0"/>
              <a:t>proxy or estimator for real occupancy</a:t>
            </a:r>
            <a:r>
              <a:rPr lang="en-US" dirty="0"/>
              <a:t>, especially in absence of manual surveys.</a:t>
            </a:r>
          </a:p>
          <a:p>
            <a:pPr marL="0" indent="0"/>
            <a:endParaRPr lang="en-US" dirty="0"/>
          </a:p>
          <a:p>
            <a:pPr marL="0" indent="0"/>
            <a:endParaRPr lang="en-US" dirty="0"/>
          </a:p>
          <a:p>
            <a:pPr marL="0" indent="0"/>
            <a:r>
              <a:rPr lang="en-US" dirty="0"/>
              <a:t>How the PIR sensor works:</a:t>
            </a:r>
          </a:p>
          <a:p>
            <a:pPr marL="0" indent="0"/>
            <a:r>
              <a:rPr lang="en-US" dirty="0"/>
              <a:t>Detects motion using a passive IR senso</a:t>
            </a:r>
          </a:p>
          <a:p>
            <a:pPr marL="0" indent="0"/>
            <a:r>
              <a:rPr lang="en-US" dirty="0"/>
              <a:t>There is a blanking time of 30 seconds of the PIR triggering after each PIR trig and after each transmission. This is to reduce the risk of self-triggering from internal events that could disturb the high sensitivity PIR circuits.</a:t>
            </a:r>
          </a:p>
          <a:p>
            <a:pPr marL="0" indent="0"/>
            <a:r>
              <a:rPr lang="en-US" dirty="0"/>
              <a:t> </a:t>
            </a:r>
          </a:p>
          <a:p>
            <a:pPr marL="0" indent="0"/>
            <a:r>
              <a:rPr lang="en-US" dirty="0"/>
              <a:t>In other words:</a:t>
            </a:r>
          </a:p>
          <a:p>
            <a:r>
              <a:rPr lang="en-US" dirty="0"/>
              <a:t>This is a </a:t>
            </a:r>
            <a:r>
              <a:rPr lang="en-US" b="1" dirty="0"/>
              <a:t>hardware-level delay</a:t>
            </a:r>
            <a:r>
              <a:rPr lang="en-US" dirty="0"/>
              <a:t>.</a:t>
            </a:r>
          </a:p>
          <a:p>
            <a:r>
              <a:rPr lang="en-US" dirty="0"/>
              <a:t>After </a:t>
            </a:r>
            <a:r>
              <a:rPr lang="en-US" b="1" dirty="0"/>
              <a:t>detecting motion</a:t>
            </a:r>
            <a:r>
              <a:rPr lang="en-US" dirty="0"/>
              <a:t>, the PIR sensor </a:t>
            </a:r>
            <a:r>
              <a:rPr lang="en-US" b="1" dirty="0"/>
              <a:t>intentionally disables itself (or suppresses reporting)</a:t>
            </a:r>
            <a:r>
              <a:rPr lang="en-US" dirty="0"/>
              <a:t> for about 30 seconds to:</a:t>
            </a:r>
          </a:p>
          <a:p>
            <a:pPr lvl="1"/>
            <a:r>
              <a:rPr lang="en-US" dirty="0"/>
              <a:t>Avoid rapid retriggering due to noise or vibration (e.g., fans, electronics).</a:t>
            </a:r>
          </a:p>
          <a:p>
            <a:pPr lvl="1"/>
            <a:r>
              <a:rPr lang="en-US" b="1" dirty="0"/>
              <a:t>Conserve power</a:t>
            </a:r>
            <a:r>
              <a:rPr lang="en-US" dirty="0"/>
              <a:t> and bandwidth in LoRa/low-power devices.</a:t>
            </a:r>
          </a:p>
          <a:p>
            <a:pPr lvl="1"/>
            <a:r>
              <a:rPr lang="en-US" dirty="0"/>
              <a:t>Prevent "self-triggering" due to residual heat or internal interference.</a:t>
            </a:r>
          </a:p>
          <a:p>
            <a:r>
              <a:rPr lang="en-US" b="1" dirty="0"/>
              <a:t>→ This means the sensor will not register new motion until the blanking period ends.</a:t>
            </a:r>
            <a:endParaRPr lang="en-US" dirty="0"/>
          </a:p>
          <a:p>
            <a:pPr marL="0" indent="0"/>
            <a:endParaRPr lang="en-US" dirty="0"/>
          </a:p>
          <a:p>
            <a:pPr marL="0" indent="0"/>
            <a:endParaRPr lang="en-US" dirty="0"/>
          </a:p>
          <a:p>
            <a:pPr marL="0" indent="0"/>
            <a:r>
              <a:rPr lang="en-US" dirty="0"/>
              <a:t>Angle / in report.</a:t>
            </a:r>
          </a:p>
          <a:p>
            <a:pPr marL="0" indent="0"/>
            <a:endParaRPr dirty="0"/>
          </a:p>
        </p:txBody>
      </p:sp>
      <p:sp>
        <p:nvSpPr>
          <p:cNvPr id="373" name="Google Shape;373;p20:notes">
            <a:extLst>
              <a:ext uri="{FF2B5EF4-FFF2-40B4-BE49-F238E27FC236}">
                <a16:creationId xmlns:a16="http://schemas.microsoft.com/office/drawing/2014/main" id="{7C886601-8B32-B6F3-3478-A5F0E4C53100}"/>
              </a:ext>
            </a:extLst>
          </p:cNvPr>
          <p:cNvSpPr>
            <a:spLocks noGrp="1" noRot="1" noChangeAspect="1"/>
          </p:cNvSpPr>
          <p:nvPr>
            <p:ph type="sldImg" idx="2"/>
          </p:nvPr>
        </p:nvSpPr>
        <p:spPr>
          <a:xfrm>
            <a:off x="130175" y="1336675"/>
            <a:ext cx="6418263" cy="3611563"/>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347510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a:extLst>
            <a:ext uri="{FF2B5EF4-FFF2-40B4-BE49-F238E27FC236}">
              <a16:creationId xmlns:a16="http://schemas.microsoft.com/office/drawing/2014/main" id="{5427FF62-6AC5-1027-C153-E297BBE73481}"/>
            </a:ext>
          </a:extLst>
        </p:cNvPr>
        <p:cNvGrpSpPr/>
        <p:nvPr/>
      </p:nvGrpSpPr>
      <p:grpSpPr>
        <a:xfrm>
          <a:off x="0" y="0"/>
          <a:ext cx="0" cy="0"/>
          <a:chOff x="0" y="0"/>
          <a:chExt cx="0" cy="0"/>
        </a:xfrm>
      </p:grpSpPr>
      <p:sp>
        <p:nvSpPr>
          <p:cNvPr id="372" name="Google Shape;372;p20:notes">
            <a:extLst>
              <a:ext uri="{FF2B5EF4-FFF2-40B4-BE49-F238E27FC236}">
                <a16:creationId xmlns:a16="http://schemas.microsoft.com/office/drawing/2014/main" id="{6B649CDE-FED6-87ED-98A4-CC56D8B5259B}"/>
              </a:ext>
            </a:extLst>
          </p:cNvPr>
          <p:cNvSpPr txBox="1">
            <a:spLocks noGrp="1"/>
          </p:cNvSpPr>
          <p:nvPr>
            <p:ph type="body" idx="1"/>
          </p:nvPr>
        </p:nvSpPr>
        <p:spPr>
          <a:xfrm>
            <a:off x="667761" y="5148374"/>
            <a:ext cx="5342086" cy="4212305"/>
          </a:xfrm>
          <a:prstGeom prst="rect">
            <a:avLst/>
          </a:prstGeom>
        </p:spPr>
        <p:txBody>
          <a:bodyPr spcFirstLastPara="1" wrap="square" lIns="96569" tIns="48272" rIns="96569" bIns="48272" anchor="t" anchorCtr="0">
            <a:noAutofit/>
          </a:bodyPr>
          <a:lstStyle/>
          <a:p>
            <a:pPr marL="0" indent="0"/>
            <a:endParaRPr/>
          </a:p>
        </p:txBody>
      </p:sp>
      <p:sp>
        <p:nvSpPr>
          <p:cNvPr id="373" name="Google Shape;373;p20:notes">
            <a:extLst>
              <a:ext uri="{FF2B5EF4-FFF2-40B4-BE49-F238E27FC236}">
                <a16:creationId xmlns:a16="http://schemas.microsoft.com/office/drawing/2014/main" id="{50F96267-0D65-CF64-A6B2-2E3AB48AE975}"/>
              </a:ext>
            </a:extLst>
          </p:cNvPr>
          <p:cNvSpPr>
            <a:spLocks noGrp="1" noRot="1" noChangeAspect="1"/>
          </p:cNvSpPr>
          <p:nvPr>
            <p:ph type="sldImg" idx="2"/>
          </p:nvPr>
        </p:nvSpPr>
        <p:spPr>
          <a:xfrm>
            <a:off x="130175" y="1336675"/>
            <a:ext cx="6418263" cy="3611563"/>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383620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a:extLst>
            <a:ext uri="{FF2B5EF4-FFF2-40B4-BE49-F238E27FC236}">
              <a16:creationId xmlns:a16="http://schemas.microsoft.com/office/drawing/2014/main" id="{00913D83-ED54-447E-CCBC-BD8ECF469569}"/>
            </a:ext>
          </a:extLst>
        </p:cNvPr>
        <p:cNvGrpSpPr/>
        <p:nvPr/>
      </p:nvGrpSpPr>
      <p:grpSpPr>
        <a:xfrm>
          <a:off x="0" y="0"/>
          <a:ext cx="0" cy="0"/>
          <a:chOff x="0" y="0"/>
          <a:chExt cx="0" cy="0"/>
        </a:xfrm>
      </p:grpSpPr>
      <p:sp>
        <p:nvSpPr>
          <p:cNvPr id="372" name="Google Shape;372;p20:notes">
            <a:extLst>
              <a:ext uri="{FF2B5EF4-FFF2-40B4-BE49-F238E27FC236}">
                <a16:creationId xmlns:a16="http://schemas.microsoft.com/office/drawing/2014/main" id="{18ACC3FE-F1CD-5613-1D68-9DB2FAF8D8AB}"/>
              </a:ext>
            </a:extLst>
          </p:cNvPr>
          <p:cNvSpPr txBox="1">
            <a:spLocks noGrp="1"/>
          </p:cNvSpPr>
          <p:nvPr>
            <p:ph type="body" idx="1"/>
          </p:nvPr>
        </p:nvSpPr>
        <p:spPr>
          <a:xfrm>
            <a:off x="667761" y="5148374"/>
            <a:ext cx="5342086" cy="4212305"/>
          </a:xfrm>
          <a:prstGeom prst="rect">
            <a:avLst/>
          </a:prstGeom>
        </p:spPr>
        <p:txBody>
          <a:bodyPr spcFirstLastPara="1" wrap="square" lIns="96569" tIns="48272" rIns="96569" bIns="48272" anchor="t" anchorCtr="0">
            <a:noAutofit/>
          </a:bodyPr>
          <a:lstStyle/>
          <a:p>
            <a:pPr marL="0" indent="0"/>
            <a:endParaRPr/>
          </a:p>
        </p:txBody>
      </p:sp>
      <p:sp>
        <p:nvSpPr>
          <p:cNvPr id="373" name="Google Shape;373;p20:notes">
            <a:extLst>
              <a:ext uri="{FF2B5EF4-FFF2-40B4-BE49-F238E27FC236}">
                <a16:creationId xmlns:a16="http://schemas.microsoft.com/office/drawing/2014/main" id="{4F482831-22E3-8228-5F1A-CD57FE6F220F}"/>
              </a:ext>
            </a:extLst>
          </p:cNvPr>
          <p:cNvSpPr>
            <a:spLocks noGrp="1" noRot="1" noChangeAspect="1"/>
          </p:cNvSpPr>
          <p:nvPr>
            <p:ph type="sldImg" idx="2"/>
          </p:nvPr>
        </p:nvSpPr>
        <p:spPr>
          <a:xfrm>
            <a:off x="130175" y="1336675"/>
            <a:ext cx="6418263" cy="3611563"/>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673410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a:extLst>
            <a:ext uri="{FF2B5EF4-FFF2-40B4-BE49-F238E27FC236}">
              <a16:creationId xmlns:a16="http://schemas.microsoft.com/office/drawing/2014/main" id="{675ECDD9-A5B7-5D71-5915-D872B7198FB2}"/>
            </a:ext>
          </a:extLst>
        </p:cNvPr>
        <p:cNvGrpSpPr/>
        <p:nvPr/>
      </p:nvGrpSpPr>
      <p:grpSpPr>
        <a:xfrm>
          <a:off x="0" y="0"/>
          <a:ext cx="0" cy="0"/>
          <a:chOff x="0" y="0"/>
          <a:chExt cx="0" cy="0"/>
        </a:xfrm>
      </p:grpSpPr>
      <p:sp>
        <p:nvSpPr>
          <p:cNvPr id="372" name="Google Shape;372;p20:notes">
            <a:extLst>
              <a:ext uri="{FF2B5EF4-FFF2-40B4-BE49-F238E27FC236}">
                <a16:creationId xmlns:a16="http://schemas.microsoft.com/office/drawing/2014/main" id="{98135D78-FCC1-8DE4-2082-67C65087F49F}"/>
              </a:ext>
            </a:extLst>
          </p:cNvPr>
          <p:cNvSpPr txBox="1">
            <a:spLocks noGrp="1"/>
          </p:cNvSpPr>
          <p:nvPr>
            <p:ph type="body" idx="1"/>
          </p:nvPr>
        </p:nvSpPr>
        <p:spPr>
          <a:xfrm>
            <a:off x="667761" y="5148374"/>
            <a:ext cx="5342086" cy="4212305"/>
          </a:xfrm>
          <a:prstGeom prst="rect">
            <a:avLst/>
          </a:prstGeom>
        </p:spPr>
        <p:txBody>
          <a:bodyPr spcFirstLastPara="1" wrap="square" lIns="96569" tIns="48272" rIns="96569" bIns="48272" anchor="t" anchorCtr="0">
            <a:noAutofit/>
          </a:bodyPr>
          <a:lstStyle/>
          <a:p>
            <a:pPr marL="0" indent="0"/>
            <a:endParaRPr/>
          </a:p>
        </p:txBody>
      </p:sp>
      <p:sp>
        <p:nvSpPr>
          <p:cNvPr id="373" name="Google Shape;373;p20:notes">
            <a:extLst>
              <a:ext uri="{FF2B5EF4-FFF2-40B4-BE49-F238E27FC236}">
                <a16:creationId xmlns:a16="http://schemas.microsoft.com/office/drawing/2014/main" id="{1C0C4B63-3677-E70F-90C7-5B6CEF038822}"/>
              </a:ext>
            </a:extLst>
          </p:cNvPr>
          <p:cNvSpPr>
            <a:spLocks noGrp="1" noRot="1" noChangeAspect="1"/>
          </p:cNvSpPr>
          <p:nvPr>
            <p:ph type="sldImg" idx="2"/>
          </p:nvPr>
        </p:nvSpPr>
        <p:spPr>
          <a:xfrm>
            <a:off x="130175" y="1336675"/>
            <a:ext cx="6418263" cy="3611563"/>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89532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a:extLst>
            <a:ext uri="{FF2B5EF4-FFF2-40B4-BE49-F238E27FC236}">
              <a16:creationId xmlns:a16="http://schemas.microsoft.com/office/drawing/2014/main" id="{4F3BAD4E-76D6-3C91-D033-7F8D10384B26}"/>
            </a:ext>
          </a:extLst>
        </p:cNvPr>
        <p:cNvGrpSpPr/>
        <p:nvPr/>
      </p:nvGrpSpPr>
      <p:grpSpPr>
        <a:xfrm>
          <a:off x="0" y="0"/>
          <a:ext cx="0" cy="0"/>
          <a:chOff x="0" y="0"/>
          <a:chExt cx="0" cy="0"/>
        </a:xfrm>
      </p:grpSpPr>
      <p:sp>
        <p:nvSpPr>
          <p:cNvPr id="372" name="Google Shape;372;p20:notes">
            <a:extLst>
              <a:ext uri="{FF2B5EF4-FFF2-40B4-BE49-F238E27FC236}">
                <a16:creationId xmlns:a16="http://schemas.microsoft.com/office/drawing/2014/main" id="{DB0F553E-E58F-92FF-CB42-E2EDCFD048AB}"/>
              </a:ext>
            </a:extLst>
          </p:cNvPr>
          <p:cNvSpPr txBox="1">
            <a:spLocks noGrp="1"/>
          </p:cNvSpPr>
          <p:nvPr>
            <p:ph type="body" idx="1"/>
          </p:nvPr>
        </p:nvSpPr>
        <p:spPr>
          <a:xfrm>
            <a:off x="667761" y="5148374"/>
            <a:ext cx="5342086" cy="4212305"/>
          </a:xfrm>
          <a:prstGeom prst="rect">
            <a:avLst/>
          </a:prstGeom>
        </p:spPr>
        <p:txBody>
          <a:bodyPr spcFirstLastPara="1" wrap="square" lIns="96569" tIns="48272" rIns="96569" bIns="48272" anchor="t" anchorCtr="0">
            <a:noAutofit/>
          </a:bodyPr>
          <a:lstStyle/>
          <a:p>
            <a:pPr marL="0" indent="0"/>
            <a:endParaRPr/>
          </a:p>
        </p:txBody>
      </p:sp>
      <p:sp>
        <p:nvSpPr>
          <p:cNvPr id="373" name="Google Shape;373;p20:notes">
            <a:extLst>
              <a:ext uri="{FF2B5EF4-FFF2-40B4-BE49-F238E27FC236}">
                <a16:creationId xmlns:a16="http://schemas.microsoft.com/office/drawing/2014/main" id="{A89D9199-0CFF-12A2-D673-214C02457FC9}"/>
              </a:ext>
            </a:extLst>
          </p:cNvPr>
          <p:cNvSpPr>
            <a:spLocks noGrp="1" noRot="1" noChangeAspect="1"/>
          </p:cNvSpPr>
          <p:nvPr>
            <p:ph type="sldImg" idx="2"/>
          </p:nvPr>
        </p:nvSpPr>
        <p:spPr>
          <a:xfrm>
            <a:off x="130175" y="1336675"/>
            <a:ext cx="6418263" cy="3611563"/>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094119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F21E2-1C48-EA2E-147E-CA6DA016439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nl-NL"/>
          </a:p>
        </p:txBody>
      </p:sp>
      <p:sp>
        <p:nvSpPr>
          <p:cNvPr id="3" name="Subtitle 2">
            <a:extLst>
              <a:ext uri="{FF2B5EF4-FFF2-40B4-BE49-F238E27FC236}">
                <a16:creationId xmlns:a16="http://schemas.microsoft.com/office/drawing/2014/main" id="{FA4B5056-72BD-1B8C-9A8E-77CC16283D2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nl-NL"/>
          </a:p>
        </p:txBody>
      </p:sp>
      <p:sp>
        <p:nvSpPr>
          <p:cNvPr id="4" name="Date Placeholder 3">
            <a:extLst>
              <a:ext uri="{FF2B5EF4-FFF2-40B4-BE49-F238E27FC236}">
                <a16:creationId xmlns:a16="http://schemas.microsoft.com/office/drawing/2014/main" id="{01AA8235-ED5D-71EC-484F-81ABE9BCCBA8}"/>
              </a:ext>
            </a:extLst>
          </p:cNvPr>
          <p:cNvSpPr>
            <a:spLocks noGrp="1"/>
          </p:cNvSpPr>
          <p:nvPr>
            <p:ph type="dt" sz="half" idx="10"/>
          </p:nvPr>
        </p:nvSpPr>
        <p:spPr/>
        <p:txBody>
          <a:bodyPr/>
          <a:lstStyle/>
          <a:p>
            <a:fld id="{D649F265-0544-4F00-9F64-4E65A8AFF2FB}" type="datetimeFigureOut">
              <a:rPr lang="nl-NL" smtClean="0"/>
              <a:t>4-6-2026</a:t>
            </a:fld>
            <a:endParaRPr lang="nl-NL"/>
          </a:p>
        </p:txBody>
      </p:sp>
      <p:sp>
        <p:nvSpPr>
          <p:cNvPr id="5" name="Footer Placeholder 4">
            <a:extLst>
              <a:ext uri="{FF2B5EF4-FFF2-40B4-BE49-F238E27FC236}">
                <a16:creationId xmlns:a16="http://schemas.microsoft.com/office/drawing/2014/main" id="{80A6E3C8-3BAE-FE1F-7EB9-1D86C07DDBF8}"/>
              </a:ext>
            </a:extLst>
          </p:cNvPr>
          <p:cNvSpPr>
            <a:spLocks noGrp="1"/>
          </p:cNvSpPr>
          <p:nvPr>
            <p:ph type="ftr" sz="quarter" idx="11"/>
          </p:nvPr>
        </p:nvSpPr>
        <p:spPr/>
        <p:txBody>
          <a:bodyPr/>
          <a:lstStyle/>
          <a:p>
            <a:endParaRPr lang="nl-NL"/>
          </a:p>
        </p:txBody>
      </p:sp>
      <p:sp>
        <p:nvSpPr>
          <p:cNvPr id="6" name="Slide Number Placeholder 5">
            <a:extLst>
              <a:ext uri="{FF2B5EF4-FFF2-40B4-BE49-F238E27FC236}">
                <a16:creationId xmlns:a16="http://schemas.microsoft.com/office/drawing/2014/main" id="{317FBD7C-4560-0D0D-6D6C-28EE2C6F2BBB}"/>
              </a:ext>
            </a:extLst>
          </p:cNvPr>
          <p:cNvSpPr>
            <a:spLocks noGrp="1"/>
          </p:cNvSpPr>
          <p:nvPr>
            <p:ph type="sldNum" sz="quarter" idx="12"/>
          </p:nvPr>
        </p:nvSpPr>
        <p:spPr/>
        <p:txBody>
          <a:bodyPr/>
          <a:lstStyle/>
          <a:p>
            <a:fld id="{291E9797-C61E-4D69-A039-3C438D72DC3A}" type="slidenum">
              <a:rPr lang="nl-NL" smtClean="0"/>
              <a:t>‹#›</a:t>
            </a:fld>
            <a:endParaRPr lang="nl-NL"/>
          </a:p>
        </p:txBody>
      </p:sp>
    </p:spTree>
    <p:extLst>
      <p:ext uri="{BB962C8B-B14F-4D97-AF65-F5344CB8AC3E}">
        <p14:creationId xmlns:p14="http://schemas.microsoft.com/office/powerpoint/2010/main" val="22518892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2DF97A-307F-5932-6FE1-F4A25D092EC1}"/>
              </a:ext>
            </a:extLst>
          </p:cNvPr>
          <p:cNvSpPr>
            <a:spLocks noGrp="1"/>
          </p:cNvSpPr>
          <p:nvPr>
            <p:ph type="title"/>
          </p:nvPr>
        </p:nvSpPr>
        <p:spPr/>
        <p:txBody>
          <a:bodyPr/>
          <a:lstStyle/>
          <a:p>
            <a:r>
              <a:rPr lang="en-US"/>
              <a:t>Click to edit Master title style</a:t>
            </a:r>
            <a:endParaRPr lang="nl-NL"/>
          </a:p>
        </p:txBody>
      </p:sp>
      <p:sp>
        <p:nvSpPr>
          <p:cNvPr id="3" name="Content Placeholder 2">
            <a:extLst>
              <a:ext uri="{FF2B5EF4-FFF2-40B4-BE49-F238E27FC236}">
                <a16:creationId xmlns:a16="http://schemas.microsoft.com/office/drawing/2014/main" id="{225C7CD8-23C8-3C04-6C8F-D0346EAD15D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Date Placeholder 3">
            <a:extLst>
              <a:ext uri="{FF2B5EF4-FFF2-40B4-BE49-F238E27FC236}">
                <a16:creationId xmlns:a16="http://schemas.microsoft.com/office/drawing/2014/main" id="{07107853-F9A7-0A51-51E7-1466642CFA4C}"/>
              </a:ext>
            </a:extLst>
          </p:cNvPr>
          <p:cNvSpPr>
            <a:spLocks noGrp="1"/>
          </p:cNvSpPr>
          <p:nvPr>
            <p:ph type="dt" sz="half" idx="10"/>
          </p:nvPr>
        </p:nvSpPr>
        <p:spPr/>
        <p:txBody>
          <a:bodyPr/>
          <a:lstStyle/>
          <a:p>
            <a:fld id="{D649F265-0544-4F00-9F64-4E65A8AFF2FB}" type="datetimeFigureOut">
              <a:rPr lang="nl-NL" smtClean="0"/>
              <a:t>4-6-2026</a:t>
            </a:fld>
            <a:endParaRPr lang="nl-NL"/>
          </a:p>
        </p:txBody>
      </p:sp>
      <p:sp>
        <p:nvSpPr>
          <p:cNvPr id="5" name="Footer Placeholder 4">
            <a:extLst>
              <a:ext uri="{FF2B5EF4-FFF2-40B4-BE49-F238E27FC236}">
                <a16:creationId xmlns:a16="http://schemas.microsoft.com/office/drawing/2014/main" id="{E842852A-DCD0-E74F-BA34-ED6668CF9DFC}"/>
              </a:ext>
            </a:extLst>
          </p:cNvPr>
          <p:cNvSpPr>
            <a:spLocks noGrp="1"/>
          </p:cNvSpPr>
          <p:nvPr>
            <p:ph type="ftr" sz="quarter" idx="11"/>
          </p:nvPr>
        </p:nvSpPr>
        <p:spPr/>
        <p:txBody>
          <a:bodyPr/>
          <a:lstStyle/>
          <a:p>
            <a:endParaRPr lang="nl-NL"/>
          </a:p>
        </p:txBody>
      </p:sp>
      <p:sp>
        <p:nvSpPr>
          <p:cNvPr id="6" name="Slide Number Placeholder 5">
            <a:extLst>
              <a:ext uri="{FF2B5EF4-FFF2-40B4-BE49-F238E27FC236}">
                <a16:creationId xmlns:a16="http://schemas.microsoft.com/office/drawing/2014/main" id="{BFB26685-A5B2-0458-DF2A-66BF92790B5D}"/>
              </a:ext>
            </a:extLst>
          </p:cNvPr>
          <p:cNvSpPr>
            <a:spLocks noGrp="1"/>
          </p:cNvSpPr>
          <p:nvPr>
            <p:ph type="sldNum" sz="quarter" idx="12"/>
          </p:nvPr>
        </p:nvSpPr>
        <p:spPr/>
        <p:txBody>
          <a:bodyPr/>
          <a:lstStyle/>
          <a:p>
            <a:fld id="{291E9797-C61E-4D69-A039-3C438D72DC3A}" type="slidenum">
              <a:rPr lang="nl-NL" smtClean="0"/>
              <a:t>‹#›</a:t>
            </a:fld>
            <a:endParaRPr lang="nl-NL"/>
          </a:p>
        </p:txBody>
      </p:sp>
    </p:spTree>
    <p:extLst>
      <p:ext uri="{BB962C8B-B14F-4D97-AF65-F5344CB8AC3E}">
        <p14:creationId xmlns:p14="http://schemas.microsoft.com/office/powerpoint/2010/main" val="5772468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21FCC3-84E2-A920-9260-F36A3B7DB97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nl-NL"/>
          </a:p>
        </p:txBody>
      </p:sp>
      <p:sp>
        <p:nvSpPr>
          <p:cNvPr id="3" name="Text Placeholder 2">
            <a:extLst>
              <a:ext uri="{FF2B5EF4-FFF2-40B4-BE49-F238E27FC236}">
                <a16:creationId xmlns:a16="http://schemas.microsoft.com/office/drawing/2014/main" id="{51B0B5D5-78D8-C28E-5147-99EF5B18FF9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F12D5D9-7C86-E77F-69B6-31FE2C456B09}"/>
              </a:ext>
            </a:extLst>
          </p:cNvPr>
          <p:cNvSpPr>
            <a:spLocks noGrp="1"/>
          </p:cNvSpPr>
          <p:nvPr>
            <p:ph type="dt" sz="half" idx="10"/>
          </p:nvPr>
        </p:nvSpPr>
        <p:spPr/>
        <p:txBody>
          <a:bodyPr/>
          <a:lstStyle/>
          <a:p>
            <a:fld id="{D649F265-0544-4F00-9F64-4E65A8AFF2FB}" type="datetimeFigureOut">
              <a:rPr lang="nl-NL" smtClean="0"/>
              <a:t>4-6-2026</a:t>
            </a:fld>
            <a:endParaRPr lang="nl-NL"/>
          </a:p>
        </p:txBody>
      </p:sp>
      <p:sp>
        <p:nvSpPr>
          <p:cNvPr id="5" name="Footer Placeholder 4">
            <a:extLst>
              <a:ext uri="{FF2B5EF4-FFF2-40B4-BE49-F238E27FC236}">
                <a16:creationId xmlns:a16="http://schemas.microsoft.com/office/drawing/2014/main" id="{D8AEBB9A-BE21-44A6-DB4C-BAEBE4609DEE}"/>
              </a:ext>
            </a:extLst>
          </p:cNvPr>
          <p:cNvSpPr>
            <a:spLocks noGrp="1"/>
          </p:cNvSpPr>
          <p:nvPr>
            <p:ph type="ftr" sz="quarter" idx="11"/>
          </p:nvPr>
        </p:nvSpPr>
        <p:spPr/>
        <p:txBody>
          <a:bodyPr/>
          <a:lstStyle/>
          <a:p>
            <a:endParaRPr lang="nl-NL"/>
          </a:p>
        </p:txBody>
      </p:sp>
      <p:sp>
        <p:nvSpPr>
          <p:cNvPr id="6" name="Slide Number Placeholder 5">
            <a:extLst>
              <a:ext uri="{FF2B5EF4-FFF2-40B4-BE49-F238E27FC236}">
                <a16:creationId xmlns:a16="http://schemas.microsoft.com/office/drawing/2014/main" id="{B9907546-B841-568B-7AD8-0BDC5031D0A7}"/>
              </a:ext>
            </a:extLst>
          </p:cNvPr>
          <p:cNvSpPr>
            <a:spLocks noGrp="1"/>
          </p:cNvSpPr>
          <p:nvPr>
            <p:ph type="sldNum" sz="quarter" idx="12"/>
          </p:nvPr>
        </p:nvSpPr>
        <p:spPr/>
        <p:txBody>
          <a:bodyPr/>
          <a:lstStyle/>
          <a:p>
            <a:fld id="{291E9797-C61E-4D69-A039-3C438D72DC3A}" type="slidenum">
              <a:rPr lang="nl-NL" smtClean="0"/>
              <a:t>‹#›</a:t>
            </a:fld>
            <a:endParaRPr lang="nl-NL"/>
          </a:p>
        </p:txBody>
      </p:sp>
    </p:spTree>
    <p:extLst>
      <p:ext uri="{BB962C8B-B14F-4D97-AF65-F5344CB8AC3E}">
        <p14:creationId xmlns:p14="http://schemas.microsoft.com/office/powerpoint/2010/main" val="6652754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F5D385-2A07-66DA-AA39-33C2CEEC008D}"/>
              </a:ext>
            </a:extLst>
          </p:cNvPr>
          <p:cNvSpPr>
            <a:spLocks noGrp="1"/>
          </p:cNvSpPr>
          <p:nvPr>
            <p:ph type="title"/>
          </p:nvPr>
        </p:nvSpPr>
        <p:spPr/>
        <p:txBody>
          <a:bodyPr/>
          <a:lstStyle/>
          <a:p>
            <a:r>
              <a:rPr lang="en-US"/>
              <a:t>Click to edit Master title style</a:t>
            </a:r>
            <a:endParaRPr lang="nl-NL"/>
          </a:p>
        </p:txBody>
      </p:sp>
      <p:sp>
        <p:nvSpPr>
          <p:cNvPr id="3" name="Content Placeholder 2">
            <a:extLst>
              <a:ext uri="{FF2B5EF4-FFF2-40B4-BE49-F238E27FC236}">
                <a16:creationId xmlns:a16="http://schemas.microsoft.com/office/drawing/2014/main" id="{E0127190-749A-1236-C246-3593EAAD059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Content Placeholder 3">
            <a:extLst>
              <a:ext uri="{FF2B5EF4-FFF2-40B4-BE49-F238E27FC236}">
                <a16:creationId xmlns:a16="http://schemas.microsoft.com/office/drawing/2014/main" id="{39048360-5AAD-6786-C778-D83D35D2DFB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5" name="Date Placeholder 4">
            <a:extLst>
              <a:ext uri="{FF2B5EF4-FFF2-40B4-BE49-F238E27FC236}">
                <a16:creationId xmlns:a16="http://schemas.microsoft.com/office/drawing/2014/main" id="{655F38B8-A56B-1194-FF68-736E16320C27}"/>
              </a:ext>
            </a:extLst>
          </p:cNvPr>
          <p:cNvSpPr>
            <a:spLocks noGrp="1"/>
          </p:cNvSpPr>
          <p:nvPr>
            <p:ph type="dt" sz="half" idx="10"/>
          </p:nvPr>
        </p:nvSpPr>
        <p:spPr/>
        <p:txBody>
          <a:bodyPr/>
          <a:lstStyle/>
          <a:p>
            <a:fld id="{D649F265-0544-4F00-9F64-4E65A8AFF2FB}" type="datetimeFigureOut">
              <a:rPr lang="nl-NL" smtClean="0"/>
              <a:t>4-6-2026</a:t>
            </a:fld>
            <a:endParaRPr lang="nl-NL"/>
          </a:p>
        </p:txBody>
      </p:sp>
      <p:sp>
        <p:nvSpPr>
          <p:cNvPr id="6" name="Footer Placeholder 5">
            <a:extLst>
              <a:ext uri="{FF2B5EF4-FFF2-40B4-BE49-F238E27FC236}">
                <a16:creationId xmlns:a16="http://schemas.microsoft.com/office/drawing/2014/main" id="{DC07C7B7-B552-218E-33AE-37CD6E8F8185}"/>
              </a:ext>
            </a:extLst>
          </p:cNvPr>
          <p:cNvSpPr>
            <a:spLocks noGrp="1"/>
          </p:cNvSpPr>
          <p:nvPr>
            <p:ph type="ftr" sz="quarter" idx="11"/>
          </p:nvPr>
        </p:nvSpPr>
        <p:spPr/>
        <p:txBody>
          <a:bodyPr/>
          <a:lstStyle/>
          <a:p>
            <a:endParaRPr lang="nl-NL"/>
          </a:p>
        </p:txBody>
      </p:sp>
      <p:sp>
        <p:nvSpPr>
          <p:cNvPr id="7" name="Slide Number Placeholder 6">
            <a:extLst>
              <a:ext uri="{FF2B5EF4-FFF2-40B4-BE49-F238E27FC236}">
                <a16:creationId xmlns:a16="http://schemas.microsoft.com/office/drawing/2014/main" id="{94134173-BD3E-46AE-F55E-0E4A417A5BA4}"/>
              </a:ext>
            </a:extLst>
          </p:cNvPr>
          <p:cNvSpPr>
            <a:spLocks noGrp="1"/>
          </p:cNvSpPr>
          <p:nvPr>
            <p:ph type="sldNum" sz="quarter" idx="12"/>
          </p:nvPr>
        </p:nvSpPr>
        <p:spPr/>
        <p:txBody>
          <a:bodyPr/>
          <a:lstStyle/>
          <a:p>
            <a:fld id="{291E9797-C61E-4D69-A039-3C438D72DC3A}" type="slidenum">
              <a:rPr lang="nl-NL" smtClean="0"/>
              <a:t>‹#›</a:t>
            </a:fld>
            <a:endParaRPr lang="nl-NL"/>
          </a:p>
        </p:txBody>
      </p:sp>
    </p:spTree>
    <p:extLst>
      <p:ext uri="{BB962C8B-B14F-4D97-AF65-F5344CB8AC3E}">
        <p14:creationId xmlns:p14="http://schemas.microsoft.com/office/powerpoint/2010/main" val="6499260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CCF8A5-056C-7EEE-F85D-9F06C8BE247B}"/>
              </a:ext>
            </a:extLst>
          </p:cNvPr>
          <p:cNvSpPr>
            <a:spLocks noGrp="1"/>
          </p:cNvSpPr>
          <p:nvPr>
            <p:ph type="title"/>
          </p:nvPr>
        </p:nvSpPr>
        <p:spPr>
          <a:xfrm>
            <a:off x="839788" y="365125"/>
            <a:ext cx="10515600" cy="1325563"/>
          </a:xfrm>
        </p:spPr>
        <p:txBody>
          <a:bodyPr/>
          <a:lstStyle/>
          <a:p>
            <a:r>
              <a:rPr lang="en-US"/>
              <a:t>Click to edit Master title style</a:t>
            </a:r>
            <a:endParaRPr lang="nl-NL"/>
          </a:p>
        </p:txBody>
      </p:sp>
      <p:sp>
        <p:nvSpPr>
          <p:cNvPr id="3" name="Text Placeholder 2">
            <a:extLst>
              <a:ext uri="{FF2B5EF4-FFF2-40B4-BE49-F238E27FC236}">
                <a16:creationId xmlns:a16="http://schemas.microsoft.com/office/drawing/2014/main" id="{5CB57E68-3747-40EC-A79F-1351D20753F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72EE1F8-0F77-2DA0-7E9E-DE1972BE81E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5" name="Text Placeholder 4">
            <a:extLst>
              <a:ext uri="{FF2B5EF4-FFF2-40B4-BE49-F238E27FC236}">
                <a16:creationId xmlns:a16="http://schemas.microsoft.com/office/drawing/2014/main" id="{9C737CA7-4428-C9E2-C059-3132CF52FD2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B98BC59-37DA-54D7-C8D1-E52F58F64A5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7" name="Date Placeholder 6">
            <a:extLst>
              <a:ext uri="{FF2B5EF4-FFF2-40B4-BE49-F238E27FC236}">
                <a16:creationId xmlns:a16="http://schemas.microsoft.com/office/drawing/2014/main" id="{ED55B4BE-B78E-EA96-7039-397C496D9B75}"/>
              </a:ext>
            </a:extLst>
          </p:cNvPr>
          <p:cNvSpPr>
            <a:spLocks noGrp="1"/>
          </p:cNvSpPr>
          <p:nvPr>
            <p:ph type="dt" sz="half" idx="10"/>
          </p:nvPr>
        </p:nvSpPr>
        <p:spPr/>
        <p:txBody>
          <a:bodyPr/>
          <a:lstStyle/>
          <a:p>
            <a:fld id="{D649F265-0544-4F00-9F64-4E65A8AFF2FB}" type="datetimeFigureOut">
              <a:rPr lang="nl-NL" smtClean="0"/>
              <a:t>4-6-2026</a:t>
            </a:fld>
            <a:endParaRPr lang="nl-NL"/>
          </a:p>
        </p:txBody>
      </p:sp>
      <p:sp>
        <p:nvSpPr>
          <p:cNvPr id="8" name="Footer Placeholder 7">
            <a:extLst>
              <a:ext uri="{FF2B5EF4-FFF2-40B4-BE49-F238E27FC236}">
                <a16:creationId xmlns:a16="http://schemas.microsoft.com/office/drawing/2014/main" id="{14AA3534-CCDF-9343-AB56-9A3BCFD29D71}"/>
              </a:ext>
            </a:extLst>
          </p:cNvPr>
          <p:cNvSpPr>
            <a:spLocks noGrp="1"/>
          </p:cNvSpPr>
          <p:nvPr>
            <p:ph type="ftr" sz="quarter" idx="11"/>
          </p:nvPr>
        </p:nvSpPr>
        <p:spPr/>
        <p:txBody>
          <a:bodyPr/>
          <a:lstStyle/>
          <a:p>
            <a:endParaRPr lang="nl-NL"/>
          </a:p>
        </p:txBody>
      </p:sp>
      <p:sp>
        <p:nvSpPr>
          <p:cNvPr id="9" name="Slide Number Placeholder 8">
            <a:extLst>
              <a:ext uri="{FF2B5EF4-FFF2-40B4-BE49-F238E27FC236}">
                <a16:creationId xmlns:a16="http://schemas.microsoft.com/office/drawing/2014/main" id="{8941CA51-43EF-5572-0404-596A578268D7}"/>
              </a:ext>
            </a:extLst>
          </p:cNvPr>
          <p:cNvSpPr>
            <a:spLocks noGrp="1"/>
          </p:cNvSpPr>
          <p:nvPr>
            <p:ph type="sldNum" sz="quarter" idx="12"/>
          </p:nvPr>
        </p:nvSpPr>
        <p:spPr/>
        <p:txBody>
          <a:bodyPr/>
          <a:lstStyle/>
          <a:p>
            <a:fld id="{291E9797-C61E-4D69-A039-3C438D72DC3A}" type="slidenum">
              <a:rPr lang="nl-NL" smtClean="0"/>
              <a:t>‹#›</a:t>
            </a:fld>
            <a:endParaRPr lang="nl-NL"/>
          </a:p>
        </p:txBody>
      </p:sp>
    </p:spTree>
    <p:extLst>
      <p:ext uri="{BB962C8B-B14F-4D97-AF65-F5344CB8AC3E}">
        <p14:creationId xmlns:p14="http://schemas.microsoft.com/office/powerpoint/2010/main" val="18514184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69083-864D-B489-C4E9-DCF35C67DC33}"/>
              </a:ext>
            </a:extLst>
          </p:cNvPr>
          <p:cNvSpPr>
            <a:spLocks noGrp="1"/>
          </p:cNvSpPr>
          <p:nvPr>
            <p:ph type="title"/>
          </p:nvPr>
        </p:nvSpPr>
        <p:spPr/>
        <p:txBody>
          <a:bodyPr/>
          <a:lstStyle/>
          <a:p>
            <a:r>
              <a:rPr lang="en-US"/>
              <a:t>Click to edit Master title style</a:t>
            </a:r>
            <a:endParaRPr lang="nl-NL"/>
          </a:p>
        </p:txBody>
      </p:sp>
      <p:sp>
        <p:nvSpPr>
          <p:cNvPr id="3" name="Date Placeholder 2">
            <a:extLst>
              <a:ext uri="{FF2B5EF4-FFF2-40B4-BE49-F238E27FC236}">
                <a16:creationId xmlns:a16="http://schemas.microsoft.com/office/drawing/2014/main" id="{77EC7354-1A9E-3264-A520-7A6213FC1350}"/>
              </a:ext>
            </a:extLst>
          </p:cNvPr>
          <p:cNvSpPr>
            <a:spLocks noGrp="1"/>
          </p:cNvSpPr>
          <p:nvPr>
            <p:ph type="dt" sz="half" idx="10"/>
          </p:nvPr>
        </p:nvSpPr>
        <p:spPr/>
        <p:txBody>
          <a:bodyPr/>
          <a:lstStyle/>
          <a:p>
            <a:fld id="{D649F265-0544-4F00-9F64-4E65A8AFF2FB}" type="datetimeFigureOut">
              <a:rPr lang="nl-NL" smtClean="0"/>
              <a:t>4-6-2026</a:t>
            </a:fld>
            <a:endParaRPr lang="nl-NL"/>
          </a:p>
        </p:txBody>
      </p:sp>
      <p:sp>
        <p:nvSpPr>
          <p:cNvPr id="4" name="Footer Placeholder 3">
            <a:extLst>
              <a:ext uri="{FF2B5EF4-FFF2-40B4-BE49-F238E27FC236}">
                <a16:creationId xmlns:a16="http://schemas.microsoft.com/office/drawing/2014/main" id="{487575BC-F3AB-4918-3930-27229BCBBC38}"/>
              </a:ext>
            </a:extLst>
          </p:cNvPr>
          <p:cNvSpPr>
            <a:spLocks noGrp="1"/>
          </p:cNvSpPr>
          <p:nvPr>
            <p:ph type="ftr" sz="quarter" idx="11"/>
          </p:nvPr>
        </p:nvSpPr>
        <p:spPr/>
        <p:txBody>
          <a:bodyPr/>
          <a:lstStyle/>
          <a:p>
            <a:endParaRPr lang="nl-NL"/>
          </a:p>
        </p:txBody>
      </p:sp>
      <p:sp>
        <p:nvSpPr>
          <p:cNvPr id="5" name="Slide Number Placeholder 4">
            <a:extLst>
              <a:ext uri="{FF2B5EF4-FFF2-40B4-BE49-F238E27FC236}">
                <a16:creationId xmlns:a16="http://schemas.microsoft.com/office/drawing/2014/main" id="{C4BA030D-775B-B82A-F33E-5ACA2C6FDF50}"/>
              </a:ext>
            </a:extLst>
          </p:cNvPr>
          <p:cNvSpPr>
            <a:spLocks noGrp="1"/>
          </p:cNvSpPr>
          <p:nvPr>
            <p:ph type="sldNum" sz="quarter" idx="12"/>
          </p:nvPr>
        </p:nvSpPr>
        <p:spPr/>
        <p:txBody>
          <a:bodyPr/>
          <a:lstStyle/>
          <a:p>
            <a:fld id="{291E9797-C61E-4D69-A039-3C438D72DC3A}" type="slidenum">
              <a:rPr lang="nl-NL" smtClean="0"/>
              <a:t>‹#›</a:t>
            </a:fld>
            <a:endParaRPr lang="nl-NL"/>
          </a:p>
        </p:txBody>
      </p:sp>
    </p:spTree>
    <p:extLst>
      <p:ext uri="{BB962C8B-B14F-4D97-AF65-F5344CB8AC3E}">
        <p14:creationId xmlns:p14="http://schemas.microsoft.com/office/powerpoint/2010/main" val="26366759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58826D1-5854-0F2A-EC44-9CE2ECD6A3B0}"/>
              </a:ext>
            </a:extLst>
          </p:cNvPr>
          <p:cNvSpPr>
            <a:spLocks noGrp="1"/>
          </p:cNvSpPr>
          <p:nvPr>
            <p:ph type="dt" sz="half" idx="10"/>
          </p:nvPr>
        </p:nvSpPr>
        <p:spPr/>
        <p:txBody>
          <a:bodyPr/>
          <a:lstStyle/>
          <a:p>
            <a:fld id="{D649F265-0544-4F00-9F64-4E65A8AFF2FB}" type="datetimeFigureOut">
              <a:rPr lang="nl-NL" smtClean="0"/>
              <a:t>4-6-2026</a:t>
            </a:fld>
            <a:endParaRPr lang="nl-NL"/>
          </a:p>
        </p:txBody>
      </p:sp>
      <p:sp>
        <p:nvSpPr>
          <p:cNvPr id="3" name="Footer Placeholder 2">
            <a:extLst>
              <a:ext uri="{FF2B5EF4-FFF2-40B4-BE49-F238E27FC236}">
                <a16:creationId xmlns:a16="http://schemas.microsoft.com/office/drawing/2014/main" id="{B2C8FC2C-6822-2E48-CC23-D04CD4D17814}"/>
              </a:ext>
            </a:extLst>
          </p:cNvPr>
          <p:cNvSpPr>
            <a:spLocks noGrp="1"/>
          </p:cNvSpPr>
          <p:nvPr>
            <p:ph type="ftr" sz="quarter" idx="11"/>
          </p:nvPr>
        </p:nvSpPr>
        <p:spPr/>
        <p:txBody>
          <a:bodyPr/>
          <a:lstStyle/>
          <a:p>
            <a:endParaRPr lang="nl-NL"/>
          </a:p>
        </p:txBody>
      </p:sp>
      <p:sp>
        <p:nvSpPr>
          <p:cNvPr id="4" name="Slide Number Placeholder 3">
            <a:extLst>
              <a:ext uri="{FF2B5EF4-FFF2-40B4-BE49-F238E27FC236}">
                <a16:creationId xmlns:a16="http://schemas.microsoft.com/office/drawing/2014/main" id="{8FCD1E1F-CB6E-48B9-E549-23D27966589F}"/>
              </a:ext>
            </a:extLst>
          </p:cNvPr>
          <p:cNvSpPr>
            <a:spLocks noGrp="1"/>
          </p:cNvSpPr>
          <p:nvPr>
            <p:ph type="sldNum" sz="quarter" idx="12"/>
          </p:nvPr>
        </p:nvSpPr>
        <p:spPr/>
        <p:txBody>
          <a:bodyPr/>
          <a:lstStyle/>
          <a:p>
            <a:fld id="{291E9797-C61E-4D69-A039-3C438D72DC3A}" type="slidenum">
              <a:rPr lang="nl-NL" smtClean="0"/>
              <a:t>‹#›</a:t>
            </a:fld>
            <a:endParaRPr lang="nl-NL"/>
          </a:p>
        </p:txBody>
      </p:sp>
    </p:spTree>
    <p:extLst>
      <p:ext uri="{BB962C8B-B14F-4D97-AF65-F5344CB8AC3E}">
        <p14:creationId xmlns:p14="http://schemas.microsoft.com/office/powerpoint/2010/main" val="19578985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A4CA42-C6F5-5C1D-EC96-FFDD1ABBA25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l-NL"/>
          </a:p>
        </p:txBody>
      </p:sp>
      <p:sp>
        <p:nvSpPr>
          <p:cNvPr id="3" name="Content Placeholder 2">
            <a:extLst>
              <a:ext uri="{FF2B5EF4-FFF2-40B4-BE49-F238E27FC236}">
                <a16:creationId xmlns:a16="http://schemas.microsoft.com/office/drawing/2014/main" id="{626A9303-2085-869E-D039-B02D60F7BB9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Text Placeholder 3">
            <a:extLst>
              <a:ext uri="{FF2B5EF4-FFF2-40B4-BE49-F238E27FC236}">
                <a16:creationId xmlns:a16="http://schemas.microsoft.com/office/drawing/2014/main" id="{355BA124-8146-6104-C0EB-358A289B713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B137AEA-9FF7-A19A-5DAF-A5E1A9AFEB33}"/>
              </a:ext>
            </a:extLst>
          </p:cNvPr>
          <p:cNvSpPr>
            <a:spLocks noGrp="1"/>
          </p:cNvSpPr>
          <p:nvPr>
            <p:ph type="dt" sz="half" idx="10"/>
          </p:nvPr>
        </p:nvSpPr>
        <p:spPr/>
        <p:txBody>
          <a:bodyPr/>
          <a:lstStyle/>
          <a:p>
            <a:fld id="{D649F265-0544-4F00-9F64-4E65A8AFF2FB}" type="datetimeFigureOut">
              <a:rPr lang="nl-NL" smtClean="0"/>
              <a:t>4-6-2026</a:t>
            </a:fld>
            <a:endParaRPr lang="nl-NL"/>
          </a:p>
        </p:txBody>
      </p:sp>
      <p:sp>
        <p:nvSpPr>
          <p:cNvPr id="6" name="Footer Placeholder 5">
            <a:extLst>
              <a:ext uri="{FF2B5EF4-FFF2-40B4-BE49-F238E27FC236}">
                <a16:creationId xmlns:a16="http://schemas.microsoft.com/office/drawing/2014/main" id="{B63B1039-A354-C6DE-8A38-DB06F9EB9DA4}"/>
              </a:ext>
            </a:extLst>
          </p:cNvPr>
          <p:cNvSpPr>
            <a:spLocks noGrp="1"/>
          </p:cNvSpPr>
          <p:nvPr>
            <p:ph type="ftr" sz="quarter" idx="11"/>
          </p:nvPr>
        </p:nvSpPr>
        <p:spPr/>
        <p:txBody>
          <a:bodyPr/>
          <a:lstStyle/>
          <a:p>
            <a:endParaRPr lang="nl-NL"/>
          </a:p>
        </p:txBody>
      </p:sp>
      <p:sp>
        <p:nvSpPr>
          <p:cNvPr id="7" name="Slide Number Placeholder 6">
            <a:extLst>
              <a:ext uri="{FF2B5EF4-FFF2-40B4-BE49-F238E27FC236}">
                <a16:creationId xmlns:a16="http://schemas.microsoft.com/office/drawing/2014/main" id="{8CA7A336-4D0B-F8E8-A02A-66C283618B78}"/>
              </a:ext>
            </a:extLst>
          </p:cNvPr>
          <p:cNvSpPr>
            <a:spLocks noGrp="1"/>
          </p:cNvSpPr>
          <p:nvPr>
            <p:ph type="sldNum" sz="quarter" idx="12"/>
          </p:nvPr>
        </p:nvSpPr>
        <p:spPr/>
        <p:txBody>
          <a:bodyPr/>
          <a:lstStyle/>
          <a:p>
            <a:fld id="{291E9797-C61E-4D69-A039-3C438D72DC3A}" type="slidenum">
              <a:rPr lang="nl-NL" smtClean="0"/>
              <a:t>‹#›</a:t>
            </a:fld>
            <a:endParaRPr lang="nl-NL"/>
          </a:p>
        </p:txBody>
      </p:sp>
    </p:spTree>
    <p:extLst>
      <p:ext uri="{BB962C8B-B14F-4D97-AF65-F5344CB8AC3E}">
        <p14:creationId xmlns:p14="http://schemas.microsoft.com/office/powerpoint/2010/main" val="33404500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2943F7-80D1-EADB-6563-5EE46937D7C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l-NL"/>
          </a:p>
        </p:txBody>
      </p:sp>
      <p:sp>
        <p:nvSpPr>
          <p:cNvPr id="3" name="Picture Placeholder 2">
            <a:extLst>
              <a:ext uri="{FF2B5EF4-FFF2-40B4-BE49-F238E27FC236}">
                <a16:creationId xmlns:a16="http://schemas.microsoft.com/office/drawing/2014/main" id="{0735E15E-9E4F-94C0-9D5B-4DF0948AD44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l-NL"/>
          </a:p>
        </p:txBody>
      </p:sp>
      <p:sp>
        <p:nvSpPr>
          <p:cNvPr id="4" name="Text Placeholder 3">
            <a:extLst>
              <a:ext uri="{FF2B5EF4-FFF2-40B4-BE49-F238E27FC236}">
                <a16:creationId xmlns:a16="http://schemas.microsoft.com/office/drawing/2014/main" id="{EF586BC3-7024-04C4-CEA5-35367836072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7134B0C-A76E-6CE0-AA5C-3F1F621F94DC}"/>
              </a:ext>
            </a:extLst>
          </p:cNvPr>
          <p:cNvSpPr>
            <a:spLocks noGrp="1"/>
          </p:cNvSpPr>
          <p:nvPr>
            <p:ph type="dt" sz="half" idx="10"/>
          </p:nvPr>
        </p:nvSpPr>
        <p:spPr/>
        <p:txBody>
          <a:bodyPr/>
          <a:lstStyle/>
          <a:p>
            <a:fld id="{D649F265-0544-4F00-9F64-4E65A8AFF2FB}" type="datetimeFigureOut">
              <a:rPr lang="nl-NL" smtClean="0"/>
              <a:t>4-6-2026</a:t>
            </a:fld>
            <a:endParaRPr lang="nl-NL"/>
          </a:p>
        </p:txBody>
      </p:sp>
      <p:sp>
        <p:nvSpPr>
          <p:cNvPr id="6" name="Footer Placeholder 5">
            <a:extLst>
              <a:ext uri="{FF2B5EF4-FFF2-40B4-BE49-F238E27FC236}">
                <a16:creationId xmlns:a16="http://schemas.microsoft.com/office/drawing/2014/main" id="{7390D0A0-1C4E-B5C0-8D4F-0179471EE087}"/>
              </a:ext>
            </a:extLst>
          </p:cNvPr>
          <p:cNvSpPr>
            <a:spLocks noGrp="1"/>
          </p:cNvSpPr>
          <p:nvPr>
            <p:ph type="ftr" sz="quarter" idx="11"/>
          </p:nvPr>
        </p:nvSpPr>
        <p:spPr/>
        <p:txBody>
          <a:bodyPr/>
          <a:lstStyle/>
          <a:p>
            <a:endParaRPr lang="nl-NL"/>
          </a:p>
        </p:txBody>
      </p:sp>
      <p:sp>
        <p:nvSpPr>
          <p:cNvPr id="7" name="Slide Number Placeholder 6">
            <a:extLst>
              <a:ext uri="{FF2B5EF4-FFF2-40B4-BE49-F238E27FC236}">
                <a16:creationId xmlns:a16="http://schemas.microsoft.com/office/drawing/2014/main" id="{4A52A5DA-3BF2-702F-1B88-D5F63CD64DE9}"/>
              </a:ext>
            </a:extLst>
          </p:cNvPr>
          <p:cNvSpPr>
            <a:spLocks noGrp="1"/>
          </p:cNvSpPr>
          <p:nvPr>
            <p:ph type="sldNum" sz="quarter" idx="12"/>
          </p:nvPr>
        </p:nvSpPr>
        <p:spPr/>
        <p:txBody>
          <a:bodyPr/>
          <a:lstStyle/>
          <a:p>
            <a:fld id="{291E9797-C61E-4D69-A039-3C438D72DC3A}" type="slidenum">
              <a:rPr lang="nl-NL" smtClean="0"/>
              <a:t>‹#›</a:t>
            </a:fld>
            <a:endParaRPr lang="nl-NL"/>
          </a:p>
        </p:txBody>
      </p:sp>
    </p:spTree>
    <p:extLst>
      <p:ext uri="{BB962C8B-B14F-4D97-AF65-F5344CB8AC3E}">
        <p14:creationId xmlns:p14="http://schemas.microsoft.com/office/powerpoint/2010/main" val="13991721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71876E-440E-D3CB-2E9F-28E2CA988734}"/>
              </a:ext>
            </a:extLst>
          </p:cNvPr>
          <p:cNvSpPr>
            <a:spLocks noGrp="1"/>
          </p:cNvSpPr>
          <p:nvPr>
            <p:ph type="title"/>
          </p:nvPr>
        </p:nvSpPr>
        <p:spPr/>
        <p:txBody>
          <a:bodyPr/>
          <a:lstStyle/>
          <a:p>
            <a:r>
              <a:rPr lang="en-US"/>
              <a:t>Click to edit Master title style</a:t>
            </a:r>
            <a:endParaRPr lang="nl-NL"/>
          </a:p>
        </p:txBody>
      </p:sp>
      <p:sp>
        <p:nvSpPr>
          <p:cNvPr id="3" name="Vertical Text Placeholder 2">
            <a:extLst>
              <a:ext uri="{FF2B5EF4-FFF2-40B4-BE49-F238E27FC236}">
                <a16:creationId xmlns:a16="http://schemas.microsoft.com/office/drawing/2014/main" id="{3ABC7C5D-9766-0035-80D2-6BB3D5F8DE3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Date Placeholder 3">
            <a:extLst>
              <a:ext uri="{FF2B5EF4-FFF2-40B4-BE49-F238E27FC236}">
                <a16:creationId xmlns:a16="http://schemas.microsoft.com/office/drawing/2014/main" id="{A19FBC57-2955-0191-112F-556CFD7FE51B}"/>
              </a:ext>
            </a:extLst>
          </p:cNvPr>
          <p:cNvSpPr>
            <a:spLocks noGrp="1"/>
          </p:cNvSpPr>
          <p:nvPr>
            <p:ph type="dt" sz="half" idx="10"/>
          </p:nvPr>
        </p:nvSpPr>
        <p:spPr/>
        <p:txBody>
          <a:bodyPr/>
          <a:lstStyle/>
          <a:p>
            <a:fld id="{D649F265-0544-4F00-9F64-4E65A8AFF2FB}" type="datetimeFigureOut">
              <a:rPr lang="nl-NL" smtClean="0"/>
              <a:t>4-6-2026</a:t>
            </a:fld>
            <a:endParaRPr lang="nl-NL"/>
          </a:p>
        </p:txBody>
      </p:sp>
      <p:sp>
        <p:nvSpPr>
          <p:cNvPr id="5" name="Footer Placeholder 4">
            <a:extLst>
              <a:ext uri="{FF2B5EF4-FFF2-40B4-BE49-F238E27FC236}">
                <a16:creationId xmlns:a16="http://schemas.microsoft.com/office/drawing/2014/main" id="{5812425C-88BE-0709-AA0A-AF8A7713DDE4}"/>
              </a:ext>
            </a:extLst>
          </p:cNvPr>
          <p:cNvSpPr>
            <a:spLocks noGrp="1"/>
          </p:cNvSpPr>
          <p:nvPr>
            <p:ph type="ftr" sz="quarter" idx="11"/>
          </p:nvPr>
        </p:nvSpPr>
        <p:spPr/>
        <p:txBody>
          <a:bodyPr/>
          <a:lstStyle/>
          <a:p>
            <a:endParaRPr lang="nl-NL"/>
          </a:p>
        </p:txBody>
      </p:sp>
      <p:sp>
        <p:nvSpPr>
          <p:cNvPr id="6" name="Slide Number Placeholder 5">
            <a:extLst>
              <a:ext uri="{FF2B5EF4-FFF2-40B4-BE49-F238E27FC236}">
                <a16:creationId xmlns:a16="http://schemas.microsoft.com/office/drawing/2014/main" id="{BD291295-A931-428B-97AA-F7B9A49BA21A}"/>
              </a:ext>
            </a:extLst>
          </p:cNvPr>
          <p:cNvSpPr>
            <a:spLocks noGrp="1"/>
          </p:cNvSpPr>
          <p:nvPr>
            <p:ph type="sldNum" sz="quarter" idx="12"/>
          </p:nvPr>
        </p:nvSpPr>
        <p:spPr/>
        <p:txBody>
          <a:bodyPr/>
          <a:lstStyle/>
          <a:p>
            <a:fld id="{291E9797-C61E-4D69-A039-3C438D72DC3A}" type="slidenum">
              <a:rPr lang="nl-NL" smtClean="0"/>
              <a:t>‹#›</a:t>
            </a:fld>
            <a:endParaRPr lang="nl-NL"/>
          </a:p>
        </p:txBody>
      </p:sp>
    </p:spTree>
    <p:extLst>
      <p:ext uri="{BB962C8B-B14F-4D97-AF65-F5344CB8AC3E}">
        <p14:creationId xmlns:p14="http://schemas.microsoft.com/office/powerpoint/2010/main" val="42313373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1EFAC58-BF04-8C8C-4DAA-84FA2981A25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nl-NL"/>
          </a:p>
        </p:txBody>
      </p:sp>
      <p:sp>
        <p:nvSpPr>
          <p:cNvPr id="3" name="Vertical Text Placeholder 2">
            <a:extLst>
              <a:ext uri="{FF2B5EF4-FFF2-40B4-BE49-F238E27FC236}">
                <a16:creationId xmlns:a16="http://schemas.microsoft.com/office/drawing/2014/main" id="{E53E8CDD-D453-ABC8-BBD7-2342FE04306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Date Placeholder 3">
            <a:extLst>
              <a:ext uri="{FF2B5EF4-FFF2-40B4-BE49-F238E27FC236}">
                <a16:creationId xmlns:a16="http://schemas.microsoft.com/office/drawing/2014/main" id="{95C05D6C-ACA9-ED73-D2D0-9C390B0521D8}"/>
              </a:ext>
            </a:extLst>
          </p:cNvPr>
          <p:cNvSpPr>
            <a:spLocks noGrp="1"/>
          </p:cNvSpPr>
          <p:nvPr>
            <p:ph type="dt" sz="half" idx="10"/>
          </p:nvPr>
        </p:nvSpPr>
        <p:spPr/>
        <p:txBody>
          <a:bodyPr/>
          <a:lstStyle/>
          <a:p>
            <a:fld id="{D649F265-0544-4F00-9F64-4E65A8AFF2FB}" type="datetimeFigureOut">
              <a:rPr lang="nl-NL" smtClean="0"/>
              <a:t>4-6-2026</a:t>
            </a:fld>
            <a:endParaRPr lang="nl-NL"/>
          </a:p>
        </p:txBody>
      </p:sp>
      <p:sp>
        <p:nvSpPr>
          <p:cNvPr id="5" name="Footer Placeholder 4">
            <a:extLst>
              <a:ext uri="{FF2B5EF4-FFF2-40B4-BE49-F238E27FC236}">
                <a16:creationId xmlns:a16="http://schemas.microsoft.com/office/drawing/2014/main" id="{4CE4706E-B140-24B0-945E-0388DF26736E}"/>
              </a:ext>
            </a:extLst>
          </p:cNvPr>
          <p:cNvSpPr>
            <a:spLocks noGrp="1"/>
          </p:cNvSpPr>
          <p:nvPr>
            <p:ph type="ftr" sz="quarter" idx="11"/>
          </p:nvPr>
        </p:nvSpPr>
        <p:spPr/>
        <p:txBody>
          <a:bodyPr/>
          <a:lstStyle/>
          <a:p>
            <a:endParaRPr lang="nl-NL"/>
          </a:p>
        </p:txBody>
      </p:sp>
      <p:sp>
        <p:nvSpPr>
          <p:cNvPr id="6" name="Slide Number Placeholder 5">
            <a:extLst>
              <a:ext uri="{FF2B5EF4-FFF2-40B4-BE49-F238E27FC236}">
                <a16:creationId xmlns:a16="http://schemas.microsoft.com/office/drawing/2014/main" id="{38FAC276-3F46-8EB8-0B34-2E0BA5080D8A}"/>
              </a:ext>
            </a:extLst>
          </p:cNvPr>
          <p:cNvSpPr>
            <a:spLocks noGrp="1"/>
          </p:cNvSpPr>
          <p:nvPr>
            <p:ph type="sldNum" sz="quarter" idx="12"/>
          </p:nvPr>
        </p:nvSpPr>
        <p:spPr/>
        <p:txBody>
          <a:bodyPr/>
          <a:lstStyle/>
          <a:p>
            <a:fld id="{291E9797-C61E-4D69-A039-3C438D72DC3A}" type="slidenum">
              <a:rPr lang="nl-NL" smtClean="0"/>
              <a:t>‹#›</a:t>
            </a:fld>
            <a:endParaRPr lang="nl-NL"/>
          </a:p>
        </p:txBody>
      </p:sp>
    </p:spTree>
    <p:extLst>
      <p:ext uri="{BB962C8B-B14F-4D97-AF65-F5344CB8AC3E}">
        <p14:creationId xmlns:p14="http://schemas.microsoft.com/office/powerpoint/2010/main" val="27528318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52B3909-E94E-635C-81D6-4754DC9C135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nl-NL"/>
          </a:p>
        </p:txBody>
      </p:sp>
      <p:sp>
        <p:nvSpPr>
          <p:cNvPr id="3" name="Text Placeholder 2">
            <a:extLst>
              <a:ext uri="{FF2B5EF4-FFF2-40B4-BE49-F238E27FC236}">
                <a16:creationId xmlns:a16="http://schemas.microsoft.com/office/drawing/2014/main" id="{2C0DCAFC-DC83-33E8-4199-9C83249DB25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Date Placeholder 3">
            <a:extLst>
              <a:ext uri="{FF2B5EF4-FFF2-40B4-BE49-F238E27FC236}">
                <a16:creationId xmlns:a16="http://schemas.microsoft.com/office/drawing/2014/main" id="{D5F243B2-2BA6-0927-968E-F24ADA059A4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649F265-0544-4F00-9F64-4E65A8AFF2FB}" type="datetimeFigureOut">
              <a:rPr lang="nl-NL" smtClean="0"/>
              <a:t>4-6-2026</a:t>
            </a:fld>
            <a:endParaRPr lang="nl-NL"/>
          </a:p>
        </p:txBody>
      </p:sp>
      <p:sp>
        <p:nvSpPr>
          <p:cNvPr id="5" name="Footer Placeholder 4">
            <a:extLst>
              <a:ext uri="{FF2B5EF4-FFF2-40B4-BE49-F238E27FC236}">
                <a16:creationId xmlns:a16="http://schemas.microsoft.com/office/drawing/2014/main" id="{6B41F9BE-46B3-9B87-27C1-85235F1AC21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nl-NL"/>
          </a:p>
        </p:txBody>
      </p:sp>
      <p:sp>
        <p:nvSpPr>
          <p:cNvPr id="6" name="Slide Number Placeholder 5">
            <a:extLst>
              <a:ext uri="{FF2B5EF4-FFF2-40B4-BE49-F238E27FC236}">
                <a16:creationId xmlns:a16="http://schemas.microsoft.com/office/drawing/2014/main" id="{F9C91694-6382-5004-E295-3386402C4E6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91E9797-C61E-4D69-A039-3C438D72DC3A}" type="slidenum">
              <a:rPr lang="nl-NL" smtClean="0"/>
              <a:t>‹#›</a:t>
            </a:fld>
            <a:endParaRPr lang="nl-NL"/>
          </a:p>
        </p:txBody>
      </p:sp>
    </p:spTree>
    <p:extLst>
      <p:ext uri="{BB962C8B-B14F-4D97-AF65-F5344CB8AC3E}">
        <p14:creationId xmlns:p14="http://schemas.microsoft.com/office/powerpoint/2010/main" val="1615615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hyperlink" Target="https://www.sciencedirect.com/science/article/pii/S2666123323000831?pes=vor&amp;utm_source=scopus&amp;getft_integrator=scopus" TargetMode="External"/><Relationship Id="rId5" Type="http://schemas.openxmlformats.org/officeDocument/2006/relationships/hyperlink" Target="https://doi.org/10.1016/j.rser.2018.07.019" TargetMode="Externa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hyperlink" Target="https://www.sciencedirect.com/science/article/pii/S1877050924015448" TargetMode="Externa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9.png"/><Relationship Id="rId7"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hyperlink" Target="https://www.sciencedirect.com/science/article/pii/S0378778820318958"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1.jpe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2.png"/><Relationship Id="rId7" Type="http://schemas.openxmlformats.org/officeDocument/2006/relationships/image" Target="../media/image25.jp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13.png"/><Relationship Id="rId9" Type="http://schemas.openxmlformats.org/officeDocument/2006/relationships/image" Target="../media/image21.jpeg"/></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173549-1947-F3DD-DB75-FDB9F7424B5F}"/>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8FDA1F34-9A3C-169E-8E32-FBD2FB52ED81}"/>
              </a:ext>
            </a:extLst>
          </p:cNvPr>
          <p:cNvSpPr txBox="1">
            <a:spLocks/>
          </p:cNvSpPr>
          <p:nvPr/>
        </p:nvSpPr>
        <p:spPr bwMode="auto">
          <a:xfrm>
            <a:off x="2161209" y="1931432"/>
            <a:ext cx="7061200" cy="1325562"/>
          </a:xfrm>
          <a:prstGeom prst="rect">
            <a:avLst/>
          </a:prstGeom>
          <a:noFill/>
          <a:ln>
            <a:noFill/>
          </a:ln>
        </p:spPr>
        <p:txBody>
          <a:bodyPr anchor="ctr"/>
          <a:lst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marL="228600">
              <a:lnSpc>
                <a:spcPct val="107000"/>
              </a:lnSpc>
              <a:spcBef>
                <a:spcPts val="0"/>
              </a:spcBef>
              <a:spcAft>
                <a:spcPts val="800"/>
              </a:spcAft>
              <a:defRPr/>
            </a:pPr>
            <a:r>
              <a:rPr lang="en-US" sz="1800" kern="100" dirty="0">
                <a:latin typeface="Aptos" panose="020B0004020202020204" pitchFamily="34" charset="0"/>
                <a:ea typeface="Aptos" panose="020B0004020202020204" pitchFamily="34" charset="0"/>
                <a:cs typeface="Times New Roman" panose="02020603050405020304" pitchFamily="18" charset="0"/>
              </a:rPr>
              <a:t>OCCUPANCY SENSING</a:t>
            </a:r>
            <a:endParaRPr lang="it-IT" sz="1800" kern="100" dirty="0">
              <a:latin typeface="Aptos" panose="020B0004020202020204" pitchFamily="34" charset="0"/>
              <a:ea typeface="Aptos" panose="020B0004020202020204" pitchFamily="34" charset="0"/>
              <a:cs typeface="Times New Roman" panose="02020603050405020304" pitchFamily="18" charset="0"/>
            </a:endParaRPr>
          </a:p>
        </p:txBody>
      </p:sp>
      <p:pic>
        <p:nvPicPr>
          <p:cNvPr id="26627" name="Picture 4" descr="A blue line on a black background&#10;&#10;Description automatically generated">
            <a:extLst>
              <a:ext uri="{FF2B5EF4-FFF2-40B4-BE49-F238E27FC236}">
                <a16:creationId xmlns:a16="http://schemas.microsoft.com/office/drawing/2014/main" id="{191DE294-92AB-F5DB-413B-38ADE2977F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56903" y="2767422"/>
            <a:ext cx="1132611" cy="214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 name="Rectangle 1">
            <a:extLst>
              <a:ext uri="{FF2B5EF4-FFF2-40B4-BE49-F238E27FC236}">
                <a16:creationId xmlns:a16="http://schemas.microsoft.com/office/drawing/2014/main" id="{17069A4A-6033-AA20-AD36-F4E773FB076E}"/>
              </a:ext>
            </a:extLst>
          </p:cNvPr>
          <p:cNvSpPr>
            <a:spLocks noChangeArrowheads="1"/>
          </p:cNvSpPr>
          <p:nvPr/>
        </p:nvSpPr>
        <p:spPr bwMode="auto">
          <a:xfrm>
            <a:off x="2917906" y="4105106"/>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IT" altLang="en-IT" sz="1800" b="0" i="0" u="none" strike="noStrike" cap="none" normalizeH="0" baseline="0">
                <a:ln>
                  <a:noFill/>
                </a:ln>
                <a:solidFill>
                  <a:schemeClr val="tx1"/>
                </a:solidFill>
                <a:effectLst/>
                <a:latin typeface="arial" panose="020B0604020202020204" pitchFamily="34" charset="0"/>
              </a:rPr>
            </a:br>
            <a:endParaRPr kumimoji="0" lang="en-IT" altLang="en-IT" sz="1800" b="0" i="0" u="none" strike="noStrike" cap="none" normalizeH="0" baseline="0">
              <a:ln>
                <a:noFill/>
              </a:ln>
              <a:solidFill>
                <a:schemeClr val="tx1"/>
              </a:solidFill>
              <a:effectLst/>
              <a:latin typeface="arial" panose="020B0604020202020204" pitchFamily="34" charset="0"/>
            </a:endParaRPr>
          </a:p>
        </p:txBody>
      </p:sp>
      <p:sp>
        <p:nvSpPr>
          <p:cNvPr id="23" name="TextBox 22">
            <a:extLst>
              <a:ext uri="{FF2B5EF4-FFF2-40B4-BE49-F238E27FC236}">
                <a16:creationId xmlns:a16="http://schemas.microsoft.com/office/drawing/2014/main" id="{E4760D7C-50A3-F155-6EAE-75CAC0A4D648}"/>
              </a:ext>
            </a:extLst>
          </p:cNvPr>
          <p:cNvSpPr txBox="1"/>
          <p:nvPr/>
        </p:nvSpPr>
        <p:spPr>
          <a:xfrm>
            <a:off x="2472523" y="3069937"/>
            <a:ext cx="7558268" cy="369332"/>
          </a:xfrm>
          <a:prstGeom prst="rect">
            <a:avLst/>
          </a:prstGeom>
          <a:noFill/>
        </p:spPr>
        <p:txBody>
          <a:bodyPr wrap="square">
            <a:spAutoFit/>
          </a:bodyPr>
          <a:lstStyle/>
          <a:p>
            <a:r>
              <a:rPr lang="it-IT" dirty="0">
                <a:solidFill>
                  <a:schemeClr val="tx2">
                    <a:lumMod val="50000"/>
                    <a:lumOff val="50000"/>
                  </a:schemeClr>
                </a:solidFill>
              </a:rPr>
              <a:t>An </a:t>
            </a:r>
            <a:r>
              <a:rPr lang="it-IT" dirty="0" err="1">
                <a:solidFill>
                  <a:schemeClr val="tx2">
                    <a:lumMod val="50000"/>
                    <a:lumOff val="50000"/>
                  </a:schemeClr>
                </a:solidFill>
              </a:rPr>
              <a:t>occupancy-estimation</a:t>
            </a:r>
            <a:r>
              <a:rPr lang="it-IT" dirty="0">
                <a:solidFill>
                  <a:schemeClr val="tx2">
                    <a:lumMod val="50000"/>
                    <a:lumOff val="50000"/>
                  </a:schemeClr>
                </a:solidFill>
              </a:rPr>
              <a:t> pipeline for the </a:t>
            </a:r>
            <a:r>
              <a:rPr lang="it-IT" dirty="0" err="1">
                <a:solidFill>
                  <a:schemeClr val="tx2">
                    <a:lumMod val="50000"/>
                    <a:lumOff val="50000"/>
                  </a:schemeClr>
                </a:solidFill>
              </a:rPr>
              <a:t>Workroom</a:t>
            </a:r>
            <a:r>
              <a:rPr lang="it-IT" dirty="0">
                <a:solidFill>
                  <a:schemeClr val="tx2">
                    <a:lumMod val="50000"/>
                    <a:lumOff val="50000"/>
                  </a:schemeClr>
                </a:solidFill>
              </a:rPr>
              <a:t> pilot study</a:t>
            </a:r>
            <a:endParaRPr lang="en-IT" dirty="0">
              <a:solidFill>
                <a:schemeClr val="tx2">
                  <a:lumMod val="50000"/>
                  <a:lumOff val="50000"/>
                </a:schemeClr>
              </a:solidFill>
            </a:endParaRPr>
          </a:p>
        </p:txBody>
      </p:sp>
    </p:spTree>
    <p:extLst>
      <p:ext uri="{BB962C8B-B14F-4D97-AF65-F5344CB8AC3E}">
        <p14:creationId xmlns:p14="http://schemas.microsoft.com/office/powerpoint/2010/main" val="42376139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2FC31D-6832-44F1-B09B-2F8F55D8EEAF}"/>
            </a:ext>
          </a:extLst>
        </p:cNvPr>
        <p:cNvGrpSpPr/>
        <p:nvPr/>
      </p:nvGrpSpPr>
      <p:grpSpPr>
        <a:xfrm>
          <a:off x="0" y="0"/>
          <a:ext cx="0" cy="0"/>
          <a:chOff x="0" y="0"/>
          <a:chExt cx="0" cy="0"/>
        </a:xfrm>
      </p:grpSpPr>
      <p:pic>
        <p:nvPicPr>
          <p:cNvPr id="12" name="Picture 11" descr="A diagram of a schematic&#10;&#10;AI-generated content may be incorrect.">
            <a:extLst>
              <a:ext uri="{FF2B5EF4-FFF2-40B4-BE49-F238E27FC236}">
                <a16:creationId xmlns:a16="http://schemas.microsoft.com/office/drawing/2014/main" id="{FE13B6BE-0345-0176-0561-C94DF6CD060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74394" y="360869"/>
            <a:ext cx="3126184" cy="4077037"/>
          </a:xfrm>
          <a:prstGeom prst="rect">
            <a:avLst/>
          </a:prstGeom>
        </p:spPr>
      </p:pic>
      <p:sp>
        <p:nvSpPr>
          <p:cNvPr id="4" name="Title 1">
            <a:extLst>
              <a:ext uri="{FF2B5EF4-FFF2-40B4-BE49-F238E27FC236}">
                <a16:creationId xmlns:a16="http://schemas.microsoft.com/office/drawing/2014/main" id="{8F128D93-D1C8-4D77-E110-9BC9D8D1E54B}"/>
              </a:ext>
            </a:extLst>
          </p:cNvPr>
          <p:cNvSpPr txBox="1">
            <a:spLocks/>
          </p:cNvSpPr>
          <p:nvPr/>
        </p:nvSpPr>
        <p:spPr bwMode="auto">
          <a:xfrm>
            <a:off x="317500" y="312719"/>
            <a:ext cx="7061200" cy="1325562"/>
          </a:xfrm>
          <a:prstGeom prst="rect">
            <a:avLst/>
          </a:prstGeom>
          <a:noFill/>
          <a:ln>
            <a:noFill/>
          </a:ln>
        </p:spPr>
        <p:txBody>
          <a:bodyPr anchor="ctr"/>
          <a:lst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marL="228600">
              <a:lnSpc>
                <a:spcPct val="107000"/>
              </a:lnSpc>
              <a:spcBef>
                <a:spcPts val="0"/>
              </a:spcBef>
              <a:spcAft>
                <a:spcPts val="800"/>
              </a:spcAft>
              <a:defRPr/>
            </a:pPr>
            <a:r>
              <a:rPr lang="en-US" sz="1800" kern="100" dirty="0">
                <a:latin typeface="Aptos" panose="020B0004020202020204" pitchFamily="34" charset="0"/>
                <a:ea typeface="Aptos" panose="020B0004020202020204" pitchFamily="34" charset="0"/>
                <a:cs typeface="Times New Roman" panose="02020603050405020304" pitchFamily="18" charset="0"/>
              </a:rPr>
              <a:t>OCCUPANCY SENSING</a:t>
            </a:r>
            <a:endParaRPr lang="it-IT" sz="1800" kern="100" dirty="0">
              <a:latin typeface="Aptos" panose="020B0004020202020204" pitchFamily="34" charset="0"/>
              <a:ea typeface="Aptos" panose="020B0004020202020204" pitchFamily="34" charset="0"/>
              <a:cs typeface="Times New Roman" panose="02020603050405020304" pitchFamily="18" charset="0"/>
            </a:endParaRPr>
          </a:p>
        </p:txBody>
      </p:sp>
      <p:pic>
        <p:nvPicPr>
          <p:cNvPr id="26627" name="Picture 4" descr="A blue line on a black background&#10;&#10;Description automatically generated">
            <a:extLst>
              <a:ext uri="{FF2B5EF4-FFF2-40B4-BE49-F238E27FC236}">
                <a16:creationId xmlns:a16="http://schemas.microsoft.com/office/drawing/2014/main" id="{FF52C84F-E2B7-B217-D2A1-FB0192B4530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3194" y="1148709"/>
            <a:ext cx="1132611" cy="214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a:extLst>
              <a:ext uri="{FF2B5EF4-FFF2-40B4-BE49-F238E27FC236}">
                <a16:creationId xmlns:a16="http://schemas.microsoft.com/office/drawing/2014/main" id="{CB32E1D8-CF39-D209-2205-42DF98462E28}"/>
              </a:ext>
            </a:extLst>
          </p:cNvPr>
          <p:cNvSpPr txBox="1"/>
          <p:nvPr/>
        </p:nvSpPr>
        <p:spPr>
          <a:xfrm>
            <a:off x="940604" y="2181502"/>
            <a:ext cx="5482239" cy="1923604"/>
          </a:xfrm>
          <a:prstGeom prst="rect">
            <a:avLst/>
          </a:prstGeom>
          <a:noFill/>
        </p:spPr>
        <p:txBody>
          <a:bodyPr wrap="square">
            <a:spAutoFit/>
          </a:bodyPr>
          <a:lstStyle/>
          <a:p>
            <a:pPr marL="285750" indent="-285750">
              <a:buClr>
                <a:schemeClr val="tx2">
                  <a:lumMod val="50000"/>
                  <a:lumOff val="50000"/>
                </a:schemeClr>
              </a:buClr>
              <a:buFont typeface="Arial" panose="020B0604020202020204" pitchFamily="34" charset="0"/>
              <a:buChar char="•"/>
            </a:pPr>
            <a:r>
              <a:rPr lang="en-GB" sz="1200" dirty="0">
                <a:solidFill>
                  <a:schemeClr val="bg2">
                    <a:lumMod val="25000"/>
                  </a:schemeClr>
                </a:solidFill>
              </a:rPr>
              <a:t>Attempt to fill a gap where a need is reported for more research on sensing methods that are able to provide reliable presence detection and occupant count in multi-occupancy spaces such as open-plan offices (</a:t>
            </a:r>
            <a:r>
              <a:rPr lang="en-GB" sz="1200" dirty="0">
                <a:solidFill>
                  <a:schemeClr val="bg2">
                    <a:lumMod val="25000"/>
                  </a:schemeClr>
                </a:solidFill>
                <a:hlinkClick r:id="rId5">
                  <a:extLst>
                    <a:ext uri="{A12FA001-AC4F-418D-AE19-62706E023703}">
                      <ahyp:hlinkClr xmlns:ahyp="http://schemas.microsoft.com/office/drawing/2018/hyperlinkcolor" val="tx"/>
                    </a:ext>
                  </a:extLst>
                </a:hlinkClick>
              </a:rPr>
              <a:t>Naylor et al. 2018</a:t>
            </a:r>
            <a:r>
              <a:rPr lang="en-GB" sz="1200" dirty="0">
                <a:solidFill>
                  <a:schemeClr val="bg2">
                    <a:lumMod val="25000"/>
                  </a:schemeClr>
                </a:solidFill>
              </a:rPr>
              <a:t>).</a:t>
            </a:r>
          </a:p>
          <a:p>
            <a:pPr marL="285750" indent="-285750">
              <a:buClr>
                <a:schemeClr val="tx2">
                  <a:lumMod val="50000"/>
                  <a:lumOff val="50000"/>
                </a:schemeClr>
              </a:buClr>
              <a:buFont typeface="Arial" panose="020B0604020202020204" pitchFamily="34" charset="0"/>
              <a:buChar char="•"/>
            </a:pPr>
            <a:r>
              <a:rPr lang="en-IT" sz="1200" dirty="0">
                <a:solidFill>
                  <a:schemeClr val="bg2">
                    <a:lumMod val="25000"/>
                  </a:schemeClr>
                </a:solidFill>
              </a:rPr>
              <a:t>Demonstrate whi</a:t>
            </a:r>
            <a:r>
              <a:rPr lang="en-GB" sz="1200" dirty="0" err="1">
                <a:solidFill>
                  <a:schemeClr val="bg2">
                    <a:lumMod val="25000"/>
                  </a:schemeClr>
                </a:solidFill>
              </a:rPr>
              <a:t>ch</a:t>
            </a:r>
            <a:r>
              <a:rPr lang="en-IT" sz="1200" dirty="0">
                <a:solidFill>
                  <a:schemeClr val="bg2">
                    <a:lumMod val="25000"/>
                  </a:schemeClr>
                </a:solidFill>
              </a:rPr>
              <a:t> and how the collected data could be used by e.g. building designers or operating managers </a:t>
            </a:r>
          </a:p>
          <a:p>
            <a:pPr marL="285750" indent="-285750">
              <a:buClr>
                <a:schemeClr val="tx2">
                  <a:lumMod val="50000"/>
                  <a:lumOff val="50000"/>
                </a:schemeClr>
              </a:buClr>
              <a:buFont typeface="Arial" panose="020B0604020202020204" pitchFamily="34" charset="0"/>
              <a:buChar char="•"/>
            </a:pPr>
            <a:r>
              <a:rPr lang="en-IT" sz="1200" dirty="0">
                <a:solidFill>
                  <a:schemeClr val="bg2">
                    <a:lumMod val="25000"/>
                  </a:schemeClr>
                </a:solidFill>
              </a:rPr>
              <a:t>Generate occupancy schedule for input in building simulation models</a:t>
            </a:r>
          </a:p>
          <a:p>
            <a:pPr marL="285750" indent="-285750">
              <a:buClr>
                <a:schemeClr val="tx2">
                  <a:lumMod val="50000"/>
                  <a:lumOff val="50000"/>
                </a:schemeClr>
              </a:buClr>
              <a:buFont typeface="Arial" panose="020B0604020202020204" pitchFamily="34" charset="0"/>
              <a:buChar char="•"/>
            </a:pPr>
            <a:r>
              <a:rPr lang="en-IT" sz="1200" dirty="0">
                <a:solidFill>
                  <a:schemeClr val="bg2">
                    <a:lumMod val="25000"/>
                  </a:schemeClr>
                </a:solidFill>
              </a:rPr>
              <a:t>Evaluate the design ventilation airflow for HVAC sizing</a:t>
            </a:r>
          </a:p>
          <a:p>
            <a:pPr marL="285750" indent="-285750">
              <a:buClr>
                <a:schemeClr val="tx2">
                  <a:lumMod val="50000"/>
                  <a:lumOff val="50000"/>
                </a:schemeClr>
              </a:buClr>
              <a:buFont typeface="Arial" panose="020B0604020202020204" pitchFamily="34" charset="0"/>
              <a:buChar char="•"/>
            </a:pPr>
            <a:r>
              <a:rPr lang="en-IT" sz="1200" dirty="0">
                <a:solidFill>
                  <a:schemeClr val="bg2">
                    <a:lumMod val="25000"/>
                  </a:schemeClr>
                </a:solidFill>
              </a:rPr>
              <a:t>Evaluate decisions regarding change of office space layout</a:t>
            </a:r>
          </a:p>
          <a:p>
            <a:pPr algn="just"/>
            <a:r>
              <a:rPr lang="en-GB" sz="1100" i="1" dirty="0">
                <a:solidFill>
                  <a:schemeClr val="bg2">
                    <a:lumMod val="25000"/>
                  </a:schemeClr>
                </a:solidFill>
              </a:rPr>
              <a:t> </a:t>
            </a:r>
            <a:endParaRPr lang="en-IT" sz="1100" i="1" dirty="0">
              <a:solidFill>
                <a:schemeClr val="bg2">
                  <a:lumMod val="25000"/>
                </a:schemeClr>
              </a:solidFill>
            </a:endParaRPr>
          </a:p>
        </p:txBody>
      </p:sp>
      <p:sp>
        <p:nvSpPr>
          <p:cNvPr id="17" name="TextBox 16">
            <a:extLst>
              <a:ext uri="{FF2B5EF4-FFF2-40B4-BE49-F238E27FC236}">
                <a16:creationId xmlns:a16="http://schemas.microsoft.com/office/drawing/2014/main" id="{1264D4DF-BA84-5D00-84D5-173AAD5A7B2A}"/>
              </a:ext>
            </a:extLst>
          </p:cNvPr>
          <p:cNvSpPr txBox="1"/>
          <p:nvPr/>
        </p:nvSpPr>
        <p:spPr>
          <a:xfrm>
            <a:off x="317500" y="6360615"/>
            <a:ext cx="8617352" cy="369332"/>
          </a:xfrm>
          <a:prstGeom prst="rect">
            <a:avLst/>
          </a:prstGeom>
          <a:noFill/>
        </p:spPr>
        <p:txBody>
          <a:bodyPr wrap="square">
            <a:spAutoFit/>
          </a:bodyPr>
          <a:lstStyle/>
          <a:p>
            <a:r>
              <a:rPr lang="en-GB" sz="900" i="1" dirty="0">
                <a:effectLst/>
              </a:rPr>
              <a:t>Chitnis, S., Somu, N., &amp; </a:t>
            </a:r>
            <a:r>
              <a:rPr lang="en-GB" sz="900" i="1" dirty="0" err="1">
                <a:effectLst/>
              </a:rPr>
              <a:t>Kowli</a:t>
            </a:r>
            <a:r>
              <a:rPr lang="en-GB" sz="900" i="1" dirty="0">
                <a:effectLst/>
              </a:rPr>
              <a:t>, A. (2025b). Occupancy estimation with environmental sensors: The possibilities and limitations. Energy and Built Environment, 6(1), 96–108. </a:t>
            </a:r>
            <a:r>
              <a:rPr lang="en-GB" sz="900" i="1" dirty="0">
                <a:effectLst/>
                <a:hlinkClick r:id="rId6"/>
              </a:rPr>
              <a:t>https://</a:t>
            </a:r>
            <a:r>
              <a:rPr lang="en-GB" sz="900" i="1" dirty="0" err="1">
                <a:effectLst/>
                <a:hlinkClick r:id="rId6"/>
              </a:rPr>
              <a:t>doi.org</a:t>
            </a:r>
            <a:r>
              <a:rPr lang="en-GB" sz="900" i="1" dirty="0">
                <a:effectLst/>
                <a:hlinkClick r:id="rId6"/>
              </a:rPr>
              <a:t>/10.1016/j.enbenv.2023.09.003 </a:t>
            </a:r>
            <a:endParaRPr lang="en-GB" sz="900" i="1" dirty="0">
              <a:effectLst/>
            </a:endParaRPr>
          </a:p>
        </p:txBody>
      </p:sp>
      <p:sp>
        <p:nvSpPr>
          <p:cNvPr id="21" name="Rectangle 1">
            <a:extLst>
              <a:ext uri="{FF2B5EF4-FFF2-40B4-BE49-F238E27FC236}">
                <a16:creationId xmlns:a16="http://schemas.microsoft.com/office/drawing/2014/main" id="{7478B89B-4990-8496-4E84-BD628A9227DB}"/>
              </a:ext>
            </a:extLst>
          </p:cNvPr>
          <p:cNvSpPr>
            <a:spLocks noChangeArrowheads="1"/>
          </p:cNvSpPr>
          <p:nvPr/>
        </p:nvSpPr>
        <p:spPr bwMode="auto">
          <a:xfrm>
            <a:off x="2917906" y="4105106"/>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IT" altLang="en-IT" sz="1800" b="0" i="0" u="none" strike="noStrike" cap="none" normalizeH="0" baseline="0">
                <a:ln>
                  <a:noFill/>
                </a:ln>
                <a:solidFill>
                  <a:schemeClr val="tx1"/>
                </a:solidFill>
                <a:effectLst/>
                <a:latin typeface="arial" panose="020B0604020202020204" pitchFamily="34" charset="0"/>
              </a:rPr>
            </a:br>
            <a:endParaRPr kumimoji="0" lang="en-IT" altLang="en-IT" sz="1800" b="0" i="0" u="none" strike="noStrike" cap="none" normalizeH="0" baseline="0">
              <a:ln>
                <a:noFill/>
              </a:ln>
              <a:solidFill>
                <a:schemeClr val="tx1"/>
              </a:solidFill>
              <a:effectLst/>
              <a:latin typeface="arial" panose="020B0604020202020204" pitchFamily="34" charset="0"/>
            </a:endParaRPr>
          </a:p>
        </p:txBody>
      </p:sp>
      <p:sp>
        <p:nvSpPr>
          <p:cNvPr id="23" name="TextBox 22">
            <a:extLst>
              <a:ext uri="{FF2B5EF4-FFF2-40B4-BE49-F238E27FC236}">
                <a16:creationId xmlns:a16="http://schemas.microsoft.com/office/drawing/2014/main" id="{7C3A9D0A-37F8-31DB-2DA7-E79689991E7A}"/>
              </a:ext>
            </a:extLst>
          </p:cNvPr>
          <p:cNvSpPr txBox="1"/>
          <p:nvPr/>
        </p:nvSpPr>
        <p:spPr>
          <a:xfrm>
            <a:off x="1455638" y="1102005"/>
            <a:ext cx="7558268" cy="307777"/>
          </a:xfrm>
          <a:prstGeom prst="rect">
            <a:avLst/>
          </a:prstGeom>
          <a:noFill/>
        </p:spPr>
        <p:txBody>
          <a:bodyPr wrap="square">
            <a:spAutoFit/>
          </a:bodyPr>
          <a:lstStyle/>
          <a:p>
            <a:r>
              <a:rPr lang="en-US" sz="1400" kern="100" dirty="0">
                <a:solidFill>
                  <a:schemeClr val="tx2">
                    <a:lumMod val="50000"/>
                    <a:lumOff val="50000"/>
                  </a:schemeClr>
                </a:solidFill>
                <a:latin typeface="Aptos" panose="020B0004020202020204" pitchFamily="34" charset="0"/>
                <a:ea typeface="Aptos" panose="020B0004020202020204" pitchFamily="34" charset="0"/>
                <a:cs typeface="Times New Roman" panose="02020603050405020304" pitchFamily="18" charset="0"/>
              </a:rPr>
              <a:t>STUDY OBJECTIVES</a:t>
            </a:r>
            <a:endParaRPr lang="en-IT" sz="1400" dirty="0">
              <a:solidFill>
                <a:schemeClr val="tx2">
                  <a:lumMod val="50000"/>
                  <a:lumOff val="50000"/>
                </a:schemeClr>
              </a:solidFill>
            </a:endParaRPr>
          </a:p>
        </p:txBody>
      </p:sp>
      <p:sp>
        <p:nvSpPr>
          <p:cNvPr id="36" name="TextBox 35">
            <a:extLst>
              <a:ext uri="{FF2B5EF4-FFF2-40B4-BE49-F238E27FC236}">
                <a16:creationId xmlns:a16="http://schemas.microsoft.com/office/drawing/2014/main" id="{194CCC67-936B-8E88-2640-C7A66E2F7142}"/>
              </a:ext>
            </a:extLst>
          </p:cNvPr>
          <p:cNvSpPr txBox="1"/>
          <p:nvPr/>
        </p:nvSpPr>
        <p:spPr>
          <a:xfrm>
            <a:off x="960941" y="4197210"/>
            <a:ext cx="5123484" cy="600164"/>
          </a:xfrm>
          <a:prstGeom prst="rect">
            <a:avLst/>
          </a:prstGeom>
          <a:noFill/>
        </p:spPr>
        <p:txBody>
          <a:bodyPr wrap="square">
            <a:spAutoFit/>
          </a:bodyPr>
          <a:lstStyle/>
          <a:p>
            <a:pPr algn="just"/>
            <a:r>
              <a:rPr lang="en-GB" sz="1100" i="1" dirty="0">
                <a:solidFill>
                  <a:schemeClr val="tx2">
                    <a:lumMod val="50000"/>
                    <a:lumOff val="50000"/>
                  </a:schemeClr>
                </a:solidFill>
              </a:rPr>
              <a:t>In a nutshell, </a:t>
            </a:r>
            <a:r>
              <a:rPr lang="en-GB" sz="1100" i="1" dirty="0"/>
              <a:t>guide future research on occupancy prediction using machine learning for better building design, operation, and understanding of occupant </a:t>
            </a:r>
            <a:r>
              <a:rPr lang="en-GB" sz="1100" i="1" dirty="0" err="1"/>
              <a:t>behavior</a:t>
            </a:r>
            <a:endParaRPr lang="en-IT" sz="1100" i="1" dirty="0">
              <a:solidFill>
                <a:schemeClr val="tx2">
                  <a:lumMod val="50000"/>
                  <a:lumOff val="50000"/>
                </a:schemeClr>
              </a:solidFill>
            </a:endParaRPr>
          </a:p>
        </p:txBody>
      </p:sp>
    </p:spTree>
    <p:extLst>
      <p:ext uri="{BB962C8B-B14F-4D97-AF65-F5344CB8AC3E}">
        <p14:creationId xmlns:p14="http://schemas.microsoft.com/office/powerpoint/2010/main" val="11321464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74">
          <a:extLst>
            <a:ext uri="{FF2B5EF4-FFF2-40B4-BE49-F238E27FC236}">
              <a16:creationId xmlns:a16="http://schemas.microsoft.com/office/drawing/2014/main" id="{23CF79D6-D4C7-41D4-D453-3FB40F54310C}"/>
            </a:ext>
          </a:extLst>
        </p:cNvPr>
        <p:cNvGrpSpPr/>
        <p:nvPr/>
      </p:nvGrpSpPr>
      <p:grpSpPr>
        <a:xfrm>
          <a:off x="0" y="0"/>
          <a:ext cx="0" cy="0"/>
          <a:chOff x="0" y="0"/>
          <a:chExt cx="0" cy="0"/>
        </a:xfrm>
      </p:grpSpPr>
      <p:sp>
        <p:nvSpPr>
          <p:cNvPr id="7" name="Google Shape;423;p21">
            <a:extLst>
              <a:ext uri="{FF2B5EF4-FFF2-40B4-BE49-F238E27FC236}">
                <a16:creationId xmlns:a16="http://schemas.microsoft.com/office/drawing/2014/main" id="{7A89D1E1-32EF-0E33-9D23-B8A4CD3305EF}"/>
              </a:ext>
            </a:extLst>
          </p:cNvPr>
          <p:cNvSpPr txBox="1"/>
          <p:nvPr/>
        </p:nvSpPr>
        <p:spPr>
          <a:xfrm>
            <a:off x="390708" y="416452"/>
            <a:ext cx="3104967" cy="424691"/>
          </a:xfrm>
          <a:prstGeom prst="rect">
            <a:avLst/>
          </a:prstGeom>
          <a:noFill/>
          <a:ln>
            <a:noFill/>
          </a:ln>
        </p:spPr>
        <p:txBody>
          <a:bodyPr spcFirstLastPara="1" wrap="square" lIns="91425" tIns="45700" rIns="91425" bIns="45700" anchor="t" anchorCtr="0">
            <a:spAutoFit/>
          </a:bodyPr>
          <a:lstStyle/>
          <a:p>
            <a:pPr lvl="0">
              <a:lnSpc>
                <a:spcPct val="90000"/>
              </a:lnSpc>
            </a:pPr>
            <a:r>
              <a:rPr lang="en-US" sz="2400" b="1" i="0" u="none" strike="noStrike" cap="none" dirty="0">
                <a:solidFill>
                  <a:srgbClr val="4892DC"/>
                </a:solidFill>
                <a:latin typeface="Arial"/>
                <a:ea typeface="Arial"/>
                <a:cs typeface="Arial"/>
                <a:sym typeface="Arial"/>
              </a:rPr>
              <a:t>0. </a:t>
            </a:r>
            <a:r>
              <a:rPr lang="en-US" sz="2400" b="1" dirty="0">
                <a:solidFill>
                  <a:srgbClr val="4892DC"/>
                </a:solidFill>
                <a:latin typeface="Arial"/>
                <a:ea typeface="Arial"/>
                <a:cs typeface="Arial"/>
                <a:sym typeface="Arial"/>
              </a:rPr>
              <a:t>PILOT </a:t>
            </a:r>
            <a:r>
              <a:rPr lang="en-US" sz="1400" dirty="0">
                <a:solidFill>
                  <a:srgbClr val="4892DC"/>
                </a:solidFill>
                <a:latin typeface="Arial"/>
                <a:ea typeface="Arial"/>
                <a:cs typeface="Arial"/>
                <a:sym typeface="Arial"/>
              </a:rPr>
              <a:t>STUDY PLANNING</a:t>
            </a:r>
            <a:endParaRPr lang="en-US" u="none" strike="noStrike" cap="none" dirty="0">
              <a:solidFill>
                <a:srgbClr val="4892DC"/>
              </a:solidFill>
              <a:latin typeface="Arial"/>
              <a:ea typeface="Arial"/>
              <a:cs typeface="Arial"/>
              <a:sym typeface="Arial"/>
            </a:endParaRPr>
          </a:p>
        </p:txBody>
      </p:sp>
      <p:pic>
        <p:nvPicPr>
          <p:cNvPr id="4" name="Picture 3">
            <a:extLst>
              <a:ext uri="{FF2B5EF4-FFF2-40B4-BE49-F238E27FC236}">
                <a16:creationId xmlns:a16="http://schemas.microsoft.com/office/drawing/2014/main" id="{A068506F-7AF8-C81B-23A8-7632A8AA363A}"/>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725902" y="557894"/>
            <a:ext cx="4719784" cy="5742212"/>
          </a:xfrm>
          <a:prstGeom prst="rect">
            <a:avLst/>
          </a:prstGeom>
        </p:spPr>
      </p:pic>
      <p:sp>
        <p:nvSpPr>
          <p:cNvPr id="22" name="TextBox 21">
            <a:extLst>
              <a:ext uri="{FF2B5EF4-FFF2-40B4-BE49-F238E27FC236}">
                <a16:creationId xmlns:a16="http://schemas.microsoft.com/office/drawing/2014/main" id="{E80A7039-2585-F116-900F-BF7D8A3F9C48}"/>
              </a:ext>
            </a:extLst>
          </p:cNvPr>
          <p:cNvSpPr txBox="1"/>
          <p:nvPr/>
        </p:nvSpPr>
        <p:spPr>
          <a:xfrm>
            <a:off x="180686" y="6261479"/>
            <a:ext cx="8464550" cy="784830"/>
          </a:xfrm>
          <a:prstGeom prst="rect">
            <a:avLst/>
          </a:prstGeom>
          <a:noFill/>
        </p:spPr>
        <p:txBody>
          <a:bodyPr wrap="square" rtlCol="0">
            <a:spAutoFit/>
          </a:bodyPr>
          <a:lstStyle/>
          <a:p>
            <a:r>
              <a:rPr lang="en-GB" sz="900" dirty="0"/>
              <a:t>Sheikh Khan, D., Kolarik, J., Anker Hviid, C., &amp; Weitzmann, P. (2021). Method for long-term mapping of occupancy patterns in open-plan and single office spaces by using passive-infrared (PIR) sensors mounted below desks. </a:t>
            </a:r>
            <a:r>
              <a:rPr lang="en-GB" sz="900" i="1" dirty="0"/>
              <a:t>Energy and Buildings</a:t>
            </a:r>
            <a:r>
              <a:rPr lang="en-GB" sz="900" dirty="0"/>
              <a:t>, </a:t>
            </a:r>
            <a:r>
              <a:rPr lang="en-GB" sz="900" i="1" dirty="0"/>
              <a:t>230</a:t>
            </a:r>
            <a:r>
              <a:rPr lang="en-GB" sz="900" dirty="0"/>
              <a:t>, 110534. https://</a:t>
            </a:r>
            <a:r>
              <a:rPr lang="en-GB" sz="900" dirty="0" err="1"/>
              <a:t>doi.org</a:t>
            </a:r>
            <a:r>
              <a:rPr lang="en-GB" sz="900" dirty="0"/>
              <a:t>/10.1016/j.enbuild.2020.110534 </a:t>
            </a:r>
          </a:p>
          <a:p>
            <a:endParaRPr lang="en-GB" sz="900" dirty="0"/>
          </a:p>
          <a:p>
            <a:endParaRPr lang="en-IT" dirty="0"/>
          </a:p>
        </p:txBody>
      </p:sp>
      <p:sp>
        <p:nvSpPr>
          <p:cNvPr id="27" name="TextBox 26">
            <a:extLst>
              <a:ext uri="{FF2B5EF4-FFF2-40B4-BE49-F238E27FC236}">
                <a16:creationId xmlns:a16="http://schemas.microsoft.com/office/drawing/2014/main" id="{E4B859E0-6E40-23DF-D550-00750B3B17A5}"/>
              </a:ext>
            </a:extLst>
          </p:cNvPr>
          <p:cNvSpPr txBox="1"/>
          <p:nvPr/>
        </p:nvSpPr>
        <p:spPr>
          <a:xfrm>
            <a:off x="1685791" y="3788109"/>
            <a:ext cx="2626393" cy="276999"/>
          </a:xfrm>
          <a:prstGeom prst="rect">
            <a:avLst/>
          </a:prstGeom>
          <a:noFill/>
        </p:spPr>
        <p:txBody>
          <a:bodyPr wrap="square">
            <a:spAutoFit/>
          </a:bodyPr>
          <a:lstStyle/>
          <a:p>
            <a:pPr fontAlgn="base">
              <a:buClr>
                <a:schemeClr val="tx2">
                  <a:lumMod val="50000"/>
                  <a:lumOff val="50000"/>
                </a:schemeClr>
              </a:buClr>
            </a:pPr>
            <a:r>
              <a:rPr lang="en-GB" sz="1200" dirty="0">
                <a:solidFill>
                  <a:schemeClr val="tx2">
                    <a:lumMod val="50000"/>
                    <a:lumOff val="50000"/>
                  </a:schemeClr>
                </a:solidFill>
              </a:rPr>
              <a:t>SENSOR SELECTION CRITERIA</a:t>
            </a:r>
          </a:p>
        </p:txBody>
      </p:sp>
      <p:sp>
        <p:nvSpPr>
          <p:cNvPr id="29" name="TextBox 28">
            <a:extLst>
              <a:ext uri="{FF2B5EF4-FFF2-40B4-BE49-F238E27FC236}">
                <a16:creationId xmlns:a16="http://schemas.microsoft.com/office/drawing/2014/main" id="{B8FCF68D-7C0D-81EE-FA1F-17857E3A5ACF}"/>
              </a:ext>
            </a:extLst>
          </p:cNvPr>
          <p:cNvSpPr txBox="1"/>
          <p:nvPr/>
        </p:nvSpPr>
        <p:spPr>
          <a:xfrm>
            <a:off x="1685791" y="1919651"/>
            <a:ext cx="3619767" cy="1600438"/>
          </a:xfrm>
          <a:prstGeom prst="rect">
            <a:avLst/>
          </a:prstGeom>
          <a:noFill/>
        </p:spPr>
        <p:txBody>
          <a:bodyPr wrap="square">
            <a:spAutoFit/>
          </a:bodyPr>
          <a:lstStyle/>
          <a:p>
            <a:pPr algn="just"/>
            <a:r>
              <a:rPr lang="en-GB" sz="1400" b="0" i="1" u="none" strike="noStrike" dirty="0">
                <a:solidFill>
                  <a:schemeClr val="tx2">
                    <a:lumMod val="50000"/>
                    <a:lumOff val="50000"/>
                  </a:schemeClr>
                </a:solidFill>
                <a:effectLst/>
              </a:rPr>
              <a:t>Build a decision-making pipeline, a smart context-aware occupancy estimation toolkit. test and refine a flexible framework for occupancy estimation using sensor fusion data, typology metadata, space-specific logic, to choose the right modelling strategy for that context. </a:t>
            </a:r>
            <a:r>
              <a:rPr lang="en-GB" sz="1400" b="1" i="1" u="none" strike="noStrike" dirty="0">
                <a:solidFill>
                  <a:schemeClr val="tx2">
                    <a:lumMod val="50000"/>
                    <a:lumOff val="50000"/>
                  </a:schemeClr>
                </a:solidFill>
                <a:effectLst/>
              </a:rPr>
              <a:t>Methodology-as-a-service</a:t>
            </a:r>
            <a:r>
              <a:rPr lang="en-GB" sz="1400" b="0" i="1" u="none" strike="noStrike" dirty="0">
                <a:solidFill>
                  <a:schemeClr val="tx2">
                    <a:lumMod val="50000"/>
                    <a:lumOff val="50000"/>
                  </a:schemeClr>
                </a:solidFill>
                <a:effectLst/>
              </a:rPr>
              <a:t>.</a:t>
            </a:r>
            <a:endParaRPr lang="en-IT" sz="1400" i="1" dirty="0">
              <a:solidFill>
                <a:schemeClr val="tx2">
                  <a:lumMod val="50000"/>
                  <a:lumOff val="50000"/>
                </a:schemeClr>
              </a:solidFill>
            </a:endParaRPr>
          </a:p>
        </p:txBody>
      </p:sp>
      <p:sp>
        <p:nvSpPr>
          <p:cNvPr id="32" name="TextBox 31">
            <a:extLst>
              <a:ext uri="{FF2B5EF4-FFF2-40B4-BE49-F238E27FC236}">
                <a16:creationId xmlns:a16="http://schemas.microsoft.com/office/drawing/2014/main" id="{0AF46C23-3CC7-524D-EDFE-C2DF421F1C3B}"/>
              </a:ext>
            </a:extLst>
          </p:cNvPr>
          <p:cNvSpPr txBox="1"/>
          <p:nvPr/>
        </p:nvSpPr>
        <p:spPr>
          <a:xfrm>
            <a:off x="1847176" y="4159729"/>
            <a:ext cx="2565785" cy="1384995"/>
          </a:xfrm>
          <a:prstGeom prst="rect">
            <a:avLst/>
          </a:prstGeom>
          <a:noFill/>
        </p:spPr>
        <p:txBody>
          <a:bodyPr wrap="square">
            <a:spAutoFit/>
          </a:bodyPr>
          <a:lstStyle/>
          <a:p>
            <a:pPr marL="171450" indent="-171450" algn="just">
              <a:buClr>
                <a:schemeClr val="tx2">
                  <a:lumMod val="50000"/>
                  <a:lumOff val="50000"/>
                </a:schemeClr>
              </a:buClr>
              <a:buFont typeface="Arial" panose="020B0604020202020204" pitchFamily="34" charset="0"/>
              <a:buChar char="•"/>
            </a:pPr>
            <a:r>
              <a:rPr lang="en-GB" sz="1200" dirty="0">
                <a:solidFill>
                  <a:schemeClr val="bg2">
                    <a:lumMod val="25000"/>
                  </a:schemeClr>
                </a:solidFill>
              </a:rPr>
              <a:t>Non-invasive</a:t>
            </a:r>
          </a:p>
          <a:p>
            <a:pPr marL="171450" indent="-171450" algn="just">
              <a:buClr>
                <a:schemeClr val="tx2">
                  <a:lumMod val="50000"/>
                  <a:lumOff val="50000"/>
                </a:schemeClr>
              </a:buClr>
              <a:buFont typeface="Arial" panose="020B0604020202020204" pitchFamily="34" charset="0"/>
              <a:buChar char="•"/>
            </a:pPr>
            <a:r>
              <a:rPr lang="en-GB" sz="1200" dirty="0" err="1">
                <a:solidFill>
                  <a:schemeClr val="bg2">
                    <a:lumMod val="25000"/>
                  </a:schemeClr>
                </a:solidFill>
              </a:rPr>
              <a:t>LoRaWAN</a:t>
            </a:r>
            <a:r>
              <a:rPr lang="en-GB" sz="1200" dirty="0">
                <a:solidFill>
                  <a:schemeClr val="bg2">
                    <a:lumMod val="25000"/>
                  </a:schemeClr>
                </a:solidFill>
              </a:rPr>
              <a:t> or low-power wireless communication</a:t>
            </a:r>
          </a:p>
          <a:p>
            <a:pPr marL="171450" indent="-171450" algn="just">
              <a:buClr>
                <a:schemeClr val="tx2">
                  <a:lumMod val="50000"/>
                  <a:lumOff val="50000"/>
                </a:schemeClr>
              </a:buClr>
              <a:buFont typeface="Arial" panose="020B0604020202020204" pitchFamily="34" charset="0"/>
              <a:buChar char="•"/>
            </a:pPr>
            <a:r>
              <a:rPr lang="en-GB" sz="1200" dirty="0">
                <a:solidFill>
                  <a:schemeClr val="bg2">
                    <a:lumMod val="25000"/>
                  </a:schemeClr>
                </a:solidFill>
              </a:rPr>
              <a:t>Calibration and reliability</a:t>
            </a:r>
          </a:p>
          <a:p>
            <a:pPr marL="171450" indent="-171450" algn="just">
              <a:buClr>
                <a:schemeClr val="tx2">
                  <a:lumMod val="50000"/>
                  <a:lumOff val="50000"/>
                </a:schemeClr>
              </a:buClr>
              <a:buFont typeface="Arial" panose="020B0604020202020204" pitchFamily="34" charset="0"/>
              <a:buChar char="•"/>
            </a:pPr>
            <a:r>
              <a:rPr lang="en-GB" sz="1200" dirty="0">
                <a:solidFill>
                  <a:schemeClr val="bg2">
                    <a:lumMod val="25000"/>
                  </a:schemeClr>
                </a:solidFill>
              </a:rPr>
              <a:t>Deployment practicality</a:t>
            </a:r>
          </a:p>
          <a:p>
            <a:pPr marL="171450" indent="-171450" algn="just">
              <a:buClr>
                <a:schemeClr val="tx2">
                  <a:lumMod val="50000"/>
                  <a:lumOff val="50000"/>
                </a:schemeClr>
              </a:buClr>
              <a:buFont typeface="Arial" panose="020B0604020202020204" pitchFamily="34" charset="0"/>
              <a:buChar char="•"/>
            </a:pPr>
            <a:r>
              <a:rPr lang="en-GB" sz="1200" dirty="0">
                <a:solidFill>
                  <a:schemeClr val="bg2">
                    <a:lumMod val="25000"/>
                  </a:schemeClr>
                </a:solidFill>
              </a:rPr>
              <a:t>Compact: plug and play</a:t>
            </a:r>
          </a:p>
          <a:p>
            <a:pPr marL="171450" indent="-171450" algn="just">
              <a:buClr>
                <a:schemeClr val="tx2">
                  <a:lumMod val="50000"/>
                  <a:lumOff val="50000"/>
                </a:schemeClr>
              </a:buClr>
              <a:buFont typeface="Arial" panose="020B0604020202020204" pitchFamily="34" charset="0"/>
              <a:buChar char="•"/>
            </a:pPr>
            <a:r>
              <a:rPr lang="en-GB" sz="1200" dirty="0">
                <a:solidFill>
                  <a:schemeClr val="bg2">
                    <a:lumMod val="25000"/>
                  </a:schemeClr>
                </a:solidFill>
              </a:rPr>
              <a:t>PIR + Env. parameters</a:t>
            </a:r>
            <a:endParaRPr lang="en-IT" sz="1200" dirty="0">
              <a:solidFill>
                <a:schemeClr val="bg2">
                  <a:lumMod val="25000"/>
                </a:schemeClr>
              </a:solidFill>
            </a:endParaRPr>
          </a:p>
        </p:txBody>
      </p:sp>
    </p:spTree>
    <p:extLst>
      <p:ext uri="{BB962C8B-B14F-4D97-AF65-F5344CB8AC3E}">
        <p14:creationId xmlns:p14="http://schemas.microsoft.com/office/powerpoint/2010/main" val="41165613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74">
          <a:extLst>
            <a:ext uri="{FF2B5EF4-FFF2-40B4-BE49-F238E27FC236}">
              <a16:creationId xmlns:a16="http://schemas.microsoft.com/office/drawing/2014/main" id="{39225CC6-7855-E886-39C5-71849188C19C}"/>
            </a:ext>
          </a:extLst>
        </p:cNvPr>
        <p:cNvGrpSpPr/>
        <p:nvPr/>
      </p:nvGrpSpPr>
      <p:grpSpPr>
        <a:xfrm>
          <a:off x="0" y="0"/>
          <a:ext cx="0" cy="0"/>
          <a:chOff x="0" y="0"/>
          <a:chExt cx="0" cy="0"/>
        </a:xfrm>
      </p:grpSpPr>
      <p:pic>
        <p:nvPicPr>
          <p:cNvPr id="3" name="Picture 2" descr="A diagram of a room type&#10;&#10;AI-generated content may be incorrect.">
            <a:extLst>
              <a:ext uri="{FF2B5EF4-FFF2-40B4-BE49-F238E27FC236}">
                <a16:creationId xmlns:a16="http://schemas.microsoft.com/office/drawing/2014/main" id="{8F6481F0-E629-A163-E9FE-DEC272D25752}"/>
              </a:ext>
            </a:extLst>
          </p:cNvPr>
          <p:cNvPicPr>
            <a:picLocks noChangeAspect="1"/>
          </p:cNvPicPr>
          <p:nvPr/>
        </p:nvPicPr>
        <p:blipFill>
          <a:blip r:embed="rId3">
            <a:extLst>
              <a:ext uri="{28A0092B-C50C-407E-A947-70E740481C1C}">
                <a14:useLocalDpi xmlns:a14="http://schemas.microsoft.com/office/drawing/2010/main" val="0"/>
              </a:ext>
            </a:extLst>
          </a:blip>
          <a:srcRect l="7639" t="17137" r="7884"/>
          <a:stretch>
            <a:fillRect/>
          </a:stretch>
        </p:blipFill>
        <p:spPr>
          <a:xfrm>
            <a:off x="566358" y="1524752"/>
            <a:ext cx="7157256" cy="3421036"/>
          </a:xfrm>
          <a:prstGeom prst="rect">
            <a:avLst/>
          </a:prstGeom>
        </p:spPr>
      </p:pic>
      <p:sp>
        <p:nvSpPr>
          <p:cNvPr id="5" name="Google Shape;423;p21">
            <a:extLst>
              <a:ext uri="{FF2B5EF4-FFF2-40B4-BE49-F238E27FC236}">
                <a16:creationId xmlns:a16="http://schemas.microsoft.com/office/drawing/2014/main" id="{B262C493-3EDC-0093-8348-E94976AC5ADC}"/>
              </a:ext>
            </a:extLst>
          </p:cNvPr>
          <p:cNvSpPr txBox="1"/>
          <p:nvPr/>
        </p:nvSpPr>
        <p:spPr>
          <a:xfrm>
            <a:off x="4097615" y="4517242"/>
            <a:ext cx="3104967" cy="286192"/>
          </a:xfrm>
          <a:prstGeom prst="rect">
            <a:avLst/>
          </a:prstGeom>
          <a:noFill/>
          <a:ln>
            <a:noFill/>
          </a:ln>
        </p:spPr>
        <p:txBody>
          <a:bodyPr spcFirstLastPara="1" wrap="square" lIns="91425" tIns="45700" rIns="91425" bIns="45700" anchor="t" anchorCtr="0">
            <a:spAutoFit/>
          </a:bodyPr>
          <a:lstStyle/>
          <a:p>
            <a:pPr lvl="0">
              <a:lnSpc>
                <a:spcPct val="90000"/>
              </a:lnSpc>
            </a:pPr>
            <a:r>
              <a:rPr lang="en-US" sz="1400" dirty="0">
                <a:solidFill>
                  <a:srgbClr val="4892DC"/>
                </a:solidFill>
                <a:latin typeface="Arial"/>
                <a:cs typeface="Arial"/>
                <a:sym typeface="Arial"/>
              </a:rPr>
              <a:t>ROOMS</a:t>
            </a:r>
          </a:p>
        </p:txBody>
      </p:sp>
      <p:sp>
        <p:nvSpPr>
          <p:cNvPr id="9" name="TextBox 8">
            <a:extLst>
              <a:ext uri="{FF2B5EF4-FFF2-40B4-BE49-F238E27FC236}">
                <a16:creationId xmlns:a16="http://schemas.microsoft.com/office/drawing/2014/main" id="{6BE6BCB7-6A53-8439-CA1B-868D6B6F7E6A}"/>
              </a:ext>
            </a:extLst>
          </p:cNvPr>
          <p:cNvSpPr txBox="1"/>
          <p:nvPr/>
        </p:nvSpPr>
        <p:spPr>
          <a:xfrm>
            <a:off x="539891" y="4534434"/>
            <a:ext cx="3205607" cy="746358"/>
          </a:xfrm>
          <a:prstGeom prst="rect">
            <a:avLst/>
          </a:prstGeom>
          <a:noFill/>
        </p:spPr>
        <p:txBody>
          <a:bodyPr wrap="square">
            <a:spAutoFit/>
          </a:bodyPr>
          <a:lstStyle/>
          <a:p>
            <a:pPr fontAlgn="base">
              <a:buClr>
                <a:schemeClr val="tx2">
                  <a:lumMod val="50000"/>
                  <a:lumOff val="50000"/>
                </a:schemeClr>
              </a:buClr>
            </a:pPr>
            <a:r>
              <a:rPr lang="en-GB" sz="1050" dirty="0">
                <a:solidFill>
                  <a:schemeClr val="tx2">
                    <a:lumMod val="50000"/>
                    <a:lumOff val="50000"/>
                  </a:schemeClr>
                </a:solidFill>
              </a:rPr>
              <a:t>PROPOSED ROOMS</a:t>
            </a:r>
          </a:p>
          <a:p>
            <a:pPr fontAlgn="base">
              <a:buClr>
                <a:schemeClr val="tx2">
                  <a:lumMod val="50000"/>
                  <a:lumOff val="50000"/>
                </a:schemeClr>
              </a:buClr>
            </a:pPr>
            <a:r>
              <a:rPr lang="en-GB" sz="1050" dirty="0">
                <a:solidFill>
                  <a:schemeClr val="tx2">
                    <a:lumMod val="50000"/>
                    <a:lumOff val="50000"/>
                  </a:schemeClr>
                </a:solidFill>
              </a:rPr>
              <a:t>/ TYPOLOGIES</a:t>
            </a:r>
            <a:br>
              <a:rPr lang="en-GB" sz="1050" dirty="0">
                <a:solidFill>
                  <a:schemeClr val="tx2">
                    <a:lumMod val="50000"/>
                    <a:lumOff val="50000"/>
                  </a:schemeClr>
                </a:solidFill>
              </a:rPr>
            </a:br>
            <a:endParaRPr lang="en-GB" sz="1050" dirty="0">
              <a:solidFill>
                <a:schemeClr val="tx2">
                  <a:lumMod val="50000"/>
                  <a:lumOff val="50000"/>
                </a:schemeClr>
              </a:solidFill>
            </a:endParaRPr>
          </a:p>
          <a:p>
            <a:pPr fontAlgn="base">
              <a:buClr>
                <a:schemeClr val="tx2">
                  <a:lumMod val="50000"/>
                  <a:lumOff val="50000"/>
                </a:schemeClr>
              </a:buClr>
            </a:pPr>
            <a:endParaRPr lang="en-GB" sz="1100" dirty="0">
              <a:solidFill>
                <a:schemeClr val="bg2">
                  <a:lumMod val="50000"/>
                </a:schemeClr>
              </a:solidFill>
            </a:endParaRPr>
          </a:p>
        </p:txBody>
      </p:sp>
      <p:cxnSp>
        <p:nvCxnSpPr>
          <p:cNvPr id="13" name="Google Shape;377;p20">
            <a:extLst>
              <a:ext uri="{FF2B5EF4-FFF2-40B4-BE49-F238E27FC236}">
                <a16:creationId xmlns:a16="http://schemas.microsoft.com/office/drawing/2014/main" id="{00E0544E-8ADD-2BBD-A9F6-9D02589FB434}"/>
              </a:ext>
            </a:extLst>
          </p:cNvPr>
          <p:cNvCxnSpPr>
            <a:cxnSpLocks/>
          </p:cNvCxnSpPr>
          <p:nvPr/>
        </p:nvCxnSpPr>
        <p:spPr>
          <a:xfrm>
            <a:off x="5067300" y="4660338"/>
            <a:ext cx="2846694" cy="0"/>
          </a:xfrm>
          <a:prstGeom prst="straightConnector1">
            <a:avLst/>
          </a:prstGeom>
          <a:noFill/>
          <a:ln w="19050" cap="flat" cmpd="sng">
            <a:solidFill>
              <a:schemeClr val="accent4"/>
            </a:solidFill>
            <a:prstDash val="dash"/>
            <a:round/>
            <a:headEnd type="none" w="sm" len="sm"/>
            <a:tailEnd type="none" w="sm" len="sm"/>
          </a:ln>
        </p:spPr>
      </p:cxnSp>
      <p:cxnSp>
        <p:nvCxnSpPr>
          <p:cNvPr id="15" name="Google Shape;377;p20">
            <a:extLst>
              <a:ext uri="{FF2B5EF4-FFF2-40B4-BE49-F238E27FC236}">
                <a16:creationId xmlns:a16="http://schemas.microsoft.com/office/drawing/2014/main" id="{B9F3E898-FDCB-C8FD-08CA-9FEF7DD7DC5E}"/>
              </a:ext>
            </a:extLst>
          </p:cNvPr>
          <p:cNvCxnSpPr>
            <a:cxnSpLocks/>
          </p:cNvCxnSpPr>
          <p:nvPr/>
        </p:nvCxnSpPr>
        <p:spPr>
          <a:xfrm flipV="1">
            <a:off x="7944319" y="2123850"/>
            <a:ext cx="0" cy="4079410"/>
          </a:xfrm>
          <a:prstGeom prst="straightConnector1">
            <a:avLst/>
          </a:prstGeom>
          <a:noFill/>
          <a:ln w="19050" cap="flat" cmpd="sng">
            <a:solidFill>
              <a:schemeClr val="accent4"/>
            </a:solidFill>
            <a:prstDash val="dash"/>
            <a:round/>
            <a:headEnd type="none" w="sm" len="sm"/>
            <a:tailEnd type="none" w="sm" len="sm"/>
          </a:ln>
        </p:spPr>
      </p:cxnSp>
      <p:cxnSp>
        <p:nvCxnSpPr>
          <p:cNvPr id="19" name="Google Shape;377;p20">
            <a:extLst>
              <a:ext uri="{FF2B5EF4-FFF2-40B4-BE49-F238E27FC236}">
                <a16:creationId xmlns:a16="http://schemas.microsoft.com/office/drawing/2014/main" id="{CFEE2A10-321E-8A59-DFCE-7282F04D010B}"/>
              </a:ext>
            </a:extLst>
          </p:cNvPr>
          <p:cNvCxnSpPr>
            <a:cxnSpLocks/>
          </p:cNvCxnSpPr>
          <p:nvPr/>
        </p:nvCxnSpPr>
        <p:spPr>
          <a:xfrm>
            <a:off x="7944319" y="2123850"/>
            <a:ext cx="1847381" cy="0"/>
          </a:xfrm>
          <a:prstGeom prst="straightConnector1">
            <a:avLst/>
          </a:prstGeom>
          <a:noFill/>
          <a:ln w="19050" cap="flat" cmpd="sng">
            <a:solidFill>
              <a:schemeClr val="accent4"/>
            </a:solidFill>
            <a:prstDash val="dash"/>
            <a:round/>
            <a:headEnd type="none" w="sm" len="sm"/>
            <a:tailEnd type="none" w="sm" len="sm"/>
          </a:ln>
        </p:spPr>
      </p:cxnSp>
      <p:cxnSp>
        <p:nvCxnSpPr>
          <p:cNvPr id="21" name="Google Shape;377;p20">
            <a:extLst>
              <a:ext uri="{FF2B5EF4-FFF2-40B4-BE49-F238E27FC236}">
                <a16:creationId xmlns:a16="http://schemas.microsoft.com/office/drawing/2014/main" id="{223AE1AC-AAA7-C709-85C0-A5CA5699C7AE}"/>
              </a:ext>
            </a:extLst>
          </p:cNvPr>
          <p:cNvCxnSpPr>
            <a:cxnSpLocks/>
          </p:cNvCxnSpPr>
          <p:nvPr/>
        </p:nvCxnSpPr>
        <p:spPr>
          <a:xfrm>
            <a:off x="7944319" y="6203260"/>
            <a:ext cx="1847381" cy="0"/>
          </a:xfrm>
          <a:prstGeom prst="straightConnector1">
            <a:avLst/>
          </a:prstGeom>
          <a:noFill/>
          <a:ln w="19050" cap="flat" cmpd="sng">
            <a:solidFill>
              <a:schemeClr val="accent4"/>
            </a:solidFill>
            <a:prstDash val="dash"/>
            <a:round/>
            <a:headEnd type="none" w="sm" len="sm"/>
            <a:tailEnd type="none" w="sm" len="sm"/>
          </a:ln>
        </p:spPr>
      </p:cxnSp>
      <p:sp>
        <p:nvSpPr>
          <p:cNvPr id="22" name="TextBox 21">
            <a:extLst>
              <a:ext uri="{FF2B5EF4-FFF2-40B4-BE49-F238E27FC236}">
                <a16:creationId xmlns:a16="http://schemas.microsoft.com/office/drawing/2014/main" id="{69355225-88E7-4845-3377-3ED60CC66677}"/>
              </a:ext>
            </a:extLst>
          </p:cNvPr>
          <p:cNvSpPr txBox="1"/>
          <p:nvPr/>
        </p:nvSpPr>
        <p:spPr>
          <a:xfrm>
            <a:off x="180686" y="6399807"/>
            <a:ext cx="8464550" cy="784830"/>
          </a:xfrm>
          <a:prstGeom prst="rect">
            <a:avLst/>
          </a:prstGeom>
          <a:noFill/>
        </p:spPr>
        <p:txBody>
          <a:bodyPr wrap="square" rtlCol="0">
            <a:spAutoFit/>
          </a:bodyPr>
          <a:lstStyle/>
          <a:p>
            <a:r>
              <a:rPr lang="en-GB" sz="900" dirty="0"/>
              <a:t>Sheikh Khan, D., Kolarik, J., Anker Hviid, C., &amp; Weitzmann, P. (2021). Method for long-term mapping of occupancy patterns in open-plan and single office spaces by using passive-infrared (PIR) sensors mounted below desks. </a:t>
            </a:r>
            <a:r>
              <a:rPr lang="en-GB" sz="900" i="1" dirty="0"/>
              <a:t>Energy and Buildings</a:t>
            </a:r>
            <a:r>
              <a:rPr lang="en-GB" sz="900" dirty="0"/>
              <a:t>, </a:t>
            </a:r>
            <a:r>
              <a:rPr lang="en-GB" sz="900" i="1" dirty="0"/>
              <a:t>230</a:t>
            </a:r>
            <a:r>
              <a:rPr lang="en-GB" sz="900" dirty="0"/>
              <a:t>, 110534. https://</a:t>
            </a:r>
            <a:r>
              <a:rPr lang="en-GB" sz="900" dirty="0" err="1"/>
              <a:t>doi.org</a:t>
            </a:r>
            <a:r>
              <a:rPr lang="en-GB" sz="900" dirty="0"/>
              <a:t>/10.1016/j.enbuild.2020.110534 </a:t>
            </a:r>
          </a:p>
          <a:p>
            <a:endParaRPr lang="en-GB" sz="900" dirty="0"/>
          </a:p>
          <a:p>
            <a:endParaRPr lang="en-IT" dirty="0"/>
          </a:p>
        </p:txBody>
      </p:sp>
      <p:graphicFrame>
        <p:nvGraphicFramePr>
          <p:cNvPr id="25" name="Table 24">
            <a:extLst>
              <a:ext uri="{FF2B5EF4-FFF2-40B4-BE49-F238E27FC236}">
                <a16:creationId xmlns:a16="http://schemas.microsoft.com/office/drawing/2014/main" id="{E149471F-F255-13B6-C493-CC52005D153D}"/>
              </a:ext>
            </a:extLst>
          </p:cNvPr>
          <p:cNvGraphicFramePr>
            <a:graphicFrameLocks noGrp="1"/>
          </p:cNvGraphicFramePr>
          <p:nvPr>
            <p:extLst>
              <p:ext uri="{D42A27DB-BD31-4B8C-83A1-F6EECF244321}">
                <p14:modId xmlns:p14="http://schemas.microsoft.com/office/powerpoint/2010/main" val="4273051522"/>
              </p:ext>
            </p:extLst>
          </p:nvPr>
        </p:nvGraphicFramePr>
        <p:xfrm>
          <a:off x="660298" y="5011791"/>
          <a:ext cx="6338692" cy="1121881"/>
        </p:xfrm>
        <a:graphic>
          <a:graphicData uri="http://schemas.openxmlformats.org/drawingml/2006/table">
            <a:tbl>
              <a:tblPr/>
              <a:tblGrid>
                <a:gridCol w="1037487">
                  <a:extLst>
                    <a:ext uri="{9D8B030D-6E8A-4147-A177-3AD203B41FA5}">
                      <a16:colId xmlns:a16="http://schemas.microsoft.com/office/drawing/2014/main" val="1819267298"/>
                    </a:ext>
                  </a:extLst>
                </a:gridCol>
                <a:gridCol w="1180618">
                  <a:extLst>
                    <a:ext uri="{9D8B030D-6E8A-4147-A177-3AD203B41FA5}">
                      <a16:colId xmlns:a16="http://schemas.microsoft.com/office/drawing/2014/main" val="3538801824"/>
                    </a:ext>
                  </a:extLst>
                </a:gridCol>
                <a:gridCol w="810227">
                  <a:extLst>
                    <a:ext uri="{9D8B030D-6E8A-4147-A177-3AD203B41FA5}">
                      <a16:colId xmlns:a16="http://schemas.microsoft.com/office/drawing/2014/main" val="3131550666"/>
                    </a:ext>
                  </a:extLst>
                </a:gridCol>
                <a:gridCol w="1817226">
                  <a:extLst>
                    <a:ext uri="{9D8B030D-6E8A-4147-A177-3AD203B41FA5}">
                      <a16:colId xmlns:a16="http://schemas.microsoft.com/office/drawing/2014/main" val="1153944553"/>
                    </a:ext>
                  </a:extLst>
                </a:gridCol>
                <a:gridCol w="1493134">
                  <a:extLst>
                    <a:ext uri="{9D8B030D-6E8A-4147-A177-3AD203B41FA5}">
                      <a16:colId xmlns:a16="http://schemas.microsoft.com/office/drawing/2014/main" val="1630417555"/>
                    </a:ext>
                  </a:extLst>
                </a:gridCol>
              </a:tblGrid>
              <a:tr h="283681">
                <a:tc>
                  <a:txBody>
                    <a:bodyPr/>
                    <a:lstStyle/>
                    <a:p>
                      <a:pPr algn="ctr" rtl="0" fontAlgn="t">
                        <a:buNone/>
                      </a:pPr>
                      <a:r>
                        <a:rPr lang="en-GB" sz="1000" b="1" i="0" u="none" strike="noStrike" dirty="0">
                          <a:solidFill>
                            <a:schemeClr val="bg2">
                              <a:lumMod val="50000"/>
                            </a:schemeClr>
                          </a:solidFill>
                          <a:effectLst/>
                          <a:latin typeface="Aptos" panose="020B0004020202020204" pitchFamily="34" charset="0"/>
                        </a:rPr>
                        <a:t>Room Name</a:t>
                      </a:r>
                      <a:endParaRPr lang="en-GB" sz="1000" dirty="0">
                        <a:solidFill>
                          <a:schemeClr val="bg2">
                            <a:lumMod val="50000"/>
                          </a:schemeClr>
                        </a:solidFill>
                        <a:effectLst/>
                        <a:latin typeface="Aptos" panose="020B0004020202020204" pitchFamily="34" charset="0"/>
                      </a:endParaRPr>
                    </a:p>
                  </a:txBody>
                  <a:tcPr marL="63500" marR="63500" marT="63500" marB="63500">
                    <a:lnL w="12700" cap="flat" cmpd="sng" algn="ctr">
                      <a:solidFill>
                        <a:schemeClr val="bg2">
                          <a:lumMod val="75000"/>
                        </a:schemeClr>
                      </a:solidFill>
                      <a:prstDash val="dash"/>
                      <a:round/>
                      <a:headEnd type="none" w="med" len="med"/>
                      <a:tailEnd type="none" w="med" len="med"/>
                    </a:lnL>
                    <a:lnR>
                      <a:noFill/>
                    </a:lnR>
                    <a:lnT w="12700" cap="flat" cmpd="sng" algn="ctr">
                      <a:solidFill>
                        <a:schemeClr val="bg2">
                          <a:lumMod val="75000"/>
                        </a:schemeClr>
                      </a:solidFill>
                      <a:prstDash val="dash"/>
                      <a:round/>
                      <a:headEnd type="none" w="med" len="med"/>
                      <a:tailEnd type="none" w="med" len="med"/>
                    </a:lnT>
                    <a:lnB w="12700" cap="flat" cmpd="sng" algn="ctr">
                      <a:solidFill>
                        <a:schemeClr val="bg2">
                          <a:lumMod val="75000"/>
                        </a:schemeClr>
                      </a:solidFill>
                      <a:prstDash val="dash"/>
                      <a:round/>
                      <a:headEnd type="none" w="med" len="med"/>
                      <a:tailEnd type="none" w="med" len="med"/>
                    </a:lnB>
                    <a:noFill/>
                  </a:tcPr>
                </a:tc>
                <a:tc>
                  <a:txBody>
                    <a:bodyPr/>
                    <a:lstStyle/>
                    <a:p>
                      <a:pPr algn="ctr" rtl="0" fontAlgn="t">
                        <a:buNone/>
                      </a:pPr>
                      <a:r>
                        <a:rPr lang="en-GB" sz="1000" b="1" i="0" u="none" strike="noStrike">
                          <a:solidFill>
                            <a:schemeClr val="bg2">
                              <a:lumMod val="50000"/>
                            </a:schemeClr>
                          </a:solidFill>
                          <a:effectLst/>
                          <a:latin typeface="Aptos" panose="020B0004020202020204" pitchFamily="34" charset="0"/>
                        </a:rPr>
                        <a:t>Typology</a:t>
                      </a:r>
                      <a:endParaRPr lang="en-GB" sz="1000">
                        <a:solidFill>
                          <a:schemeClr val="bg2">
                            <a:lumMod val="50000"/>
                          </a:schemeClr>
                        </a:solidFill>
                        <a:effectLst/>
                        <a:latin typeface="Aptos" panose="020B0004020202020204" pitchFamily="34" charset="0"/>
                      </a:endParaRPr>
                    </a:p>
                  </a:txBody>
                  <a:tcPr marL="63500" marR="63500" marT="63500" marB="63500">
                    <a:lnL>
                      <a:noFill/>
                    </a:lnL>
                    <a:lnR>
                      <a:noFill/>
                    </a:lnR>
                    <a:lnT w="12700" cap="flat" cmpd="sng" algn="ctr">
                      <a:solidFill>
                        <a:schemeClr val="bg2">
                          <a:lumMod val="75000"/>
                        </a:schemeClr>
                      </a:solidFill>
                      <a:prstDash val="dash"/>
                      <a:round/>
                      <a:headEnd type="none" w="med" len="med"/>
                      <a:tailEnd type="none" w="med" len="med"/>
                    </a:lnT>
                    <a:lnB w="12700" cap="flat" cmpd="sng" algn="ctr">
                      <a:solidFill>
                        <a:schemeClr val="bg2">
                          <a:lumMod val="75000"/>
                        </a:schemeClr>
                      </a:solidFill>
                      <a:prstDash val="dash"/>
                      <a:round/>
                      <a:headEnd type="none" w="med" len="med"/>
                      <a:tailEnd type="none" w="med" len="med"/>
                    </a:lnB>
                    <a:noFill/>
                  </a:tcPr>
                </a:tc>
                <a:tc>
                  <a:txBody>
                    <a:bodyPr/>
                    <a:lstStyle/>
                    <a:p>
                      <a:pPr algn="ctr" rtl="0" fontAlgn="t">
                        <a:buNone/>
                      </a:pPr>
                      <a:r>
                        <a:rPr lang="en-GB" sz="1000" b="1" i="0" u="none" strike="noStrike">
                          <a:solidFill>
                            <a:schemeClr val="bg2">
                              <a:lumMod val="50000"/>
                            </a:schemeClr>
                          </a:solidFill>
                          <a:effectLst/>
                          <a:latin typeface="Aptos" panose="020B0004020202020204" pitchFamily="34" charset="0"/>
                        </a:rPr>
                        <a:t>Volume</a:t>
                      </a:r>
                      <a:endParaRPr lang="en-GB" sz="1000">
                        <a:solidFill>
                          <a:schemeClr val="bg2">
                            <a:lumMod val="50000"/>
                          </a:schemeClr>
                        </a:solidFill>
                        <a:effectLst/>
                        <a:latin typeface="Aptos" panose="020B0004020202020204" pitchFamily="34" charset="0"/>
                      </a:endParaRPr>
                    </a:p>
                  </a:txBody>
                  <a:tcPr marL="63500" marR="63500" marT="63500" marB="63500">
                    <a:lnL>
                      <a:noFill/>
                    </a:lnL>
                    <a:lnR>
                      <a:noFill/>
                    </a:lnR>
                    <a:lnT w="12700" cap="flat" cmpd="sng" algn="ctr">
                      <a:solidFill>
                        <a:schemeClr val="bg2">
                          <a:lumMod val="75000"/>
                        </a:schemeClr>
                      </a:solidFill>
                      <a:prstDash val="dash"/>
                      <a:round/>
                      <a:headEnd type="none" w="med" len="med"/>
                      <a:tailEnd type="none" w="med" len="med"/>
                    </a:lnT>
                    <a:lnB w="12700" cap="flat" cmpd="sng" algn="ctr">
                      <a:solidFill>
                        <a:schemeClr val="bg2">
                          <a:lumMod val="75000"/>
                        </a:schemeClr>
                      </a:solidFill>
                      <a:prstDash val="dash"/>
                      <a:round/>
                      <a:headEnd type="none" w="med" len="med"/>
                      <a:tailEnd type="none" w="med" len="med"/>
                    </a:lnB>
                    <a:noFill/>
                  </a:tcPr>
                </a:tc>
                <a:tc>
                  <a:txBody>
                    <a:bodyPr/>
                    <a:lstStyle/>
                    <a:p>
                      <a:pPr algn="ctr" rtl="0" fontAlgn="t">
                        <a:buNone/>
                      </a:pPr>
                      <a:r>
                        <a:rPr lang="en-GB" sz="1000" b="1" i="0" u="none" strike="noStrike" dirty="0">
                          <a:solidFill>
                            <a:schemeClr val="bg2">
                              <a:lumMod val="50000"/>
                            </a:schemeClr>
                          </a:solidFill>
                          <a:effectLst/>
                          <a:latin typeface="Aptos" panose="020B0004020202020204" pitchFamily="34" charset="0"/>
                        </a:rPr>
                        <a:t>Function</a:t>
                      </a:r>
                      <a:endParaRPr lang="en-GB" sz="1000" dirty="0">
                        <a:solidFill>
                          <a:schemeClr val="bg2">
                            <a:lumMod val="50000"/>
                          </a:schemeClr>
                        </a:solidFill>
                        <a:effectLst/>
                        <a:latin typeface="Aptos" panose="020B0004020202020204" pitchFamily="34" charset="0"/>
                      </a:endParaRPr>
                    </a:p>
                  </a:txBody>
                  <a:tcPr marL="63500" marR="63500" marT="63500" marB="63500">
                    <a:lnL>
                      <a:noFill/>
                    </a:lnL>
                    <a:lnR>
                      <a:noFill/>
                    </a:lnR>
                    <a:lnT w="12700" cap="flat" cmpd="sng" algn="ctr">
                      <a:solidFill>
                        <a:schemeClr val="bg2">
                          <a:lumMod val="75000"/>
                        </a:schemeClr>
                      </a:solidFill>
                      <a:prstDash val="dash"/>
                      <a:round/>
                      <a:headEnd type="none" w="med" len="med"/>
                      <a:tailEnd type="none" w="med" len="med"/>
                    </a:lnT>
                    <a:lnB w="12700" cap="flat" cmpd="sng" algn="ctr">
                      <a:solidFill>
                        <a:schemeClr val="bg2">
                          <a:lumMod val="75000"/>
                        </a:schemeClr>
                      </a:solidFill>
                      <a:prstDash val="dash"/>
                      <a:round/>
                      <a:headEnd type="none" w="med" len="med"/>
                      <a:tailEnd type="none" w="med" len="med"/>
                    </a:lnB>
                    <a:noFill/>
                  </a:tcPr>
                </a:tc>
                <a:tc>
                  <a:txBody>
                    <a:bodyPr/>
                    <a:lstStyle/>
                    <a:p>
                      <a:pPr algn="ctr" rtl="0" fontAlgn="t">
                        <a:buNone/>
                      </a:pPr>
                      <a:r>
                        <a:rPr lang="en-GB" sz="1000" b="1" i="0" u="none" strike="noStrike" dirty="0">
                          <a:solidFill>
                            <a:schemeClr val="bg2">
                              <a:lumMod val="50000"/>
                            </a:schemeClr>
                          </a:solidFill>
                          <a:effectLst/>
                          <a:latin typeface="Aptos" panose="020B0004020202020204" pitchFamily="34" charset="0"/>
                        </a:rPr>
                        <a:t>Expected Use Pattern</a:t>
                      </a:r>
                      <a:endParaRPr lang="en-GB" sz="1000" dirty="0">
                        <a:solidFill>
                          <a:schemeClr val="bg2">
                            <a:lumMod val="50000"/>
                          </a:schemeClr>
                        </a:solidFill>
                        <a:effectLst/>
                        <a:latin typeface="Aptos" panose="020B0004020202020204" pitchFamily="34" charset="0"/>
                      </a:endParaRPr>
                    </a:p>
                  </a:txBody>
                  <a:tcPr marL="63500" marR="63500" marT="63500" marB="63500">
                    <a:lnL>
                      <a:noFill/>
                    </a:lnL>
                    <a:lnR w="12700" cap="flat" cmpd="sng" algn="ctr">
                      <a:solidFill>
                        <a:schemeClr val="bg2">
                          <a:lumMod val="75000"/>
                        </a:schemeClr>
                      </a:solidFill>
                      <a:prstDash val="dash"/>
                      <a:round/>
                      <a:headEnd type="none" w="med" len="med"/>
                      <a:tailEnd type="none" w="med" len="med"/>
                    </a:lnR>
                    <a:lnT w="12700" cap="flat" cmpd="sng" algn="ctr">
                      <a:solidFill>
                        <a:schemeClr val="bg2">
                          <a:lumMod val="75000"/>
                        </a:schemeClr>
                      </a:solidFill>
                      <a:prstDash val="dash"/>
                      <a:round/>
                      <a:headEnd type="none" w="med" len="med"/>
                      <a:tailEnd type="none" w="med" len="med"/>
                    </a:lnT>
                    <a:lnB w="12700" cap="flat" cmpd="sng" algn="ctr">
                      <a:solidFill>
                        <a:schemeClr val="bg2">
                          <a:lumMod val="75000"/>
                        </a:schemeClr>
                      </a:solidFill>
                      <a:prstDash val="dash"/>
                      <a:round/>
                      <a:headEnd type="none" w="med" len="med"/>
                      <a:tailEnd type="none" w="med" len="med"/>
                    </a:lnB>
                    <a:noFill/>
                  </a:tcPr>
                </a:tc>
                <a:extLst>
                  <a:ext uri="{0D108BD9-81ED-4DB2-BD59-A6C34878D82A}">
                    <a16:rowId xmlns:a16="http://schemas.microsoft.com/office/drawing/2014/main" val="3239682627"/>
                  </a:ext>
                </a:extLst>
              </a:tr>
              <a:tr h="272744">
                <a:tc>
                  <a:txBody>
                    <a:bodyPr/>
                    <a:lstStyle/>
                    <a:p>
                      <a:pPr algn="just" rtl="0" fontAlgn="t">
                        <a:buNone/>
                      </a:pPr>
                      <a:r>
                        <a:rPr lang="en-GB" sz="1000" b="0" i="0" u="none" strike="noStrike" dirty="0">
                          <a:solidFill>
                            <a:schemeClr val="tx2">
                              <a:lumMod val="50000"/>
                              <a:lumOff val="50000"/>
                            </a:schemeClr>
                          </a:solidFill>
                          <a:effectLst/>
                          <a:latin typeface="Aptos" panose="020B0004020202020204" pitchFamily="34" charset="0"/>
                        </a:rPr>
                        <a:t>Celsius</a:t>
                      </a:r>
                      <a:endParaRPr lang="en-GB" sz="1000" b="0" dirty="0">
                        <a:solidFill>
                          <a:schemeClr val="tx2">
                            <a:lumMod val="50000"/>
                            <a:lumOff val="50000"/>
                          </a:schemeClr>
                        </a:solidFill>
                        <a:effectLst/>
                        <a:latin typeface="Aptos" panose="020B0004020202020204" pitchFamily="34" charset="0"/>
                      </a:endParaRPr>
                    </a:p>
                  </a:txBody>
                  <a:tcPr marL="63500" marR="63500" marT="63500" marB="63500">
                    <a:lnL w="12700" cap="flat" cmpd="sng" algn="ctr">
                      <a:solidFill>
                        <a:schemeClr val="bg2">
                          <a:lumMod val="75000"/>
                        </a:schemeClr>
                      </a:solidFill>
                      <a:prstDash val="dash"/>
                      <a:round/>
                      <a:headEnd type="none" w="med" len="med"/>
                      <a:tailEnd type="none" w="med" len="med"/>
                    </a:lnL>
                    <a:lnR>
                      <a:noFill/>
                    </a:lnR>
                    <a:lnT w="12700" cap="flat" cmpd="sng" algn="ctr">
                      <a:solidFill>
                        <a:schemeClr val="bg2">
                          <a:lumMod val="75000"/>
                        </a:schemeClr>
                      </a:solidFill>
                      <a:prstDash val="dash"/>
                      <a:round/>
                      <a:headEnd type="none" w="med" len="med"/>
                      <a:tailEnd type="none" w="med" len="med"/>
                    </a:lnT>
                    <a:lnB>
                      <a:noFill/>
                    </a:lnB>
                    <a:noFill/>
                  </a:tcPr>
                </a:tc>
                <a:tc>
                  <a:txBody>
                    <a:bodyPr/>
                    <a:lstStyle/>
                    <a:p>
                      <a:pPr algn="ctr" rtl="0" fontAlgn="t">
                        <a:buNone/>
                      </a:pPr>
                      <a:r>
                        <a:rPr lang="en-GB" sz="1000" b="0" i="0" u="none" strike="noStrike" dirty="0">
                          <a:solidFill>
                            <a:schemeClr val="bg2">
                              <a:lumMod val="50000"/>
                            </a:schemeClr>
                          </a:solidFill>
                          <a:effectLst/>
                          <a:latin typeface="Aptos" panose="020B0004020202020204" pitchFamily="34" charset="0"/>
                        </a:rPr>
                        <a:t>Tiny meeting</a:t>
                      </a:r>
                      <a:endParaRPr lang="en-GB" sz="1000" dirty="0">
                        <a:solidFill>
                          <a:schemeClr val="bg2">
                            <a:lumMod val="50000"/>
                          </a:schemeClr>
                        </a:solidFill>
                        <a:effectLst/>
                        <a:latin typeface="Aptos" panose="020B0004020202020204" pitchFamily="34" charset="0"/>
                      </a:endParaRPr>
                    </a:p>
                  </a:txBody>
                  <a:tcPr marL="63500" marR="63500" marT="63500" marB="63500">
                    <a:lnL>
                      <a:noFill/>
                    </a:lnL>
                    <a:lnR>
                      <a:noFill/>
                    </a:lnR>
                    <a:lnT w="12700" cap="flat" cmpd="sng" algn="ctr">
                      <a:solidFill>
                        <a:schemeClr val="bg2">
                          <a:lumMod val="75000"/>
                        </a:schemeClr>
                      </a:solidFill>
                      <a:prstDash val="dash"/>
                      <a:round/>
                      <a:headEnd type="none" w="med" len="med"/>
                      <a:tailEnd type="none" w="med" len="med"/>
                    </a:lnT>
                    <a:lnB>
                      <a:noFill/>
                    </a:lnB>
                    <a:noFill/>
                  </a:tcPr>
                </a:tc>
                <a:tc>
                  <a:txBody>
                    <a:bodyPr/>
                    <a:lstStyle/>
                    <a:p>
                      <a:pPr algn="ctr" rtl="0" fontAlgn="t">
                        <a:buNone/>
                      </a:pPr>
                      <a:r>
                        <a:rPr lang="en-GB" sz="1000" b="0" i="0" u="none" strike="noStrike" dirty="0">
                          <a:solidFill>
                            <a:schemeClr val="bg2">
                              <a:lumMod val="50000"/>
                            </a:schemeClr>
                          </a:solidFill>
                          <a:effectLst/>
                          <a:latin typeface="Aptos" panose="020B0004020202020204" pitchFamily="34" charset="0"/>
                        </a:rPr>
                        <a:t>Small</a:t>
                      </a:r>
                      <a:endParaRPr lang="en-GB" sz="1000" dirty="0">
                        <a:solidFill>
                          <a:schemeClr val="bg2">
                            <a:lumMod val="50000"/>
                          </a:schemeClr>
                        </a:solidFill>
                        <a:effectLst/>
                        <a:latin typeface="Aptos" panose="020B0004020202020204" pitchFamily="34" charset="0"/>
                      </a:endParaRPr>
                    </a:p>
                  </a:txBody>
                  <a:tcPr marL="63500" marR="63500" marT="63500" marB="63500">
                    <a:lnL>
                      <a:noFill/>
                    </a:lnL>
                    <a:lnR>
                      <a:noFill/>
                    </a:lnR>
                    <a:lnT w="12700" cap="flat" cmpd="sng" algn="ctr">
                      <a:solidFill>
                        <a:schemeClr val="bg2">
                          <a:lumMod val="75000"/>
                        </a:schemeClr>
                      </a:solidFill>
                      <a:prstDash val="dash"/>
                      <a:round/>
                      <a:headEnd type="none" w="med" len="med"/>
                      <a:tailEnd type="none" w="med" len="med"/>
                    </a:lnT>
                    <a:lnB>
                      <a:noFill/>
                    </a:lnB>
                    <a:noFill/>
                  </a:tcPr>
                </a:tc>
                <a:tc>
                  <a:txBody>
                    <a:bodyPr/>
                    <a:lstStyle/>
                    <a:p>
                      <a:pPr algn="ctr" rtl="0" fontAlgn="t">
                        <a:buNone/>
                      </a:pPr>
                      <a:r>
                        <a:rPr lang="en-GB" sz="1000" b="0" i="0" u="none" strike="noStrike" dirty="0">
                          <a:solidFill>
                            <a:schemeClr val="bg2">
                              <a:lumMod val="50000"/>
                            </a:schemeClr>
                          </a:solidFill>
                          <a:effectLst/>
                          <a:latin typeface="Aptos" panose="020B0004020202020204" pitchFamily="34" charset="0"/>
                        </a:rPr>
                        <a:t>1–4 people, short meetings</a:t>
                      </a:r>
                      <a:endParaRPr lang="en-GB" sz="1000" dirty="0">
                        <a:solidFill>
                          <a:schemeClr val="bg2">
                            <a:lumMod val="50000"/>
                          </a:schemeClr>
                        </a:solidFill>
                        <a:effectLst/>
                        <a:latin typeface="Aptos" panose="020B0004020202020204" pitchFamily="34" charset="0"/>
                      </a:endParaRPr>
                    </a:p>
                  </a:txBody>
                  <a:tcPr marL="63500" marR="63500" marT="63500" marB="63500">
                    <a:lnL>
                      <a:noFill/>
                    </a:lnL>
                    <a:lnR>
                      <a:noFill/>
                    </a:lnR>
                    <a:lnT w="12700" cap="flat" cmpd="sng" algn="ctr">
                      <a:solidFill>
                        <a:schemeClr val="bg2">
                          <a:lumMod val="75000"/>
                        </a:schemeClr>
                      </a:solidFill>
                      <a:prstDash val="dash"/>
                      <a:round/>
                      <a:headEnd type="none" w="med" len="med"/>
                      <a:tailEnd type="none" w="med" len="med"/>
                    </a:lnT>
                    <a:lnB>
                      <a:noFill/>
                    </a:lnB>
                    <a:noFill/>
                  </a:tcPr>
                </a:tc>
                <a:tc>
                  <a:txBody>
                    <a:bodyPr/>
                    <a:lstStyle/>
                    <a:p>
                      <a:pPr algn="ctr" rtl="0" fontAlgn="t">
                        <a:buNone/>
                      </a:pPr>
                      <a:r>
                        <a:rPr lang="en-GB" sz="1000" b="0" i="0" u="none" strike="noStrike" dirty="0">
                          <a:solidFill>
                            <a:schemeClr val="bg2">
                              <a:lumMod val="50000"/>
                            </a:schemeClr>
                          </a:solidFill>
                          <a:effectLst/>
                          <a:latin typeface="Aptos" panose="020B0004020202020204" pitchFamily="34" charset="0"/>
                        </a:rPr>
                        <a:t>Irregular</a:t>
                      </a:r>
                      <a:endParaRPr lang="en-GB" sz="1000" dirty="0">
                        <a:solidFill>
                          <a:schemeClr val="bg2">
                            <a:lumMod val="50000"/>
                          </a:schemeClr>
                        </a:solidFill>
                        <a:effectLst/>
                        <a:latin typeface="Aptos" panose="020B0004020202020204" pitchFamily="34" charset="0"/>
                      </a:endParaRPr>
                    </a:p>
                  </a:txBody>
                  <a:tcPr marL="63500" marR="63500" marT="63500" marB="63500">
                    <a:lnL>
                      <a:noFill/>
                    </a:lnL>
                    <a:lnR w="12700" cap="flat" cmpd="sng" algn="ctr">
                      <a:solidFill>
                        <a:schemeClr val="bg2">
                          <a:lumMod val="75000"/>
                        </a:schemeClr>
                      </a:solidFill>
                      <a:prstDash val="dash"/>
                      <a:round/>
                      <a:headEnd type="none" w="med" len="med"/>
                      <a:tailEnd type="none" w="med" len="med"/>
                    </a:lnR>
                    <a:lnT w="12700" cap="flat" cmpd="sng" algn="ctr">
                      <a:solidFill>
                        <a:schemeClr val="bg2">
                          <a:lumMod val="75000"/>
                        </a:schemeClr>
                      </a:solidFill>
                      <a:prstDash val="dash"/>
                      <a:round/>
                      <a:headEnd type="none" w="med" len="med"/>
                      <a:tailEnd type="none" w="med" len="med"/>
                    </a:lnT>
                    <a:lnB>
                      <a:noFill/>
                    </a:lnB>
                    <a:noFill/>
                  </a:tcPr>
                </a:tc>
                <a:extLst>
                  <a:ext uri="{0D108BD9-81ED-4DB2-BD59-A6C34878D82A}">
                    <a16:rowId xmlns:a16="http://schemas.microsoft.com/office/drawing/2014/main" val="3855422321"/>
                  </a:ext>
                </a:extLst>
              </a:tr>
              <a:tr h="255541">
                <a:tc>
                  <a:txBody>
                    <a:bodyPr/>
                    <a:lstStyle/>
                    <a:p>
                      <a:pPr algn="just" rtl="0" fontAlgn="t">
                        <a:buNone/>
                      </a:pPr>
                      <a:r>
                        <a:rPr lang="en-GB" sz="1000" b="0" i="0" u="none" strike="noStrike">
                          <a:solidFill>
                            <a:schemeClr val="tx2">
                              <a:lumMod val="50000"/>
                              <a:lumOff val="50000"/>
                            </a:schemeClr>
                          </a:solidFill>
                          <a:effectLst/>
                          <a:latin typeface="Aptos" panose="020B0004020202020204" pitchFamily="34" charset="0"/>
                        </a:rPr>
                        <a:t>Tesla</a:t>
                      </a:r>
                      <a:endParaRPr lang="en-GB" sz="1000" b="0">
                        <a:solidFill>
                          <a:schemeClr val="tx2">
                            <a:lumMod val="50000"/>
                            <a:lumOff val="50000"/>
                          </a:schemeClr>
                        </a:solidFill>
                        <a:effectLst/>
                        <a:latin typeface="Aptos" panose="020B0004020202020204" pitchFamily="34" charset="0"/>
                      </a:endParaRPr>
                    </a:p>
                  </a:txBody>
                  <a:tcPr marL="63500" marR="63500" marT="63500" marB="63500">
                    <a:lnL w="12700" cap="flat" cmpd="sng" algn="ctr">
                      <a:solidFill>
                        <a:schemeClr val="bg2">
                          <a:lumMod val="75000"/>
                        </a:schemeClr>
                      </a:solidFill>
                      <a:prstDash val="dash"/>
                      <a:round/>
                      <a:headEnd type="none" w="med" len="med"/>
                      <a:tailEnd type="none" w="med" len="med"/>
                    </a:lnL>
                    <a:lnR>
                      <a:noFill/>
                    </a:lnR>
                    <a:lnT>
                      <a:noFill/>
                    </a:lnT>
                    <a:lnB>
                      <a:noFill/>
                    </a:lnB>
                    <a:noFill/>
                  </a:tcPr>
                </a:tc>
                <a:tc>
                  <a:txBody>
                    <a:bodyPr/>
                    <a:lstStyle/>
                    <a:p>
                      <a:pPr algn="ctr" rtl="0" fontAlgn="t">
                        <a:buNone/>
                      </a:pPr>
                      <a:r>
                        <a:rPr lang="en-GB" sz="1000" b="0" i="0" u="none" strike="noStrike" dirty="0">
                          <a:solidFill>
                            <a:schemeClr val="bg2">
                              <a:lumMod val="50000"/>
                            </a:schemeClr>
                          </a:solidFill>
                          <a:effectLst/>
                          <a:latin typeface="Aptos" panose="020B0004020202020204" pitchFamily="34" charset="0"/>
                        </a:rPr>
                        <a:t>Circular meeting</a:t>
                      </a:r>
                      <a:endParaRPr lang="en-GB" sz="1000" dirty="0">
                        <a:solidFill>
                          <a:schemeClr val="bg2">
                            <a:lumMod val="50000"/>
                          </a:schemeClr>
                        </a:solidFill>
                        <a:effectLst/>
                        <a:latin typeface="Aptos" panose="020B0004020202020204" pitchFamily="34" charset="0"/>
                      </a:endParaRPr>
                    </a:p>
                  </a:txBody>
                  <a:tcPr marL="63500" marR="63500" marT="63500" marB="63500">
                    <a:lnL>
                      <a:noFill/>
                    </a:lnL>
                    <a:lnR>
                      <a:noFill/>
                    </a:lnR>
                    <a:lnT>
                      <a:noFill/>
                    </a:lnT>
                    <a:lnB>
                      <a:noFill/>
                    </a:lnB>
                    <a:noFill/>
                  </a:tcPr>
                </a:tc>
                <a:tc>
                  <a:txBody>
                    <a:bodyPr/>
                    <a:lstStyle/>
                    <a:p>
                      <a:pPr algn="ctr" rtl="0" fontAlgn="t">
                        <a:buNone/>
                      </a:pPr>
                      <a:r>
                        <a:rPr lang="en-GB" sz="1000" b="0" i="0" u="none" strike="noStrike">
                          <a:solidFill>
                            <a:schemeClr val="bg2">
                              <a:lumMod val="50000"/>
                            </a:schemeClr>
                          </a:solidFill>
                          <a:effectLst/>
                          <a:latin typeface="Aptos" panose="020B0004020202020204" pitchFamily="34" charset="0"/>
                        </a:rPr>
                        <a:t>Medium</a:t>
                      </a:r>
                      <a:endParaRPr lang="en-GB" sz="1000">
                        <a:solidFill>
                          <a:schemeClr val="bg2">
                            <a:lumMod val="50000"/>
                          </a:schemeClr>
                        </a:solidFill>
                        <a:effectLst/>
                        <a:latin typeface="Aptos" panose="020B0004020202020204" pitchFamily="34" charset="0"/>
                      </a:endParaRPr>
                    </a:p>
                  </a:txBody>
                  <a:tcPr marL="63500" marR="63500" marT="63500" marB="63500">
                    <a:lnL>
                      <a:noFill/>
                    </a:lnL>
                    <a:lnR>
                      <a:noFill/>
                    </a:lnR>
                    <a:lnT>
                      <a:noFill/>
                    </a:lnT>
                    <a:lnB>
                      <a:noFill/>
                    </a:lnB>
                    <a:noFill/>
                  </a:tcPr>
                </a:tc>
                <a:tc>
                  <a:txBody>
                    <a:bodyPr/>
                    <a:lstStyle/>
                    <a:p>
                      <a:pPr algn="ctr" rtl="0" fontAlgn="t">
                        <a:buNone/>
                      </a:pPr>
                      <a:r>
                        <a:rPr lang="en-GB" sz="1000" b="0" i="0" u="none" strike="noStrike" dirty="0">
                          <a:solidFill>
                            <a:schemeClr val="bg2">
                              <a:lumMod val="50000"/>
                            </a:schemeClr>
                          </a:solidFill>
                          <a:effectLst/>
                          <a:latin typeface="Aptos" panose="020B0004020202020204" pitchFamily="34" charset="0"/>
                        </a:rPr>
                        <a:t>Group sessions</a:t>
                      </a:r>
                      <a:endParaRPr lang="en-GB" sz="1000" dirty="0">
                        <a:solidFill>
                          <a:schemeClr val="bg2">
                            <a:lumMod val="50000"/>
                          </a:schemeClr>
                        </a:solidFill>
                        <a:effectLst/>
                        <a:latin typeface="Aptos" panose="020B0004020202020204" pitchFamily="34" charset="0"/>
                      </a:endParaRPr>
                    </a:p>
                  </a:txBody>
                  <a:tcPr marL="63500" marR="63500" marT="63500" marB="63500">
                    <a:lnL>
                      <a:noFill/>
                    </a:lnL>
                    <a:lnR>
                      <a:noFill/>
                    </a:lnR>
                    <a:lnT>
                      <a:noFill/>
                    </a:lnT>
                    <a:lnB>
                      <a:noFill/>
                    </a:lnB>
                    <a:noFill/>
                  </a:tcPr>
                </a:tc>
                <a:tc>
                  <a:txBody>
                    <a:bodyPr/>
                    <a:lstStyle/>
                    <a:p>
                      <a:pPr algn="ctr" rtl="0" fontAlgn="t">
                        <a:buNone/>
                      </a:pPr>
                      <a:r>
                        <a:rPr lang="en-GB" sz="1000" b="0" i="0" u="none" strike="noStrike" dirty="0">
                          <a:solidFill>
                            <a:schemeClr val="bg2">
                              <a:lumMod val="50000"/>
                            </a:schemeClr>
                          </a:solidFill>
                          <a:effectLst/>
                          <a:latin typeface="Aptos" panose="020B0004020202020204" pitchFamily="34" charset="0"/>
                        </a:rPr>
                        <a:t>Ad hoc</a:t>
                      </a:r>
                      <a:endParaRPr lang="en-GB" sz="1000" dirty="0">
                        <a:solidFill>
                          <a:schemeClr val="bg2">
                            <a:lumMod val="50000"/>
                          </a:schemeClr>
                        </a:solidFill>
                        <a:effectLst/>
                        <a:latin typeface="Aptos" panose="020B0004020202020204" pitchFamily="34" charset="0"/>
                      </a:endParaRPr>
                    </a:p>
                  </a:txBody>
                  <a:tcPr marL="63500" marR="63500" marT="63500" marB="63500">
                    <a:lnL>
                      <a:noFill/>
                    </a:lnL>
                    <a:lnR w="12700" cap="flat" cmpd="sng" algn="ctr">
                      <a:solidFill>
                        <a:schemeClr val="bg2">
                          <a:lumMod val="75000"/>
                        </a:schemeClr>
                      </a:solidFill>
                      <a:prstDash val="dash"/>
                      <a:round/>
                      <a:headEnd type="none" w="med" len="med"/>
                      <a:tailEnd type="none" w="med" len="med"/>
                    </a:lnR>
                    <a:lnT>
                      <a:noFill/>
                    </a:lnT>
                    <a:lnB>
                      <a:noFill/>
                    </a:lnB>
                    <a:noFill/>
                  </a:tcPr>
                </a:tc>
                <a:extLst>
                  <a:ext uri="{0D108BD9-81ED-4DB2-BD59-A6C34878D82A}">
                    <a16:rowId xmlns:a16="http://schemas.microsoft.com/office/drawing/2014/main" val="36523019"/>
                  </a:ext>
                </a:extLst>
              </a:tr>
              <a:tr h="272744">
                <a:tc>
                  <a:txBody>
                    <a:bodyPr/>
                    <a:lstStyle/>
                    <a:p>
                      <a:pPr algn="just" rtl="0" fontAlgn="t">
                        <a:buNone/>
                      </a:pPr>
                      <a:r>
                        <a:rPr lang="en-GB" sz="1000" b="0" i="0" u="none" strike="noStrike" dirty="0">
                          <a:solidFill>
                            <a:schemeClr val="tx2">
                              <a:lumMod val="50000"/>
                              <a:lumOff val="50000"/>
                            </a:schemeClr>
                          </a:solidFill>
                          <a:effectLst/>
                          <a:latin typeface="Aptos" panose="020B0004020202020204" pitchFamily="34" charset="0"/>
                        </a:rPr>
                        <a:t>Workroom</a:t>
                      </a:r>
                      <a:endParaRPr lang="en-GB" sz="1000" b="0" dirty="0">
                        <a:solidFill>
                          <a:schemeClr val="tx2">
                            <a:lumMod val="50000"/>
                            <a:lumOff val="50000"/>
                          </a:schemeClr>
                        </a:solidFill>
                        <a:effectLst/>
                        <a:latin typeface="Aptos" panose="020B0004020202020204" pitchFamily="34" charset="0"/>
                      </a:endParaRPr>
                    </a:p>
                  </a:txBody>
                  <a:tcPr marL="63500" marR="63500" marT="63500" marB="63500">
                    <a:lnL w="12700" cap="flat" cmpd="sng" algn="ctr">
                      <a:solidFill>
                        <a:schemeClr val="bg2">
                          <a:lumMod val="75000"/>
                        </a:schemeClr>
                      </a:solidFill>
                      <a:prstDash val="dash"/>
                      <a:round/>
                      <a:headEnd type="none" w="med" len="med"/>
                      <a:tailEnd type="none" w="med" len="med"/>
                    </a:lnL>
                    <a:lnR>
                      <a:noFill/>
                    </a:lnR>
                    <a:lnT>
                      <a:noFill/>
                    </a:lnT>
                    <a:lnB w="12700" cap="flat" cmpd="sng" algn="ctr">
                      <a:solidFill>
                        <a:schemeClr val="bg2">
                          <a:lumMod val="75000"/>
                        </a:schemeClr>
                      </a:solidFill>
                      <a:prstDash val="dash"/>
                      <a:round/>
                      <a:headEnd type="none" w="med" len="med"/>
                      <a:tailEnd type="none" w="med" len="med"/>
                    </a:lnB>
                    <a:noFill/>
                  </a:tcPr>
                </a:tc>
                <a:tc>
                  <a:txBody>
                    <a:bodyPr/>
                    <a:lstStyle/>
                    <a:p>
                      <a:pPr algn="ctr" rtl="0" fontAlgn="t">
                        <a:buNone/>
                      </a:pPr>
                      <a:r>
                        <a:rPr lang="en-GB" sz="1000" b="0" i="0" u="none" strike="noStrike" dirty="0">
                          <a:solidFill>
                            <a:schemeClr val="bg2">
                              <a:lumMod val="50000"/>
                            </a:schemeClr>
                          </a:solidFill>
                          <a:effectLst/>
                          <a:latin typeface="Aptos" panose="020B0004020202020204" pitchFamily="34" charset="0"/>
                        </a:rPr>
                        <a:t>Open-plan office</a:t>
                      </a:r>
                      <a:endParaRPr lang="en-GB" sz="1000" dirty="0">
                        <a:solidFill>
                          <a:schemeClr val="bg2">
                            <a:lumMod val="50000"/>
                          </a:schemeClr>
                        </a:solidFill>
                        <a:effectLst/>
                        <a:latin typeface="Aptos" panose="020B0004020202020204" pitchFamily="34" charset="0"/>
                      </a:endParaRPr>
                    </a:p>
                  </a:txBody>
                  <a:tcPr marL="63500" marR="63500" marT="63500" marB="63500">
                    <a:lnL>
                      <a:noFill/>
                    </a:lnL>
                    <a:lnR>
                      <a:noFill/>
                    </a:lnR>
                    <a:lnT>
                      <a:noFill/>
                    </a:lnT>
                    <a:lnB w="12700" cap="flat" cmpd="sng" algn="ctr">
                      <a:solidFill>
                        <a:schemeClr val="bg2">
                          <a:lumMod val="75000"/>
                        </a:schemeClr>
                      </a:solidFill>
                      <a:prstDash val="dash"/>
                      <a:round/>
                      <a:headEnd type="none" w="med" len="med"/>
                      <a:tailEnd type="none" w="med" len="med"/>
                    </a:lnB>
                    <a:noFill/>
                  </a:tcPr>
                </a:tc>
                <a:tc>
                  <a:txBody>
                    <a:bodyPr/>
                    <a:lstStyle/>
                    <a:p>
                      <a:pPr algn="ctr" rtl="0" fontAlgn="t">
                        <a:buNone/>
                      </a:pPr>
                      <a:r>
                        <a:rPr lang="en-GB" sz="1000" b="0" i="0" u="none" strike="noStrike">
                          <a:solidFill>
                            <a:schemeClr val="bg2">
                              <a:lumMod val="50000"/>
                            </a:schemeClr>
                          </a:solidFill>
                          <a:effectLst/>
                          <a:latin typeface="Aptos" panose="020B0004020202020204" pitchFamily="34" charset="0"/>
                        </a:rPr>
                        <a:t>Small/med</a:t>
                      </a:r>
                      <a:endParaRPr lang="en-GB" sz="1000">
                        <a:solidFill>
                          <a:schemeClr val="bg2">
                            <a:lumMod val="50000"/>
                          </a:schemeClr>
                        </a:solidFill>
                        <a:effectLst/>
                        <a:latin typeface="Aptos" panose="020B0004020202020204" pitchFamily="34" charset="0"/>
                      </a:endParaRPr>
                    </a:p>
                  </a:txBody>
                  <a:tcPr marL="63500" marR="63500" marT="63500" marB="63500">
                    <a:lnL>
                      <a:noFill/>
                    </a:lnL>
                    <a:lnR>
                      <a:noFill/>
                    </a:lnR>
                    <a:lnT>
                      <a:noFill/>
                    </a:lnT>
                    <a:lnB w="12700" cap="flat" cmpd="sng" algn="ctr">
                      <a:solidFill>
                        <a:schemeClr val="bg2">
                          <a:lumMod val="75000"/>
                        </a:schemeClr>
                      </a:solidFill>
                      <a:prstDash val="dash"/>
                      <a:round/>
                      <a:headEnd type="none" w="med" len="med"/>
                      <a:tailEnd type="none" w="med" len="med"/>
                    </a:lnB>
                    <a:noFill/>
                  </a:tcPr>
                </a:tc>
                <a:tc>
                  <a:txBody>
                    <a:bodyPr/>
                    <a:lstStyle/>
                    <a:p>
                      <a:pPr algn="ctr" rtl="0" fontAlgn="t">
                        <a:buNone/>
                      </a:pPr>
                      <a:r>
                        <a:rPr lang="en-GB" sz="1000" b="0" i="0" u="none" strike="noStrike" dirty="0">
                          <a:solidFill>
                            <a:schemeClr val="bg2">
                              <a:lumMod val="50000"/>
                            </a:schemeClr>
                          </a:solidFill>
                          <a:effectLst/>
                          <a:latin typeface="Aptos" panose="020B0004020202020204" pitchFamily="34" charset="0"/>
                        </a:rPr>
                        <a:t>3–4 occupants working</a:t>
                      </a:r>
                      <a:endParaRPr lang="en-GB" sz="1000" dirty="0">
                        <a:solidFill>
                          <a:schemeClr val="bg2">
                            <a:lumMod val="50000"/>
                          </a:schemeClr>
                        </a:solidFill>
                        <a:effectLst/>
                        <a:latin typeface="Aptos" panose="020B0004020202020204" pitchFamily="34" charset="0"/>
                      </a:endParaRPr>
                    </a:p>
                  </a:txBody>
                  <a:tcPr marL="63500" marR="63500" marT="63500" marB="63500">
                    <a:lnL>
                      <a:noFill/>
                    </a:lnL>
                    <a:lnR>
                      <a:noFill/>
                    </a:lnR>
                    <a:lnT>
                      <a:noFill/>
                    </a:lnT>
                    <a:lnB w="12700" cap="flat" cmpd="sng" algn="ctr">
                      <a:solidFill>
                        <a:schemeClr val="bg2">
                          <a:lumMod val="75000"/>
                        </a:schemeClr>
                      </a:solidFill>
                      <a:prstDash val="dash"/>
                      <a:round/>
                      <a:headEnd type="none" w="med" len="med"/>
                      <a:tailEnd type="none" w="med" len="med"/>
                    </a:lnB>
                    <a:noFill/>
                  </a:tcPr>
                </a:tc>
                <a:tc>
                  <a:txBody>
                    <a:bodyPr/>
                    <a:lstStyle/>
                    <a:p>
                      <a:pPr algn="ctr" rtl="0" fontAlgn="t">
                        <a:buNone/>
                      </a:pPr>
                      <a:r>
                        <a:rPr lang="en-GB" sz="1000" b="0" i="0" u="none" strike="noStrike" dirty="0">
                          <a:solidFill>
                            <a:schemeClr val="bg2">
                              <a:lumMod val="50000"/>
                            </a:schemeClr>
                          </a:solidFill>
                          <a:effectLst/>
                          <a:latin typeface="Aptos" panose="020B0004020202020204" pitchFamily="34" charset="0"/>
                        </a:rPr>
                        <a:t>Stable</a:t>
                      </a:r>
                      <a:endParaRPr lang="en-GB" sz="1000" dirty="0">
                        <a:solidFill>
                          <a:schemeClr val="bg2">
                            <a:lumMod val="50000"/>
                          </a:schemeClr>
                        </a:solidFill>
                        <a:effectLst/>
                        <a:latin typeface="Aptos" panose="020B0004020202020204" pitchFamily="34" charset="0"/>
                      </a:endParaRPr>
                    </a:p>
                  </a:txBody>
                  <a:tcPr marL="63500" marR="63500" marT="63500" marB="63500">
                    <a:lnL>
                      <a:noFill/>
                    </a:lnL>
                    <a:lnR w="12700" cap="flat" cmpd="sng" algn="ctr">
                      <a:solidFill>
                        <a:schemeClr val="bg2">
                          <a:lumMod val="75000"/>
                        </a:schemeClr>
                      </a:solidFill>
                      <a:prstDash val="dash"/>
                      <a:round/>
                      <a:headEnd type="none" w="med" len="med"/>
                      <a:tailEnd type="none" w="med" len="med"/>
                    </a:lnR>
                    <a:lnT>
                      <a:noFill/>
                    </a:lnT>
                    <a:lnB w="12700" cap="flat" cmpd="sng" algn="ctr">
                      <a:solidFill>
                        <a:schemeClr val="bg2">
                          <a:lumMod val="75000"/>
                        </a:schemeClr>
                      </a:solidFill>
                      <a:prstDash val="dash"/>
                      <a:round/>
                      <a:headEnd type="none" w="med" len="med"/>
                      <a:tailEnd type="none" w="med" len="med"/>
                    </a:lnB>
                    <a:noFill/>
                  </a:tcPr>
                </a:tc>
                <a:extLst>
                  <a:ext uri="{0D108BD9-81ED-4DB2-BD59-A6C34878D82A}">
                    <a16:rowId xmlns:a16="http://schemas.microsoft.com/office/drawing/2014/main" val="913306500"/>
                  </a:ext>
                </a:extLst>
              </a:tr>
            </a:tbl>
          </a:graphicData>
        </a:graphic>
      </p:graphicFrame>
      <p:cxnSp>
        <p:nvCxnSpPr>
          <p:cNvPr id="11" name="Google Shape;377;p20">
            <a:extLst>
              <a:ext uri="{FF2B5EF4-FFF2-40B4-BE49-F238E27FC236}">
                <a16:creationId xmlns:a16="http://schemas.microsoft.com/office/drawing/2014/main" id="{F767469B-DDBE-7CCF-5641-498C7B879FF4}"/>
              </a:ext>
            </a:extLst>
          </p:cNvPr>
          <p:cNvCxnSpPr>
            <a:cxnSpLocks/>
          </p:cNvCxnSpPr>
          <p:nvPr/>
        </p:nvCxnSpPr>
        <p:spPr>
          <a:xfrm>
            <a:off x="7944319" y="4660338"/>
            <a:ext cx="841093" cy="0"/>
          </a:xfrm>
          <a:prstGeom prst="straightConnector1">
            <a:avLst/>
          </a:prstGeom>
          <a:noFill/>
          <a:ln w="19050" cap="flat" cmpd="sng">
            <a:solidFill>
              <a:schemeClr val="accent4"/>
            </a:solidFill>
            <a:prstDash val="dash"/>
            <a:round/>
            <a:headEnd type="none" w="sm" len="sm"/>
            <a:tailEnd type="none" w="sm" len="sm"/>
          </a:ln>
        </p:spPr>
      </p:cxnSp>
      <p:pic>
        <p:nvPicPr>
          <p:cNvPr id="48" name="Picture 47" descr="A diagram of a meeting room&#10;&#10;AI-generated content may be incorrect.">
            <a:extLst>
              <a:ext uri="{FF2B5EF4-FFF2-40B4-BE49-F238E27FC236}">
                <a16:creationId xmlns:a16="http://schemas.microsoft.com/office/drawing/2014/main" id="{6C0F8E8F-6C3C-F339-CE86-AF6490011AA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006117" y="2979445"/>
            <a:ext cx="3038743" cy="1773563"/>
          </a:xfrm>
          <a:prstGeom prst="rect">
            <a:avLst/>
          </a:prstGeom>
        </p:spPr>
      </p:pic>
      <p:pic>
        <p:nvPicPr>
          <p:cNvPr id="50" name="Picture 49" descr="A drawing of a conference room&#10;&#10;AI-generated content may be incorrect.">
            <a:extLst>
              <a:ext uri="{FF2B5EF4-FFF2-40B4-BE49-F238E27FC236}">
                <a16:creationId xmlns:a16="http://schemas.microsoft.com/office/drawing/2014/main" id="{6E00A38F-5D45-20AA-7501-A95B2AFDD20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907747" y="4989388"/>
            <a:ext cx="1916699" cy="1548102"/>
          </a:xfrm>
          <a:prstGeom prst="rect">
            <a:avLst/>
          </a:prstGeom>
        </p:spPr>
      </p:pic>
      <p:pic>
        <p:nvPicPr>
          <p:cNvPr id="52" name="Picture 51" descr="A drawing of a table and chairs&#10;&#10;AI-generated content may be incorrect.">
            <a:extLst>
              <a:ext uri="{FF2B5EF4-FFF2-40B4-BE49-F238E27FC236}">
                <a16:creationId xmlns:a16="http://schemas.microsoft.com/office/drawing/2014/main" id="{81515E0B-379B-C27C-D90D-35E56D78CA6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934991" y="1181873"/>
            <a:ext cx="1209968" cy="1313524"/>
          </a:xfrm>
          <a:prstGeom prst="rect">
            <a:avLst/>
          </a:prstGeom>
        </p:spPr>
      </p:pic>
      <p:sp>
        <p:nvSpPr>
          <p:cNvPr id="55" name="TextBox 54">
            <a:extLst>
              <a:ext uri="{FF2B5EF4-FFF2-40B4-BE49-F238E27FC236}">
                <a16:creationId xmlns:a16="http://schemas.microsoft.com/office/drawing/2014/main" id="{75E5E358-7A0E-A409-4B64-F1619DE87D29}"/>
              </a:ext>
            </a:extLst>
          </p:cNvPr>
          <p:cNvSpPr txBox="1"/>
          <p:nvPr/>
        </p:nvSpPr>
        <p:spPr>
          <a:xfrm>
            <a:off x="9102514" y="1841250"/>
            <a:ext cx="805234" cy="253916"/>
          </a:xfrm>
          <a:prstGeom prst="rect">
            <a:avLst/>
          </a:prstGeom>
          <a:noFill/>
        </p:spPr>
        <p:txBody>
          <a:bodyPr wrap="square">
            <a:spAutoFit/>
          </a:bodyPr>
          <a:lstStyle/>
          <a:p>
            <a:pPr fontAlgn="base">
              <a:buClr>
                <a:schemeClr val="tx2">
                  <a:lumMod val="50000"/>
                  <a:lumOff val="50000"/>
                </a:schemeClr>
              </a:buClr>
            </a:pPr>
            <a:r>
              <a:rPr lang="en-GB" sz="1050" dirty="0">
                <a:solidFill>
                  <a:schemeClr val="tx2">
                    <a:lumMod val="50000"/>
                    <a:lumOff val="50000"/>
                  </a:schemeClr>
                </a:solidFill>
              </a:rPr>
              <a:t>CELSIUS</a:t>
            </a:r>
          </a:p>
        </p:txBody>
      </p:sp>
      <p:sp>
        <p:nvSpPr>
          <p:cNvPr id="56" name="TextBox 55">
            <a:extLst>
              <a:ext uri="{FF2B5EF4-FFF2-40B4-BE49-F238E27FC236}">
                <a16:creationId xmlns:a16="http://schemas.microsoft.com/office/drawing/2014/main" id="{5354EE30-5478-8C19-BDA0-E5DC612FC7EB}"/>
              </a:ext>
            </a:extLst>
          </p:cNvPr>
          <p:cNvSpPr txBox="1"/>
          <p:nvPr/>
        </p:nvSpPr>
        <p:spPr>
          <a:xfrm>
            <a:off x="8018583" y="4344681"/>
            <a:ext cx="972455" cy="253916"/>
          </a:xfrm>
          <a:prstGeom prst="rect">
            <a:avLst/>
          </a:prstGeom>
          <a:noFill/>
        </p:spPr>
        <p:txBody>
          <a:bodyPr wrap="square">
            <a:spAutoFit/>
          </a:bodyPr>
          <a:lstStyle/>
          <a:p>
            <a:pPr fontAlgn="base">
              <a:buClr>
                <a:schemeClr val="tx2">
                  <a:lumMod val="50000"/>
                  <a:lumOff val="50000"/>
                </a:schemeClr>
              </a:buClr>
            </a:pPr>
            <a:r>
              <a:rPr lang="en-GB" sz="1050" dirty="0">
                <a:solidFill>
                  <a:schemeClr val="tx2">
                    <a:lumMod val="50000"/>
                    <a:lumOff val="50000"/>
                  </a:schemeClr>
                </a:solidFill>
              </a:rPr>
              <a:t>WORKROOM</a:t>
            </a:r>
          </a:p>
        </p:txBody>
      </p:sp>
      <p:sp>
        <p:nvSpPr>
          <p:cNvPr id="57" name="TextBox 56">
            <a:extLst>
              <a:ext uri="{FF2B5EF4-FFF2-40B4-BE49-F238E27FC236}">
                <a16:creationId xmlns:a16="http://schemas.microsoft.com/office/drawing/2014/main" id="{E8EEDE4D-E3DF-DFD2-ADA3-3D29D6F1B0C6}"/>
              </a:ext>
            </a:extLst>
          </p:cNvPr>
          <p:cNvSpPr txBox="1"/>
          <p:nvPr/>
        </p:nvSpPr>
        <p:spPr>
          <a:xfrm>
            <a:off x="9266120" y="5879756"/>
            <a:ext cx="805234" cy="253916"/>
          </a:xfrm>
          <a:prstGeom prst="rect">
            <a:avLst/>
          </a:prstGeom>
          <a:noFill/>
        </p:spPr>
        <p:txBody>
          <a:bodyPr wrap="square">
            <a:spAutoFit/>
          </a:bodyPr>
          <a:lstStyle/>
          <a:p>
            <a:pPr fontAlgn="base">
              <a:buClr>
                <a:schemeClr val="tx2">
                  <a:lumMod val="50000"/>
                  <a:lumOff val="50000"/>
                </a:schemeClr>
              </a:buClr>
            </a:pPr>
            <a:r>
              <a:rPr lang="en-GB" sz="1050" dirty="0">
                <a:solidFill>
                  <a:schemeClr val="tx2">
                    <a:lumMod val="50000"/>
                    <a:lumOff val="50000"/>
                  </a:schemeClr>
                </a:solidFill>
              </a:rPr>
              <a:t>TESLA</a:t>
            </a:r>
          </a:p>
        </p:txBody>
      </p:sp>
      <p:sp>
        <p:nvSpPr>
          <p:cNvPr id="2" name="TextBox 1">
            <a:extLst>
              <a:ext uri="{FF2B5EF4-FFF2-40B4-BE49-F238E27FC236}">
                <a16:creationId xmlns:a16="http://schemas.microsoft.com/office/drawing/2014/main" id="{2BCB2D2C-E3F4-0CB0-7693-B1493933D602}"/>
              </a:ext>
            </a:extLst>
          </p:cNvPr>
          <p:cNvSpPr txBox="1"/>
          <p:nvPr/>
        </p:nvSpPr>
        <p:spPr>
          <a:xfrm>
            <a:off x="859801" y="1544659"/>
            <a:ext cx="2565785" cy="830997"/>
          </a:xfrm>
          <a:prstGeom prst="rect">
            <a:avLst/>
          </a:prstGeom>
          <a:noFill/>
        </p:spPr>
        <p:txBody>
          <a:bodyPr wrap="square">
            <a:spAutoFit/>
          </a:bodyPr>
          <a:lstStyle/>
          <a:p>
            <a:pPr algn="just"/>
            <a:r>
              <a:rPr lang="en-GB" sz="1200" dirty="0">
                <a:solidFill>
                  <a:schemeClr val="tx2">
                    <a:lumMod val="50000"/>
                    <a:lumOff val="50000"/>
                  </a:schemeClr>
                </a:solidFill>
              </a:rPr>
              <a:t>A </a:t>
            </a:r>
            <a:r>
              <a:rPr lang="en-GB" sz="1200" dirty="0" err="1">
                <a:solidFill>
                  <a:schemeClr val="tx2">
                    <a:lumMod val="50000"/>
                    <a:lumOff val="50000"/>
                  </a:schemeClr>
                </a:solidFill>
              </a:rPr>
              <a:t>pilol</a:t>
            </a:r>
            <a:r>
              <a:rPr lang="en-GB" sz="1200" dirty="0">
                <a:solidFill>
                  <a:schemeClr val="tx2">
                    <a:lumMod val="50000"/>
                    <a:lumOff val="50000"/>
                  </a:schemeClr>
                </a:solidFill>
              </a:rPr>
              <a:t> study was carried out to understand the best placement for each sensor across different types of spaces such as the following:</a:t>
            </a:r>
            <a:endParaRPr lang="en-IT" sz="1200" dirty="0">
              <a:solidFill>
                <a:schemeClr val="tx2">
                  <a:lumMod val="50000"/>
                  <a:lumOff val="50000"/>
                </a:schemeClr>
              </a:solidFill>
            </a:endParaRPr>
          </a:p>
        </p:txBody>
      </p:sp>
      <p:sp>
        <p:nvSpPr>
          <p:cNvPr id="6" name="Google Shape;423;p21">
            <a:extLst>
              <a:ext uri="{FF2B5EF4-FFF2-40B4-BE49-F238E27FC236}">
                <a16:creationId xmlns:a16="http://schemas.microsoft.com/office/drawing/2014/main" id="{92CAA6E4-B8C4-BA10-1367-F46CB1AA946B}"/>
              </a:ext>
            </a:extLst>
          </p:cNvPr>
          <p:cNvSpPr txBox="1"/>
          <p:nvPr/>
        </p:nvSpPr>
        <p:spPr>
          <a:xfrm>
            <a:off x="390708" y="416452"/>
            <a:ext cx="3104967" cy="424691"/>
          </a:xfrm>
          <a:prstGeom prst="rect">
            <a:avLst/>
          </a:prstGeom>
          <a:noFill/>
          <a:ln>
            <a:noFill/>
          </a:ln>
        </p:spPr>
        <p:txBody>
          <a:bodyPr spcFirstLastPara="1" wrap="square" lIns="91425" tIns="45700" rIns="91425" bIns="45700" anchor="t" anchorCtr="0">
            <a:spAutoFit/>
          </a:bodyPr>
          <a:lstStyle/>
          <a:p>
            <a:pPr lvl="0">
              <a:lnSpc>
                <a:spcPct val="90000"/>
              </a:lnSpc>
            </a:pPr>
            <a:r>
              <a:rPr lang="en-US" sz="2400" b="1" i="0" u="none" strike="noStrike" cap="none" dirty="0">
                <a:solidFill>
                  <a:srgbClr val="4892DC"/>
                </a:solidFill>
                <a:latin typeface="Arial"/>
                <a:ea typeface="Arial"/>
                <a:cs typeface="Arial"/>
                <a:sym typeface="Arial"/>
              </a:rPr>
              <a:t>0. </a:t>
            </a:r>
            <a:r>
              <a:rPr lang="en-US" sz="2400" b="1" dirty="0">
                <a:solidFill>
                  <a:srgbClr val="4892DC"/>
                </a:solidFill>
                <a:latin typeface="Arial"/>
                <a:ea typeface="Arial"/>
                <a:cs typeface="Arial"/>
                <a:sym typeface="Arial"/>
              </a:rPr>
              <a:t>PILOT </a:t>
            </a:r>
            <a:r>
              <a:rPr lang="en-US" sz="1400" dirty="0">
                <a:solidFill>
                  <a:srgbClr val="4892DC"/>
                </a:solidFill>
                <a:latin typeface="Arial"/>
                <a:ea typeface="Arial"/>
                <a:cs typeface="Arial"/>
                <a:sym typeface="Arial"/>
              </a:rPr>
              <a:t>STUDY PLANNING</a:t>
            </a:r>
            <a:endParaRPr lang="en-US" u="none" strike="noStrike" cap="none" dirty="0">
              <a:solidFill>
                <a:srgbClr val="4892DC"/>
              </a:solidFill>
              <a:latin typeface="Arial"/>
              <a:ea typeface="Arial"/>
              <a:cs typeface="Arial"/>
              <a:sym typeface="Arial"/>
            </a:endParaRPr>
          </a:p>
        </p:txBody>
      </p:sp>
    </p:spTree>
    <p:extLst>
      <p:ext uri="{BB962C8B-B14F-4D97-AF65-F5344CB8AC3E}">
        <p14:creationId xmlns:p14="http://schemas.microsoft.com/office/powerpoint/2010/main" val="13001018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C4028FD-8BAA-4A19-BFDE-594D991B75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4">
            <a:extLst>
              <a:ext uri="{FF2B5EF4-FFF2-40B4-BE49-F238E27FC236}">
                <a16:creationId xmlns:a16="http://schemas.microsoft.com/office/drawing/2014/main" id="{D7F1CF15-6FF6-1D20-AF12-57E236E50EBF}"/>
              </a:ext>
            </a:extLst>
          </p:cNvPr>
          <p:cNvGraphicFramePr>
            <a:graphicFrameLocks noGrp="1"/>
          </p:cNvGraphicFramePr>
          <p:nvPr>
            <p:ph idx="1"/>
            <p:extLst>
              <p:ext uri="{D42A27DB-BD31-4B8C-83A1-F6EECF244321}">
                <p14:modId xmlns:p14="http://schemas.microsoft.com/office/powerpoint/2010/main" val="1603464248"/>
              </p:ext>
            </p:extLst>
          </p:nvPr>
        </p:nvGraphicFramePr>
        <p:xfrm>
          <a:off x="3355864" y="2114023"/>
          <a:ext cx="8274161" cy="2629954"/>
        </p:xfrm>
        <a:graphic>
          <a:graphicData uri="http://schemas.openxmlformats.org/drawingml/2006/table">
            <a:tbl>
              <a:tblPr/>
              <a:tblGrid>
                <a:gridCol w="3160036">
                  <a:extLst>
                    <a:ext uri="{9D8B030D-6E8A-4147-A177-3AD203B41FA5}">
                      <a16:colId xmlns:a16="http://schemas.microsoft.com/office/drawing/2014/main" val="2809629707"/>
                    </a:ext>
                  </a:extLst>
                </a:gridCol>
                <a:gridCol w="1599400">
                  <a:extLst>
                    <a:ext uri="{9D8B030D-6E8A-4147-A177-3AD203B41FA5}">
                      <a16:colId xmlns:a16="http://schemas.microsoft.com/office/drawing/2014/main" val="1387282522"/>
                    </a:ext>
                  </a:extLst>
                </a:gridCol>
                <a:gridCol w="3514725">
                  <a:extLst>
                    <a:ext uri="{9D8B030D-6E8A-4147-A177-3AD203B41FA5}">
                      <a16:colId xmlns:a16="http://schemas.microsoft.com/office/drawing/2014/main" val="3233256874"/>
                    </a:ext>
                  </a:extLst>
                </a:gridCol>
              </a:tblGrid>
              <a:tr h="197568">
                <a:tc>
                  <a:txBody>
                    <a:bodyPr/>
                    <a:lstStyle/>
                    <a:p>
                      <a:pPr algn="ctr" fontAlgn="ctr">
                        <a:buNone/>
                      </a:pPr>
                      <a:r>
                        <a:rPr lang="en-US" sz="1050" b="1" i="0" u="none" strike="noStrike">
                          <a:solidFill>
                            <a:schemeClr val="tx2">
                              <a:lumMod val="50000"/>
                              <a:lumOff val="50000"/>
                            </a:schemeClr>
                          </a:solidFill>
                          <a:effectLst/>
                          <a:latin typeface="Arial" panose="020B0604020202020204" pitchFamily="34" charset="0"/>
                        </a:rPr>
                        <a:t>Test Scenario</a:t>
                      </a:r>
                    </a:p>
                  </a:txBody>
                  <a:tcPr marL="71804" marR="71804" marT="35902" marB="35902" anchor="ctr">
                    <a:lnL w="6350" cap="flat" cmpd="sng" algn="ctr">
                      <a:no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en-US" sz="1050" b="1" i="0" u="none" strike="noStrike">
                          <a:solidFill>
                            <a:schemeClr val="tx2">
                              <a:lumMod val="50000"/>
                              <a:lumOff val="50000"/>
                            </a:schemeClr>
                          </a:solidFill>
                          <a:effectLst/>
                          <a:latin typeface="Arial" panose="020B0604020202020204" pitchFamily="34" charset="0"/>
                        </a:rPr>
                        <a:t>Configuration</a:t>
                      </a:r>
                    </a:p>
                  </a:txBody>
                  <a:tcPr marL="71804" marR="71804" marT="35902" marB="35902" anchor="ctr">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en-US" sz="1050" b="1" i="0" u="none" strike="noStrike" dirty="0">
                          <a:solidFill>
                            <a:schemeClr val="tx2">
                              <a:lumMod val="50000"/>
                              <a:lumOff val="50000"/>
                            </a:schemeClr>
                          </a:solidFill>
                          <a:effectLst/>
                          <a:latin typeface="Arial" panose="020B0604020202020204" pitchFamily="34" charset="0"/>
                        </a:rPr>
                        <a:t>Purpose</a:t>
                      </a:r>
                    </a:p>
                  </a:txBody>
                  <a:tcPr marL="71804" marR="71804" marT="35902" marB="35902" anchor="ctr">
                    <a:lnL w="6350" cap="flat" cmpd="sng" algn="ctr">
                      <a:solidFill>
                        <a:schemeClr val="bg2">
                          <a:lumMod val="9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2446470146"/>
                  </a:ext>
                </a:extLst>
              </a:tr>
              <a:tr h="333942">
                <a:tc>
                  <a:txBody>
                    <a:bodyPr/>
                    <a:lstStyle/>
                    <a:p>
                      <a:pPr algn="l" fontAlgn="ctr">
                        <a:buNone/>
                      </a:pPr>
                      <a:r>
                        <a:rPr lang="en-US" sz="1050" b="1" i="0" u="none" strike="noStrike">
                          <a:effectLst/>
                          <a:latin typeface="Arial" panose="020B0604020202020204" pitchFamily="34" charset="0"/>
                        </a:rPr>
                        <a:t>1A</a:t>
                      </a:r>
                      <a:r>
                        <a:rPr lang="en-US" sz="1050" b="0" i="0" u="none" strike="noStrike">
                          <a:effectLst/>
                          <a:latin typeface="Arial" panose="020B0604020202020204" pitchFamily="34" charset="0"/>
                        </a:rPr>
                        <a:t> One person sits at A (30 min)</a:t>
                      </a:r>
                    </a:p>
                  </a:txBody>
                  <a:tcPr marL="71804" marR="71804" marT="35902" marB="35902" anchor="ctr">
                    <a:lnL w="6350" cap="flat" cmpd="sng" algn="ctr">
                      <a:no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en-US" sz="1050" b="0" i="0" u="none" strike="noStrike">
                          <a:effectLst/>
                          <a:latin typeface="Arial" panose="020B0604020202020204" pitchFamily="34" charset="0"/>
                        </a:rPr>
                        <a:t>Only seat A</a:t>
                      </a:r>
                    </a:p>
                  </a:txBody>
                  <a:tcPr marL="71804" marR="71804" marT="35902" marB="35902" anchor="ctr">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l" fontAlgn="ctr">
                        <a:buNone/>
                      </a:pPr>
                      <a:r>
                        <a:rPr lang="en-US" sz="1050" b="0" i="0" u="none" strike="noStrike">
                          <a:effectLst/>
                          <a:latin typeface="Arial" panose="020B0604020202020204" pitchFamily="34" charset="0"/>
                        </a:rPr>
                        <a:t>Establish baseline CO₂ rate from one occupant</a:t>
                      </a:r>
                    </a:p>
                  </a:txBody>
                  <a:tcPr marL="71804" marR="71804" marT="35902" marB="35902" anchor="ctr">
                    <a:lnL w="6350" cap="flat" cmpd="sng" algn="ctr">
                      <a:solidFill>
                        <a:schemeClr val="bg2">
                          <a:lumMod val="9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4154636998"/>
                  </a:ext>
                </a:extLst>
              </a:tr>
              <a:tr h="197568">
                <a:tc>
                  <a:txBody>
                    <a:bodyPr/>
                    <a:lstStyle/>
                    <a:p>
                      <a:pPr algn="l" fontAlgn="ctr">
                        <a:buNone/>
                      </a:pPr>
                      <a:r>
                        <a:rPr lang="en-US" sz="1050" b="1" i="0" u="none" strike="noStrike" dirty="0">
                          <a:effectLst/>
                          <a:latin typeface="Arial" panose="020B0604020202020204" pitchFamily="34" charset="0"/>
                        </a:rPr>
                        <a:t>1B</a:t>
                      </a:r>
                      <a:r>
                        <a:rPr lang="en-US" sz="1050" b="0" i="0" u="none" strike="noStrike" dirty="0">
                          <a:effectLst/>
                          <a:latin typeface="Arial" panose="020B0604020202020204" pitchFamily="34" charset="0"/>
                        </a:rPr>
                        <a:t> Repeat at seats B, C, and D</a:t>
                      </a:r>
                    </a:p>
                  </a:txBody>
                  <a:tcPr marL="71804" marR="71804" marT="35902" marB="35902" anchor="ctr">
                    <a:lnL w="6350" cap="flat" cmpd="sng" algn="ctr">
                      <a:no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en-US" sz="1050" b="0" i="0" u="none" strike="noStrike" dirty="0">
                          <a:effectLst/>
                          <a:latin typeface="Arial" panose="020B0604020202020204" pitchFamily="34" charset="0"/>
                        </a:rPr>
                        <a:t>One seat at a time</a:t>
                      </a:r>
                    </a:p>
                  </a:txBody>
                  <a:tcPr marL="71804" marR="71804" marT="35902" marB="35902" anchor="ctr">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l" fontAlgn="ctr">
                        <a:buNone/>
                      </a:pPr>
                      <a:r>
                        <a:rPr lang="en-US" sz="1050" b="0" i="0" u="none" strike="noStrike">
                          <a:effectLst/>
                          <a:latin typeface="Arial" panose="020B0604020202020204" pitchFamily="34" charset="0"/>
                        </a:rPr>
                        <a:t>Identify seat-specific PIR + CO₂ response</a:t>
                      </a:r>
                    </a:p>
                  </a:txBody>
                  <a:tcPr marL="71804" marR="71804" marT="35902" marB="35902" anchor="ctr">
                    <a:lnL w="6350" cap="flat" cmpd="sng" algn="ctr">
                      <a:solidFill>
                        <a:schemeClr val="bg2">
                          <a:lumMod val="9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1987292070"/>
                  </a:ext>
                </a:extLst>
              </a:tr>
              <a:tr h="270406">
                <a:tc>
                  <a:txBody>
                    <a:bodyPr/>
                    <a:lstStyle/>
                    <a:p>
                      <a:pPr algn="l" fontAlgn="ctr">
                        <a:buNone/>
                      </a:pPr>
                      <a:r>
                        <a:rPr lang="en-US" sz="1050" b="1" i="0" u="none" strike="noStrike" dirty="0">
                          <a:effectLst/>
                          <a:latin typeface="Arial" panose="020B0604020202020204" pitchFamily="34" charset="0"/>
                        </a:rPr>
                        <a:t>2A</a:t>
                      </a:r>
                      <a:r>
                        <a:rPr lang="en-US" sz="1050" b="0" i="0" u="none" strike="noStrike" dirty="0">
                          <a:effectLst/>
                          <a:latin typeface="Arial" panose="020B0604020202020204" pitchFamily="34" charset="0"/>
                        </a:rPr>
                        <a:t> Two people at A + C (30 min)</a:t>
                      </a:r>
                    </a:p>
                  </a:txBody>
                  <a:tcPr marL="71804" marR="71804" marT="35902" marB="35902" anchor="ctr">
                    <a:lnL w="6350" cap="flat" cmpd="sng" algn="ctr">
                      <a:no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en-US" sz="1050" b="0" i="0" u="none" strike="noStrike">
                          <a:effectLst/>
                          <a:latin typeface="Arial" panose="020B0604020202020204" pitchFamily="34" charset="0"/>
                        </a:rPr>
                        <a:t>Diagonal pair</a:t>
                      </a:r>
                    </a:p>
                  </a:txBody>
                  <a:tcPr marL="71804" marR="71804" marT="35902" marB="35902" anchor="ctr">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l" fontAlgn="ctr">
                        <a:buNone/>
                      </a:pPr>
                      <a:r>
                        <a:rPr lang="en-US" sz="1050" b="0" i="0" u="none" strike="noStrike">
                          <a:effectLst/>
                          <a:latin typeface="Arial" panose="020B0604020202020204" pitchFamily="34" charset="0"/>
                        </a:rPr>
                        <a:t>Test interaction of multiple sources + balance</a:t>
                      </a:r>
                    </a:p>
                  </a:txBody>
                  <a:tcPr marL="71804" marR="71804" marT="35902" marB="35902" anchor="ctr">
                    <a:lnL w="6350" cap="flat" cmpd="sng" algn="ctr">
                      <a:solidFill>
                        <a:schemeClr val="bg2">
                          <a:lumMod val="9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3592897880"/>
                  </a:ext>
                </a:extLst>
              </a:tr>
              <a:tr h="333942">
                <a:tc>
                  <a:txBody>
                    <a:bodyPr/>
                    <a:lstStyle/>
                    <a:p>
                      <a:pPr algn="l" fontAlgn="ctr">
                        <a:buNone/>
                      </a:pPr>
                      <a:r>
                        <a:rPr lang="en-US" sz="1050" b="1" i="0" u="none" strike="noStrike">
                          <a:effectLst/>
                          <a:latin typeface="Arial" panose="020B0604020202020204" pitchFamily="34" charset="0"/>
                        </a:rPr>
                        <a:t>2B</a:t>
                      </a:r>
                      <a:r>
                        <a:rPr lang="en-US" sz="1050" b="0" i="0" u="none" strike="noStrike">
                          <a:effectLst/>
                          <a:latin typeface="Arial" panose="020B0604020202020204" pitchFamily="34" charset="0"/>
                        </a:rPr>
                        <a:t> Two people at A + B or B + D</a:t>
                      </a:r>
                    </a:p>
                  </a:txBody>
                  <a:tcPr marL="71804" marR="71804" marT="35902" marB="35902" anchor="ctr">
                    <a:lnL w="6350" cap="flat" cmpd="sng" algn="ctr">
                      <a:no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en-US" sz="1050" b="0" i="0" u="none" strike="noStrike">
                          <a:effectLst/>
                          <a:latin typeface="Arial" panose="020B0604020202020204" pitchFamily="34" charset="0"/>
                        </a:rPr>
                        <a:t>Same side or L-shape</a:t>
                      </a:r>
                    </a:p>
                  </a:txBody>
                  <a:tcPr marL="71804" marR="71804" marT="35902" marB="35902" anchor="ctr">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l" fontAlgn="ctr">
                        <a:buNone/>
                      </a:pPr>
                      <a:r>
                        <a:rPr lang="en-US" sz="1050" b="0" i="0" u="none" strike="noStrike">
                          <a:effectLst/>
                          <a:latin typeface="Arial" panose="020B0604020202020204" pitchFamily="34" charset="0"/>
                        </a:rPr>
                        <a:t>See if placement symmetry affects CO₂ dispersion</a:t>
                      </a:r>
                    </a:p>
                  </a:txBody>
                  <a:tcPr marL="71804" marR="71804" marT="35902" marB="35902" anchor="ctr">
                    <a:lnL w="6350" cap="flat" cmpd="sng" algn="ctr">
                      <a:solidFill>
                        <a:schemeClr val="bg2">
                          <a:lumMod val="9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4277932561"/>
                  </a:ext>
                </a:extLst>
              </a:tr>
              <a:tr h="197568">
                <a:tc>
                  <a:txBody>
                    <a:bodyPr/>
                    <a:lstStyle/>
                    <a:p>
                      <a:pPr algn="l" fontAlgn="ctr">
                        <a:buNone/>
                      </a:pPr>
                      <a:r>
                        <a:rPr lang="fr-FR" sz="1050" b="1" i="0" u="none" strike="noStrike">
                          <a:effectLst/>
                          <a:latin typeface="Arial" panose="020B0604020202020204" pitchFamily="34" charset="0"/>
                        </a:rPr>
                        <a:t>3</a:t>
                      </a:r>
                      <a:r>
                        <a:rPr lang="fr-FR" sz="1050" b="0" i="0" u="none" strike="noStrike">
                          <a:effectLst/>
                          <a:latin typeface="Arial" panose="020B0604020202020204" pitchFamily="34" charset="0"/>
                        </a:rPr>
                        <a:t> Person enters, sits 3 seconds, exits</a:t>
                      </a:r>
                    </a:p>
                  </a:txBody>
                  <a:tcPr marL="71804" marR="71804" marT="35902" marB="35902" anchor="ctr">
                    <a:lnL w="6350" cap="flat" cmpd="sng" algn="ctr">
                      <a:no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en-US" sz="1050" b="0" i="0" u="none" strike="noStrike">
                          <a:effectLst/>
                          <a:latin typeface="Arial" panose="020B0604020202020204" pitchFamily="34" charset="0"/>
                        </a:rPr>
                        <a:t>One seat, random or A</a:t>
                      </a:r>
                    </a:p>
                  </a:txBody>
                  <a:tcPr marL="71804" marR="71804" marT="35902" marB="35902" anchor="ctr">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l" fontAlgn="ctr">
                        <a:buNone/>
                      </a:pPr>
                      <a:r>
                        <a:rPr lang="en-US" sz="1050" b="0" i="0" u="none" strike="noStrike" dirty="0">
                          <a:effectLst/>
                          <a:latin typeface="Arial" panose="020B0604020202020204" pitchFamily="34" charset="0"/>
                        </a:rPr>
                        <a:t>Test PIR + CO₂ sensitivity to brief entry</a:t>
                      </a:r>
                    </a:p>
                  </a:txBody>
                  <a:tcPr marL="71804" marR="71804" marT="35902" marB="35902" anchor="ctr">
                    <a:lnL w="6350" cap="flat" cmpd="sng" algn="ctr">
                      <a:solidFill>
                        <a:schemeClr val="bg2">
                          <a:lumMod val="9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1529245059"/>
                  </a:ext>
                </a:extLst>
              </a:tr>
              <a:tr h="270406">
                <a:tc>
                  <a:txBody>
                    <a:bodyPr/>
                    <a:lstStyle/>
                    <a:p>
                      <a:pPr algn="l" fontAlgn="ctr">
                        <a:buNone/>
                      </a:pPr>
                      <a:r>
                        <a:rPr lang="en-US" sz="1050" b="1" i="0" u="none" strike="noStrike">
                          <a:effectLst/>
                          <a:latin typeface="Arial" panose="020B0604020202020204" pitchFamily="34" charset="0"/>
                        </a:rPr>
                        <a:t>4</a:t>
                      </a:r>
                      <a:r>
                        <a:rPr lang="en-US" sz="1050" b="0" i="0" u="none" strike="noStrike">
                          <a:effectLst/>
                          <a:latin typeface="Arial" panose="020B0604020202020204" pitchFamily="34" charset="0"/>
                        </a:rPr>
                        <a:t> Room occupied (2–3 persons) + door open</a:t>
                      </a:r>
                    </a:p>
                  </a:txBody>
                  <a:tcPr marL="71804" marR="71804" marT="35902" marB="35902" anchor="ctr">
                    <a:lnL w="6350" cap="flat" cmpd="sng" algn="ctr">
                      <a:no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en-US" sz="1050" b="0" i="0" u="none" strike="noStrike" dirty="0">
                          <a:effectLst/>
                          <a:latin typeface="Arial" panose="020B0604020202020204" pitchFamily="34" charset="0"/>
                        </a:rPr>
                        <a:t>Natural activity</a:t>
                      </a:r>
                    </a:p>
                  </a:txBody>
                  <a:tcPr marL="71804" marR="71804" marT="35902" marB="35902" anchor="ctr">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l" fontAlgn="ctr">
                        <a:buNone/>
                      </a:pPr>
                      <a:r>
                        <a:rPr lang="en-US" sz="1050" b="0" i="0" u="none" strike="noStrike">
                          <a:effectLst/>
                          <a:latin typeface="Arial" panose="020B0604020202020204" pitchFamily="34" charset="0"/>
                        </a:rPr>
                        <a:t>Assess ventilation effect on sensor response</a:t>
                      </a:r>
                    </a:p>
                  </a:txBody>
                  <a:tcPr marL="71804" marR="71804" marT="35902" marB="35902" anchor="ctr">
                    <a:lnL w="6350" cap="flat" cmpd="sng" algn="ctr">
                      <a:solidFill>
                        <a:schemeClr val="bg2">
                          <a:lumMod val="9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3831662747"/>
                  </a:ext>
                </a:extLst>
              </a:tr>
              <a:tr h="333942">
                <a:tc>
                  <a:txBody>
                    <a:bodyPr/>
                    <a:lstStyle/>
                    <a:p>
                      <a:pPr algn="l" fontAlgn="ctr">
                        <a:buNone/>
                      </a:pPr>
                      <a:r>
                        <a:rPr lang="en-US" sz="1050" b="1" i="0" u="none" strike="noStrike">
                          <a:effectLst/>
                          <a:latin typeface="Arial" panose="020B0604020202020204" pitchFamily="34" charset="0"/>
                        </a:rPr>
                        <a:t>5</a:t>
                      </a:r>
                      <a:r>
                        <a:rPr lang="en-US" sz="1050" b="0" i="0" u="none" strike="noStrike">
                          <a:effectLst/>
                          <a:latin typeface="Arial" panose="020B0604020202020204" pitchFamily="34" charset="0"/>
                        </a:rPr>
                        <a:t> Full occupancy (4 persons, 30 min)</a:t>
                      </a:r>
                    </a:p>
                  </a:txBody>
                  <a:tcPr marL="71804" marR="71804" marT="35902" marB="35902" anchor="ctr">
                    <a:lnL w="6350" cap="flat" cmpd="sng" algn="ctr">
                      <a:no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en-US" sz="1050" b="0" i="0" u="none" strike="noStrike">
                          <a:effectLst/>
                          <a:latin typeface="Arial" panose="020B0604020202020204" pitchFamily="34" charset="0"/>
                        </a:rPr>
                        <a:t>All seats</a:t>
                      </a:r>
                    </a:p>
                  </a:txBody>
                  <a:tcPr marL="71804" marR="71804" marT="35902" marB="35902" anchor="ctr">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l" fontAlgn="ctr">
                        <a:buNone/>
                      </a:pPr>
                      <a:r>
                        <a:rPr lang="en-US" sz="1050" b="0" i="0" u="none" strike="noStrike" dirty="0">
                          <a:effectLst/>
                          <a:latin typeface="Arial" panose="020B0604020202020204" pitchFamily="34" charset="0"/>
                        </a:rPr>
                        <a:t>Max-load response + peak CO₂ reading accuracy</a:t>
                      </a:r>
                    </a:p>
                  </a:txBody>
                  <a:tcPr marL="71804" marR="71804" marT="35902" marB="35902" anchor="ctr">
                    <a:lnL w="6350" cap="flat" cmpd="sng" algn="ctr">
                      <a:solidFill>
                        <a:schemeClr val="bg2">
                          <a:lumMod val="9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4041150431"/>
                  </a:ext>
                </a:extLst>
              </a:tr>
              <a:tr h="333942">
                <a:tc>
                  <a:txBody>
                    <a:bodyPr/>
                    <a:lstStyle/>
                    <a:p>
                      <a:pPr algn="l" fontAlgn="ctr">
                        <a:buNone/>
                      </a:pPr>
                      <a:r>
                        <a:rPr lang="en-US" sz="1050" b="1" i="0" u="none" strike="noStrike">
                          <a:effectLst/>
                          <a:latin typeface="Arial" panose="020B0604020202020204" pitchFamily="34" charset="0"/>
                        </a:rPr>
                        <a:t>6</a:t>
                      </a:r>
                      <a:r>
                        <a:rPr lang="en-US" sz="1050" b="0" i="0" u="none" strike="noStrike">
                          <a:effectLst/>
                          <a:latin typeface="Arial" panose="020B0604020202020204" pitchFamily="34" charset="0"/>
                        </a:rPr>
                        <a:t> Vary durations (10, 20, 40 min)</a:t>
                      </a:r>
                    </a:p>
                  </a:txBody>
                  <a:tcPr marL="71804" marR="71804" marT="35902" marB="35902" anchor="ctr">
                    <a:lnL w="6350" cap="flat" cmpd="sng" algn="ctr">
                      <a:no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fontAlgn="ctr">
                        <a:buNone/>
                      </a:pPr>
                      <a:r>
                        <a:rPr lang="en-US" sz="1050" b="0" i="0" u="none" strike="noStrike" dirty="0">
                          <a:effectLst/>
                          <a:latin typeface="Arial" panose="020B0604020202020204" pitchFamily="34" charset="0"/>
                        </a:rPr>
                        <a:t>Repeat with 1–4 occupants</a:t>
                      </a:r>
                    </a:p>
                  </a:txBody>
                  <a:tcPr marL="71804" marR="71804" marT="35902" marB="35902" anchor="ctr">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l" fontAlgn="ctr">
                        <a:buNone/>
                      </a:pPr>
                      <a:r>
                        <a:rPr lang="en-US" sz="1050" b="0" i="0" u="none" strike="noStrike" dirty="0">
                          <a:effectLst/>
                          <a:latin typeface="Arial" panose="020B0604020202020204" pitchFamily="34" charset="0"/>
                        </a:rPr>
                        <a:t>Validate response speed and slope in ∆CO₂/min</a:t>
                      </a:r>
                    </a:p>
                  </a:txBody>
                  <a:tcPr marL="71804" marR="71804" marT="35902" marB="35902" anchor="ctr">
                    <a:lnL w="6350" cap="flat" cmpd="sng" algn="ctr">
                      <a:solidFill>
                        <a:schemeClr val="bg2">
                          <a:lumMod val="9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noFill/>
                      <a:prstDash val="solid"/>
                      <a:round/>
                      <a:headEnd type="none" w="med" len="med"/>
                      <a:tailEnd type="none" w="med" len="med"/>
                    </a:lnB>
                    <a:noFill/>
                  </a:tcPr>
                </a:tc>
                <a:extLst>
                  <a:ext uri="{0D108BD9-81ED-4DB2-BD59-A6C34878D82A}">
                    <a16:rowId xmlns:a16="http://schemas.microsoft.com/office/drawing/2014/main" val="4118735670"/>
                  </a:ext>
                </a:extLst>
              </a:tr>
            </a:tbl>
          </a:graphicData>
        </a:graphic>
      </p:graphicFrame>
      <p:graphicFrame>
        <p:nvGraphicFramePr>
          <p:cNvPr id="6" name="Table 5">
            <a:extLst>
              <a:ext uri="{FF2B5EF4-FFF2-40B4-BE49-F238E27FC236}">
                <a16:creationId xmlns:a16="http://schemas.microsoft.com/office/drawing/2014/main" id="{266ADD07-4D1B-ECF4-A405-537D28CF9F1F}"/>
              </a:ext>
            </a:extLst>
          </p:cNvPr>
          <p:cNvGraphicFramePr>
            <a:graphicFrameLocks noGrp="1"/>
          </p:cNvGraphicFramePr>
          <p:nvPr>
            <p:extLst>
              <p:ext uri="{D42A27DB-BD31-4B8C-83A1-F6EECF244321}">
                <p14:modId xmlns:p14="http://schemas.microsoft.com/office/powerpoint/2010/main" val="1635903825"/>
              </p:ext>
            </p:extLst>
          </p:nvPr>
        </p:nvGraphicFramePr>
        <p:xfrm>
          <a:off x="2084527" y="5466409"/>
          <a:ext cx="8836136" cy="754380"/>
        </p:xfrm>
        <a:graphic>
          <a:graphicData uri="http://schemas.openxmlformats.org/drawingml/2006/table">
            <a:tbl>
              <a:tblPr/>
              <a:tblGrid>
                <a:gridCol w="1104517">
                  <a:extLst>
                    <a:ext uri="{9D8B030D-6E8A-4147-A177-3AD203B41FA5}">
                      <a16:colId xmlns:a16="http://schemas.microsoft.com/office/drawing/2014/main" val="4259552105"/>
                    </a:ext>
                  </a:extLst>
                </a:gridCol>
                <a:gridCol w="1104517">
                  <a:extLst>
                    <a:ext uri="{9D8B030D-6E8A-4147-A177-3AD203B41FA5}">
                      <a16:colId xmlns:a16="http://schemas.microsoft.com/office/drawing/2014/main" val="2037132447"/>
                    </a:ext>
                  </a:extLst>
                </a:gridCol>
                <a:gridCol w="1104517">
                  <a:extLst>
                    <a:ext uri="{9D8B030D-6E8A-4147-A177-3AD203B41FA5}">
                      <a16:colId xmlns:a16="http://schemas.microsoft.com/office/drawing/2014/main" val="3652568480"/>
                    </a:ext>
                  </a:extLst>
                </a:gridCol>
                <a:gridCol w="1104517">
                  <a:extLst>
                    <a:ext uri="{9D8B030D-6E8A-4147-A177-3AD203B41FA5}">
                      <a16:colId xmlns:a16="http://schemas.microsoft.com/office/drawing/2014/main" val="3328504812"/>
                    </a:ext>
                  </a:extLst>
                </a:gridCol>
                <a:gridCol w="1104517">
                  <a:extLst>
                    <a:ext uri="{9D8B030D-6E8A-4147-A177-3AD203B41FA5}">
                      <a16:colId xmlns:a16="http://schemas.microsoft.com/office/drawing/2014/main" val="69661246"/>
                    </a:ext>
                  </a:extLst>
                </a:gridCol>
                <a:gridCol w="1104517">
                  <a:extLst>
                    <a:ext uri="{9D8B030D-6E8A-4147-A177-3AD203B41FA5}">
                      <a16:colId xmlns:a16="http://schemas.microsoft.com/office/drawing/2014/main" val="2717157369"/>
                    </a:ext>
                  </a:extLst>
                </a:gridCol>
                <a:gridCol w="1104517">
                  <a:extLst>
                    <a:ext uri="{9D8B030D-6E8A-4147-A177-3AD203B41FA5}">
                      <a16:colId xmlns:a16="http://schemas.microsoft.com/office/drawing/2014/main" val="4260078874"/>
                    </a:ext>
                  </a:extLst>
                </a:gridCol>
                <a:gridCol w="1104517">
                  <a:extLst>
                    <a:ext uri="{9D8B030D-6E8A-4147-A177-3AD203B41FA5}">
                      <a16:colId xmlns:a16="http://schemas.microsoft.com/office/drawing/2014/main" val="1945264999"/>
                    </a:ext>
                  </a:extLst>
                </a:gridCol>
              </a:tblGrid>
              <a:tr h="180710">
                <a:tc>
                  <a:txBody>
                    <a:bodyPr/>
                    <a:lstStyle/>
                    <a:p>
                      <a:pPr algn="ctr">
                        <a:buNone/>
                      </a:pPr>
                      <a:r>
                        <a:rPr lang="en-US" sz="1050" dirty="0">
                          <a:solidFill>
                            <a:schemeClr val="tx2">
                              <a:lumMod val="50000"/>
                              <a:lumOff val="50000"/>
                            </a:schemeClr>
                          </a:solidFill>
                        </a:rPr>
                        <a:t>Test Scenario</a:t>
                      </a:r>
                    </a:p>
                  </a:txBody>
                  <a:tcPr anchor="ctr">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a:buNone/>
                      </a:pPr>
                      <a:r>
                        <a:rPr lang="en-US" sz="1050" dirty="0">
                          <a:solidFill>
                            <a:schemeClr val="tx2">
                              <a:lumMod val="50000"/>
                              <a:lumOff val="50000"/>
                            </a:schemeClr>
                          </a:solidFill>
                        </a:rPr>
                        <a:t>Seat(s) Used</a:t>
                      </a:r>
                    </a:p>
                  </a:txBody>
                  <a:tcPr anchor="ctr">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a:buNone/>
                      </a:pPr>
                      <a:r>
                        <a:rPr lang="en-US" sz="1050">
                          <a:solidFill>
                            <a:schemeClr val="tx2">
                              <a:lumMod val="50000"/>
                              <a:lumOff val="50000"/>
                            </a:schemeClr>
                          </a:solidFill>
                        </a:rPr>
                        <a:t># People</a:t>
                      </a:r>
                    </a:p>
                  </a:txBody>
                  <a:tcPr anchor="ctr">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a:buNone/>
                      </a:pPr>
                      <a:r>
                        <a:rPr lang="en-US" sz="1050">
                          <a:solidFill>
                            <a:schemeClr val="tx2">
                              <a:lumMod val="50000"/>
                              <a:lumOff val="50000"/>
                            </a:schemeClr>
                          </a:solidFill>
                        </a:rPr>
                        <a:t>Time (min)</a:t>
                      </a:r>
                    </a:p>
                  </a:txBody>
                  <a:tcPr anchor="ctr">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a:buNone/>
                      </a:pPr>
                      <a:r>
                        <a:rPr lang="en-US" sz="1050">
                          <a:solidFill>
                            <a:schemeClr val="tx2">
                              <a:lumMod val="50000"/>
                              <a:lumOff val="50000"/>
                            </a:schemeClr>
                          </a:solidFill>
                        </a:rPr>
                        <a:t>Avg CO₂ (ppm)</a:t>
                      </a:r>
                    </a:p>
                  </a:txBody>
                  <a:tcPr anchor="ctr">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a:buNone/>
                      </a:pPr>
                      <a:r>
                        <a:rPr lang="en-US" sz="1050">
                          <a:solidFill>
                            <a:schemeClr val="tx2">
                              <a:lumMod val="50000"/>
                              <a:lumOff val="50000"/>
                            </a:schemeClr>
                          </a:solidFill>
                        </a:rPr>
                        <a:t>∆CO₂/min</a:t>
                      </a:r>
                    </a:p>
                  </a:txBody>
                  <a:tcPr anchor="ctr">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a:buNone/>
                      </a:pPr>
                      <a:r>
                        <a:rPr lang="en-US" sz="1050">
                          <a:solidFill>
                            <a:schemeClr val="tx2">
                              <a:lumMod val="50000"/>
                              <a:lumOff val="50000"/>
                            </a:schemeClr>
                          </a:solidFill>
                        </a:rPr>
                        <a:t>PIR Triggered?</a:t>
                      </a:r>
                    </a:p>
                  </a:txBody>
                  <a:tcPr anchor="ctr">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a:buNone/>
                      </a:pPr>
                      <a:r>
                        <a:rPr lang="en-US" sz="1050" dirty="0">
                          <a:solidFill>
                            <a:schemeClr val="tx2">
                              <a:lumMod val="50000"/>
                              <a:lumOff val="50000"/>
                            </a:schemeClr>
                          </a:solidFill>
                        </a:rPr>
                        <a:t>Accuracy vs GT</a:t>
                      </a:r>
                    </a:p>
                  </a:txBody>
                  <a:tcPr anchor="ctr">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4006431587"/>
                  </a:ext>
                </a:extLst>
              </a:tr>
              <a:tr h="180710">
                <a:tc>
                  <a:txBody>
                    <a:bodyPr/>
                    <a:lstStyle/>
                    <a:p>
                      <a:pPr algn="ctr">
                        <a:buNone/>
                      </a:pPr>
                      <a:r>
                        <a:rPr lang="en-US" sz="1050" dirty="0">
                          <a:solidFill>
                            <a:schemeClr val="tx1"/>
                          </a:solidFill>
                        </a:rPr>
                        <a:t>1A</a:t>
                      </a:r>
                    </a:p>
                  </a:txBody>
                  <a:tcPr anchor="ctr">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a:buNone/>
                      </a:pPr>
                      <a:r>
                        <a:rPr lang="en-US" sz="1050">
                          <a:solidFill>
                            <a:schemeClr val="tx1"/>
                          </a:solidFill>
                        </a:rPr>
                        <a:t>A</a:t>
                      </a:r>
                    </a:p>
                  </a:txBody>
                  <a:tcPr anchor="ctr">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a:buNone/>
                      </a:pPr>
                      <a:r>
                        <a:rPr lang="en-US" sz="1050" dirty="0">
                          <a:solidFill>
                            <a:schemeClr val="tx1"/>
                          </a:solidFill>
                        </a:rPr>
                        <a:t>1</a:t>
                      </a:r>
                    </a:p>
                  </a:txBody>
                  <a:tcPr anchor="ctr">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a:buNone/>
                      </a:pPr>
                      <a:r>
                        <a:rPr lang="en-US" sz="1050" dirty="0">
                          <a:solidFill>
                            <a:schemeClr val="tx1"/>
                          </a:solidFill>
                        </a:rPr>
                        <a:t>30</a:t>
                      </a:r>
                    </a:p>
                  </a:txBody>
                  <a:tcPr anchor="ctr">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a:buNone/>
                      </a:pPr>
                      <a:endParaRPr lang="en-US" sz="1050" dirty="0">
                        <a:solidFill>
                          <a:schemeClr val="tx1"/>
                        </a:solidFill>
                      </a:endParaRPr>
                    </a:p>
                  </a:txBody>
                  <a:tcPr anchor="ctr">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a:buNone/>
                      </a:pPr>
                      <a:endParaRPr lang="en-US" sz="1050" dirty="0">
                        <a:solidFill>
                          <a:schemeClr val="tx1"/>
                        </a:solidFill>
                      </a:endParaRPr>
                    </a:p>
                  </a:txBody>
                  <a:tcPr anchor="ctr">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a:buNone/>
                      </a:pPr>
                      <a:r>
                        <a:rPr lang="en-US" sz="1050" dirty="0">
                          <a:solidFill>
                            <a:schemeClr val="tx1"/>
                          </a:solidFill>
                        </a:rPr>
                        <a:t>Y/N</a:t>
                      </a:r>
                    </a:p>
                  </a:txBody>
                  <a:tcPr anchor="ctr">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a:buNone/>
                      </a:pPr>
                      <a:r>
                        <a:rPr lang="en-US" sz="1050" dirty="0">
                          <a:solidFill>
                            <a:schemeClr val="tx1"/>
                          </a:solidFill>
                        </a:rPr>
                        <a:t>%</a:t>
                      </a:r>
                    </a:p>
                  </a:txBody>
                  <a:tcPr anchor="ctr">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2716429484"/>
                  </a:ext>
                </a:extLst>
              </a:tr>
              <a:tr h="180710">
                <a:tc>
                  <a:txBody>
                    <a:bodyPr/>
                    <a:lstStyle/>
                    <a:p>
                      <a:pPr algn="ctr">
                        <a:buNone/>
                      </a:pPr>
                      <a:r>
                        <a:rPr lang="en-US" sz="1050" dirty="0">
                          <a:solidFill>
                            <a:schemeClr val="tx1"/>
                          </a:solidFill>
                        </a:rPr>
                        <a:t>2A</a:t>
                      </a:r>
                    </a:p>
                  </a:txBody>
                  <a:tcPr anchor="ctr">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a:buNone/>
                      </a:pPr>
                      <a:r>
                        <a:rPr lang="en-US" sz="1050">
                          <a:solidFill>
                            <a:schemeClr val="tx1"/>
                          </a:solidFill>
                        </a:rPr>
                        <a:t>...</a:t>
                      </a:r>
                    </a:p>
                  </a:txBody>
                  <a:tcPr anchor="ctr">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a:buNone/>
                      </a:pPr>
                      <a:r>
                        <a:rPr lang="en-US" sz="1050">
                          <a:solidFill>
                            <a:schemeClr val="tx1"/>
                          </a:solidFill>
                        </a:rPr>
                        <a:t>...</a:t>
                      </a:r>
                    </a:p>
                  </a:txBody>
                  <a:tcPr anchor="ctr">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a:buNone/>
                      </a:pPr>
                      <a:r>
                        <a:rPr lang="en-US" sz="1050">
                          <a:solidFill>
                            <a:schemeClr val="tx1"/>
                          </a:solidFill>
                        </a:rPr>
                        <a:t>...</a:t>
                      </a:r>
                    </a:p>
                  </a:txBody>
                  <a:tcPr anchor="ctr">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a:buNone/>
                      </a:pPr>
                      <a:r>
                        <a:rPr lang="en-US" sz="1050">
                          <a:solidFill>
                            <a:schemeClr val="tx1"/>
                          </a:solidFill>
                        </a:rPr>
                        <a:t>...</a:t>
                      </a:r>
                    </a:p>
                  </a:txBody>
                  <a:tcPr anchor="ctr">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a:buNone/>
                      </a:pPr>
                      <a:r>
                        <a:rPr lang="en-US" sz="1050">
                          <a:solidFill>
                            <a:schemeClr val="tx1"/>
                          </a:solidFill>
                        </a:rPr>
                        <a:t>...</a:t>
                      </a:r>
                    </a:p>
                  </a:txBody>
                  <a:tcPr anchor="ctr">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a:buNone/>
                      </a:pPr>
                      <a:r>
                        <a:rPr lang="en-US" sz="1050" dirty="0">
                          <a:solidFill>
                            <a:schemeClr val="tx1"/>
                          </a:solidFill>
                        </a:rPr>
                        <a:t>Y/N</a:t>
                      </a:r>
                    </a:p>
                  </a:txBody>
                  <a:tcPr anchor="ctr">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a:buNone/>
                      </a:pPr>
                      <a:r>
                        <a:rPr lang="en-US" sz="1050" dirty="0">
                          <a:solidFill>
                            <a:schemeClr val="tx1"/>
                          </a:solidFill>
                        </a:rPr>
                        <a:t>%</a:t>
                      </a:r>
                    </a:p>
                  </a:txBody>
                  <a:tcPr anchor="ctr">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285550858"/>
                  </a:ext>
                </a:extLst>
              </a:tr>
            </a:tbl>
          </a:graphicData>
        </a:graphic>
      </p:graphicFrame>
      <p:pic>
        <p:nvPicPr>
          <p:cNvPr id="7" name="Picture 6" descr="A drawing of a table and chairs&#10;&#10;AI-generated content may be incorrect.">
            <a:extLst>
              <a:ext uri="{FF2B5EF4-FFF2-40B4-BE49-F238E27FC236}">
                <a16:creationId xmlns:a16="http://schemas.microsoft.com/office/drawing/2014/main" id="{906E3D91-6217-2F78-B376-34FB05CB56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6733" y="2199244"/>
            <a:ext cx="2247765" cy="2459511"/>
          </a:xfrm>
          <a:prstGeom prst="rect">
            <a:avLst/>
          </a:prstGeom>
        </p:spPr>
      </p:pic>
      <p:sp>
        <p:nvSpPr>
          <p:cNvPr id="8" name="Google Shape;423;p21">
            <a:extLst>
              <a:ext uri="{FF2B5EF4-FFF2-40B4-BE49-F238E27FC236}">
                <a16:creationId xmlns:a16="http://schemas.microsoft.com/office/drawing/2014/main" id="{0721BE00-A119-6E49-2177-06803BB3BE38}"/>
              </a:ext>
            </a:extLst>
          </p:cNvPr>
          <p:cNvSpPr txBox="1"/>
          <p:nvPr/>
        </p:nvSpPr>
        <p:spPr>
          <a:xfrm>
            <a:off x="390708" y="416452"/>
            <a:ext cx="3104967" cy="618591"/>
          </a:xfrm>
          <a:prstGeom prst="rect">
            <a:avLst/>
          </a:prstGeom>
          <a:noFill/>
          <a:ln>
            <a:noFill/>
          </a:ln>
        </p:spPr>
        <p:txBody>
          <a:bodyPr spcFirstLastPara="1" wrap="square" lIns="91425" tIns="45700" rIns="91425" bIns="45700" anchor="t" anchorCtr="0">
            <a:spAutoFit/>
          </a:bodyPr>
          <a:lstStyle/>
          <a:p>
            <a:pPr lvl="0">
              <a:lnSpc>
                <a:spcPct val="90000"/>
              </a:lnSpc>
            </a:pPr>
            <a:r>
              <a:rPr lang="en-US" sz="2400" b="1" i="0" u="none" strike="noStrike" cap="none" dirty="0">
                <a:solidFill>
                  <a:srgbClr val="4892DC"/>
                </a:solidFill>
                <a:latin typeface="Arial"/>
                <a:ea typeface="Arial"/>
                <a:cs typeface="Arial"/>
                <a:sym typeface="Arial"/>
              </a:rPr>
              <a:t>1. </a:t>
            </a:r>
            <a:r>
              <a:rPr lang="en-US" sz="2400" b="1" dirty="0">
                <a:solidFill>
                  <a:srgbClr val="4892DC"/>
                </a:solidFill>
                <a:latin typeface="Arial"/>
                <a:ea typeface="Arial"/>
                <a:cs typeface="Arial"/>
                <a:sym typeface="Arial"/>
              </a:rPr>
              <a:t>PILOT </a:t>
            </a:r>
            <a:r>
              <a:rPr lang="en-US" sz="1400" dirty="0">
                <a:solidFill>
                  <a:srgbClr val="4892DC"/>
                </a:solidFill>
                <a:latin typeface="Arial"/>
                <a:ea typeface="Arial"/>
                <a:cs typeface="Arial"/>
                <a:sym typeface="Arial"/>
              </a:rPr>
              <a:t>STUDY:</a:t>
            </a:r>
            <a:br>
              <a:rPr lang="en-US" sz="1400" dirty="0">
                <a:solidFill>
                  <a:srgbClr val="4892DC"/>
                </a:solidFill>
                <a:latin typeface="Arial"/>
                <a:ea typeface="Arial"/>
                <a:cs typeface="Arial"/>
                <a:sym typeface="Arial"/>
              </a:rPr>
            </a:br>
            <a:r>
              <a:rPr lang="en-US" sz="1400" dirty="0">
                <a:solidFill>
                  <a:srgbClr val="4892DC"/>
                </a:solidFill>
                <a:latin typeface="Arial"/>
                <a:ea typeface="Arial"/>
                <a:cs typeface="Arial"/>
                <a:sym typeface="Arial"/>
              </a:rPr>
              <a:t>understanding the sensor</a:t>
            </a:r>
            <a:endParaRPr lang="en-US" u="none" strike="noStrike" cap="none" dirty="0">
              <a:solidFill>
                <a:srgbClr val="4892DC"/>
              </a:solidFill>
              <a:latin typeface="Arial"/>
              <a:ea typeface="Arial"/>
              <a:cs typeface="Arial"/>
              <a:sym typeface="Arial"/>
            </a:endParaRPr>
          </a:p>
        </p:txBody>
      </p:sp>
      <p:sp>
        <p:nvSpPr>
          <p:cNvPr id="11" name="TextBox 10">
            <a:extLst>
              <a:ext uri="{FF2B5EF4-FFF2-40B4-BE49-F238E27FC236}">
                <a16:creationId xmlns:a16="http://schemas.microsoft.com/office/drawing/2014/main" id="{9A9B758C-F10C-6DBA-12B6-9E57D3601211}"/>
              </a:ext>
            </a:extLst>
          </p:cNvPr>
          <p:cNvSpPr txBox="1"/>
          <p:nvPr/>
        </p:nvSpPr>
        <p:spPr>
          <a:xfrm>
            <a:off x="434066" y="1061313"/>
            <a:ext cx="4900863" cy="830997"/>
          </a:xfrm>
          <a:prstGeom prst="rect">
            <a:avLst/>
          </a:prstGeom>
          <a:noFill/>
        </p:spPr>
        <p:txBody>
          <a:bodyPr wrap="square">
            <a:spAutoFit/>
          </a:bodyPr>
          <a:lstStyle/>
          <a:p>
            <a:pPr algn="just"/>
            <a:r>
              <a:rPr lang="en-GB" sz="1200" dirty="0">
                <a:solidFill>
                  <a:schemeClr val="tx2">
                    <a:lumMod val="50000"/>
                    <a:lumOff val="50000"/>
                  </a:schemeClr>
                </a:solidFill>
              </a:rPr>
              <a:t>The pilot tests included several test scenarios to understand limitations of each logged parameter such as </a:t>
            </a:r>
            <a:r>
              <a:rPr lang="en-GB" sz="1200" b="1" dirty="0">
                <a:solidFill>
                  <a:schemeClr val="tx2">
                    <a:lumMod val="50000"/>
                    <a:lumOff val="50000"/>
                  </a:schemeClr>
                </a:solidFill>
              </a:rPr>
              <a:t>PIR </a:t>
            </a:r>
            <a:r>
              <a:rPr lang="en-GB" sz="1200" dirty="0">
                <a:solidFill>
                  <a:schemeClr val="tx2">
                    <a:lumMod val="50000"/>
                    <a:lumOff val="50000"/>
                  </a:schemeClr>
                </a:solidFill>
              </a:rPr>
              <a:t>and </a:t>
            </a:r>
            <a:r>
              <a:rPr lang="en-GB" sz="1200" b="1" dirty="0">
                <a:solidFill>
                  <a:schemeClr val="tx2">
                    <a:lumMod val="50000"/>
                    <a:lumOff val="50000"/>
                  </a:schemeClr>
                </a:solidFill>
              </a:rPr>
              <a:t>CO2</a:t>
            </a:r>
            <a:r>
              <a:rPr lang="en-GB" sz="1200" dirty="0">
                <a:solidFill>
                  <a:schemeClr val="tx2">
                    <a:lumMod val="50000"/>
                    <a:lumOff val="50000"/>
                  </a:schemeClr>
                </a:solidFill>
              </a:rPr>
              <a:t> etc. as well as validate the range covered by the sensor for each parameter as stated on the tech sheet. Such  as: </a:t>
            </a:r>
            <a:endParaRPr lang="en-IT" sz="1200" dirty="0">
              <a:solidFill>
                <a:schemeClr val="tx2">
                  <a:lumMod val="50000"/>
                  <a:lumOff val="50000"/>
                </a:schemeClr>
              </a:solidFill>
            </a:endParaRPr>
          </a:p>
        </p:txBody>
      </p:sp>
      <p:pic>
        <p:nvPicPr>
          <p:cNvPr id="12" name="Picture 11">
            <a:extLst>
              <a:ext uri="{FF2B5EF4-FFF2-40B4-BE49-F238E27FC236}">
                <a16:creationId xmlns:a16="http://schemas.microsoft.com/office/drawing/2014/main" id="{A862395E-A387-C990-BA70-23C2D49DF55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5725371" y="628797"/>
            <a:ext cx="6275805" cy="1325710"/>
          </a:xfrm>
          <a:prstGeom prst="rect">
            <a:avLst/>
          </a:prstGeom>
        </p:spPr>
      </p:pic>
      <p:sp>
        <p:nvSpPr>
          <p:cNvPr id="13" name="TextBox 12">
            <a:extLst>
              <a:ext uri="{FF2B5EF4-FFF2-40B4-BE49-F238E27FC236}">
                <a16:creationId xmlns:a16="http://schemas.microsoft.com/office/drawing/2014/main" id="{7F714495-B220-B91D-04CE-6EB3F7E05FD4}"/>
              </a:ext>
            </a:extLst>
          </p:cNvPr>
          <p:cNvSpPr txBox="1"/>
          <p:nvPr/>
        </p:nvSpPr>
        <p:spPr>
          <a:xfrm>
            <a:off x="1985803" y="5083477"/>
            <a:ext cx="4900863" cy="276999"/>
          </a:xfrm>
          <a:prstGeom prst="rect">
            <a:avLst/>
          </a:prstGeom>
          <a:noFill/>
        </p:spPr>
        <p:txBody>
          <a:bodyPr wrap="square">
            <a:spAutoFit/>
          </a:bodyPr>
          <a:lstStyle/>
          <a:p>
            <a:pPr algn="just"/>
            <a:r>
              <a:rPr lang="en-GB" sz="1200" dirty="0">
                <a:solidFill>
                  <a:schemeClr val="tx2">
                    <a:lumMod val="50000"/>
                    <a:lumOff val="50000"/>
                  </a:schemeClr>
                </a:solidFill>
              </a:rPr>
              <a:t>Result:</a:t>
            </a:r>
            <a:endParaRPr lang="en-IT" sz="1200" dirty="0">
              <a:solidFill>
                <a:schemeClr val="tx2">
                  <a:lumMod val="50000"/>
                  <a:lumOff val="50000"/>
                </a:schemeClr>
              </a:solidFill>
            </a:endParaRPr>
          </a:p>
        </p:txBody>
      </p:sp>
    </p:spTree>
    <p:extLst>
      <p:ext uri="{BB962C8B-B14F-4D97-AF65-F5344CB8AC3E}">
        <p14:creationId xmlns:p14="http://schemas.microsoft.com/office/powerpoint/2010/main" val="17280710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74">
          <a:extLst>
            <a:ext uri="{FF2B5EF4-FFF2-40B4-BE49-F238E27FC236}">
              <a16:creationId xmlns:a16="http://schemas.microsoft.com/office/drawing/2014/main" id="{4FD5B8F5-B091-1242-90FA-41D68657910C}"/>
            </a:ext>
          </a:extLst>
        </p:cNvPr>
        <p:cNvGrpSpPr/>
        <p:nvPr/>
      </p:nvGrpSpPr>
      <p:grpSpPr>
        <a:xfrm>
          <a:off x="0" y="0"/>
          <a:ext cx="0" cy="0"/>
          <a:chOff x="0" y="0"/>
          <a:chExt cx="0" cy="0"/>
        </a:xfrm>
      </p:grpSpPr>
      <p:sp>
        <p:nvSpPr>
          <p:cNvPr id="6" name="Google Shape;382;p20">
            <a:extLst>
              <a:ext uri="{FF2B5EF4-FFF2-40B4-BE49-F238E27FC236}">
                <a16:creationId xmlns:a16="http://schemas.microsoft.com/office/drawing/2014/main" id="{CA096587-155B-52E1-8731-9C3E149A8AE0}"/>
              </a:ext>
            </a:extLst>
          </p:cNvPr>
          <p:cNvSpPr txBox="1"/>
          <p:nvPr/>
        </p:nvSpPr>
        <p:spPr>
          <a:xfrm>
            <a:off x="1584758" y="2091312"/>
            <a:ext cx="3291378" cy="400069"/>
          </a:xfrm>
          <a:prstGeom prst="rect">
            <a:avLst/>
          </a:prstGeom>
          <a:noFill/>
          <a:ln>
            <a:noFill/>
          </a:ln>
        </p:spPr>
        <p:txBody>
          <a:bodyPr spcFirstLastPara="1" wrap="square" lIns="91425" tIns="45700" rIns="91425" bIns="45700" anchor="t" anchorCtr="0">
            <a:spAutoFit/>
          </a:bodyPr>
          <a:lstStyle/>
          <a:p>
            <a:pPr marL="457200" lvl="1" algn="just"/>
            <a:r>
              <a:rPr lang="it-IT" sz="1200" dirty="0">
                <a:solidFill>
                  <a:srgbClr val="000000"/>
                </a:solidFill>
                <a:latin typeface="Arial"/>
                <a:ea typeface="Arial"/>
                <a:cs typeface="Arial"/>
                <a:sym typeface="Arial"/>
              </a:rPr>
              <a:t>STEP</a:t>
            </a:r>
            <a:r>
              <a:rPr lang="it-IT" sz="1000" b="1" dirty="0">
                <a:solidFill>
                  <a:srgbClr val="000000"/>
                </a:solidFill>
                <a:latin typeface="Arial"/>
                <a:ea typeface="Arial"/>
                <a:cs typeface="Arial"/>
                <a:sym typeface="Arial"/>
              </a:rPr>
              <a:t> </a:t>
            </a:r>
            <a:r>
              <a:rPr lang="it-IT" sz="2000" b="1" dirty="0">
                <a:solidFill>
                  <a:schemeClr val="tx2">
                    <a:lumMod val="50000"/>
                    <a:lumOff val="50000"/>
                  </a:schemeClr>
                </a:solidFill>
                <a:latin typeface="Arial"/>
                <a:ea typeface="Arial"/>
                <a:cs typeface="Arial"/>
                <a:sym typeface="Arial"/>
              </a:rPr>
              <a:t>1</a:t>
            </a:r>
            <a:endParaRPr lang="it-IT" sz="1000" b="1" i="0" u="none" strike="noStrike" cap="none" dirty="0">
              <a:solidFill>
                <a:schemeClr val="tx2">
                  <a:lumMod val="50000"/>
                  <a:lumOff val="50000"/>
                </a:schemeClr>
              </a:solidFill>
              <a:latin typeface="Arial"/>
              <a:ea typeface="Arial"/>
              <a:cs typeface="Arial"/>
              <a:sym typeface="Arial"/>
            </a:endParaRPr>
          </a:p>
        </p:txBody>
      </p:sp>
      <p:cxnSp>
        <p:nvCxnSpPr>
          <p:cNvPr id="10" name="Google Shape;377;p20">
            <a:extLst>
              <a:ext uri="{FF2B5EF4-FFF2-40B4-BE49-F238E27FC236}">
                <a16:creationId xmlns:a16="http://schemas.microsoft.com/office/drawing/2014/main" id="{27E14826-EF88-6F75-0731-B11218272DC3}"/>
              </a:ext>
            </a:extLst>
          </p:cNvPr>
          <p:cNvCxnSpPr>
            <a:cxnSpLocks/>
          </p:cNvCxnSpPr>
          <p:nvPr/>
        </p:nvCxnSpPr>
        <p:spPr>
          <a:xfrm>
            <a:off x="2897062" y="2291346"/>
            <a:ext cx="2348286" cy="0"/>
          </a:xfrm>
          <a:prstGeom prst="straightConnector1">
            <a:avLst/>
          </a:prstGeom>
          <a:noFill/>
          <a:ln w="19050" cap="flat" cmpd="sng">
            <a:solidFill>
              <a:schemeClr val="accent4"/>
            </a:solidFill>
            <a:prstDash val="dash"/>
            <a:round/>
            <a:headEnd type="none" w="sm" len="sm"/>
            <a:tailEnd type="none" w="sm" len="sm"/>
          </a:ln>
        </p:spPr>
      </p:cxnSp>
      <p:pic>
        <p:nvPicPr>
          <p:cNvPr id="5" name="Picture 4" descr="A drawing of a table and chairs&#10;&#10;AI-generated content may be incorrect.">
            <a:extLst>
              <a:ext uri="{FF2B5EF4-FFF2-40B4-BE49-F238E27FC236}">
                <a16:creationId xmlns:a16="http://schemas.microsoft.com/office/drawing/2014/main" id="{0E1F87B5-C132-7BF8-F1CB-D872FC4EED7D}"/>
              </a:ext>
            </a:extLst>
          </p:cNvPr>
          <p:cNvPicPr>
            <a:picLocks noChangeAspect="1"/>
          </p:cNvPicPr>
          <p:nvPr/>
        </p:nvPicPr>
        <p:blipFill>
          <a:blip r:embed="rId3">
            <a:extLst>
              <a:ext uri="{28A0092B-C50C-407E-A947-70E740481C1C}">
                <a14:useLocalDpi xmlns:a14="http://schemas.microsoft.com/office/drawing/2010/main" val="0"/>
              </a:ext>
            </a:extLst>
          </a:blip>
          <a:srcRect r="6640" b="4956"/>
          <a:stretch>
            <a:fillRect/>
          </a:stretch>
        </p:blipFill>
        <p:spPr>
          <a:xfrm>
            <a:off x="2395308" y="3357982"/>
            <a:ext cx="2567182" cy="2850631"/>
          </a:xfrm>
          <a:prstGeom prst="rect">
            <a:avLst/>
          </a:prstGeom>
        </p:spPr>
      </p:pic>
      <p:sp>
        <p:nvSpPr>
          <p:cNvPr id="9" name="Rectangle 8">
            <a:extLst>
              <a:ext uri="{FF2B5EF4-FFF2-40B4-BE49-F238E27FC236}">
                <a16:creationId xmlns:a16="http://schemas.microsoft.com/office/drawing/2014/main" id="{72A23448-DF8E-AFF4-5451-D2B732683E1D}"/>
              </a:ext>
            </a:extLst>
          </p:cNvPr>
          <p:cNvSpPr/>
          <p:nvPr/>
        </p:nvSpPr>
        <p:spPr>
          <a:xfrm>
            <a:off x="4806246" y="4583968"/>
            <a:ext cx="100345" cy="172379"/>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dirty="0"/>
          </a:p>
        </p:txBody>
      </p:sp>
      <p:pic>
        <p:nvPicPr>
          <p:cNvPr id="35" name="Picture 34" descr="A diagram of a person's figure&#10;&#10;AI-generated content may be incorrect.">
            <a:extLst>
              <a:ext uri="{FF2B5EF4-FFF2-40B4-BE49-F238E27FC236}">
                <a16:creationId xmlns:a16="http://schemas.microsoft.com/office/drawing/2014/main" id="{BB6EA8BA-E329-C5F1-3F96-B47826947C22}"/>
              </a:ext>
            </a:extLst>
          </p:cNvPr>
          <p:cNvPicPr>
            <a:picLocks noChangeAspect="1"/>
          </p:cNvPicPr>
          <p:nvPr/>
        </p:nvPicPr>
        <p:blipFill>
          <a:blip r:embed="rId4">
            <a:extLst>
              <a:ext uri="{28A0092B-C50C-407E-A947-70E740481C1C}">
                <a14:useLocalDpi xmlns:a14="http://schemas.microsoft.com/office/drawing/2010/main" val="0"/>
              </a:ext>
            </a:extLst>
          </a:blip>
          <a:srcRect l="4028" r="65670"/>
          <a:stretch>
            <a:fillRect/>
          </a:stretch>
        </p:blipFill>
        <p:spPr>
          <a:xfrm>
            <a:off x="499059" y="3003074"/>
            <a:ext cx="1836616" cy="3492749"/>
          </a:xfrm>
          <a:prstGeom prst="rect">
            <a:avLst/>
          </a:prstGeom>
        </p:spPr>
      </p:pic>
      <p:sp>
        <p:nvSpPr>
          <p:cNvPr id="40" name="TextBox 39">
            <a:extLst>
              <a:ext uri="{FF2B5EF4-FFF2-40B4-BE49-F238E27FC236}">
                <a16:creationId xmlns:a16="http://schemas.microsoft.com/office/drawing/2014/main" id="{48A660B3-2305-BB80-09CF-E9A410E4FECE}"/>
              </a:ext>
            </a:extLst>
          </p:cNvPr>
          <p:cNvSpPr txBox="1"/>
          <p:nvPr/>
        </p:nvSpPr>
        <p:spPr>
          <a:xfrm>
            <a:off x="499059" y="6331077"/>
            <a:ext cx="4589879" cy="480901"/>
          </a:xfrm>
          <a:prstGeom prst="rect">
            <a:avLst/>
          </a:prstGeom>
          <a:noFill/>
        </p:spPr>
        <p:txBody>
          <a:bodyPr wrap="square">
            <a:spAutoFit/>
          </a:bodyPr>
          <a:lstStyle/>
          <a:p>
            <a:pPr lvl="0" algn="just">
              <a:lnSpc>
                <a:spcPct val="90000"/>
              </a:lnSpc>
            </a:pPr>
            <a:r>
              <a:rPr lang="en-US" sz="1000" dirty="0">
                <a:solidFill>
                  <a:schemeClr val="tx2">
                    <a:lumMod val="50000"/>
                    <a:lumOff val="50000"/>
                  </a:schemeClr>
                </a:solidFill>
              </a:rPr>
              <a:t>* </a:t>
            </a:r>
            <a:r>
              <a:rPr lang="en-US" sz="1000" dirty="0">
                <a:solidFill>
                  <a:schemeClr val="bg2">
                    <a:lumMod val="25000"/>
                  </a:schemeClr>
                </a:solidFill>
              </a:rPr>
              <a:t>  </a:t>
            </a:r>
            <a:r>
              <a:rPr lang="en-US" sz="900" i="1" dirty="0">
                <a:solidFill>
                  <a:schemeClr val="bg2">
                    <a:lumMod val="25000"/>
                  </a:schemeClr>
                </a:solidFill>
              </a:rPr>
              <a:t>Effective detection area: up to 7.5 m wide × 6.0 m deep under ideal conditions.</a:t>
            </a:r>
          </a:p>
          <a:p>
            <a:pPr lvl="0" algn="just">
              <a:lnSpc>
                <a:spcPct val="90000"/>
              </a:lnSpc>
            </a:pPr>
            <a:r>
              <a:rPr lang="en-US" sz="900" i="1" dirty="0">
                <a:solidFill>
                  <a:schemeClr val="tx2">
                    <a:lumMod val="50000"/>
                    <a:lumOff val="50000"/>
                  </a:schemeClr>
                </a:solidFill>
              </a:rPr>
              <a:t>**</a:t>
            </a:r>
            <a:r>
              <a:rPr lang="en-US" sz="900" i="1" dirty="0">
                <a:solidFill>
                  <a:schemeClr val="bg2">
                    <a:lumMod val="25000"/>
                  </a:schemeClr>
                </a:solidFill>
              </a:rPr>
              <a:t> </a:t>
            </a:r>
            <a:r>
              <a:rPr lang="en-US" sz="900" i="1" dirty="0"/>
              <a:t>After detecting motion, the PIR sensor goes into a 30-second "blanking" period. Not ideal for detecting still occupancy without some motion.</a:t>
            </a:r>
            <a:endParaRPr lang="en-US" sz="900" i="1" dirty="0">
              <a:solidFill>
                <a:schemeClr val="bg2">
                  <a:lumMod val="25000"/>
                </a:schemeClr>
              </a:solidFill>
            </a:endParaRPr>
          </a:p>
        </p:txBody>
      </p:sp>
      <p:sp>
        <p:nvSpPr>
          <p:cNvPr id="41" name="TextBox 40">
            <a:extLst>
              <a:ext uri="{FF2B5EF4-FFF2-40B4-BE49-F238E27FC236}">
                <a16:creationId xmlns:a16="http://schemas.microsoft.com/office/drawing/2014/main" id="{634FE304-6573-84A5-59FD-1E5BCB80F4EB}"/>
              </a:ext>
            </a:extLst>
          </p:cNvPr>
          <p:cNvSpPr txBox="1"/>
          <p:nvPr/>
        </p:nvSpPr>
        <p:spPr>
          <a:xfrm rot="5400000">
            <a:off x="4210722" y="5213373"/>
            <a:ext cx="1184984" cy="231730"/>
          </a:xfrm>
          <a:prstGeom prst="rect">
            <a:avLst/>
          </a:prstGeom>
          <a:noFill/>
        </p:spPr>
        <p:txBody>
          <a:bodyPr wrap="square">
            <a:spAutoFit/>
          </a:bodyPr>
          <a:lstStyle/>
          <a:p>
            <a:pPr lvl="0" algn="just">
              <a:lnSpc>
                <a:spcPct val="90000"/>
              </a:lnSpc>
            </a:pPr>
            <a:r>
              <a:rPr lang="en-US" sz="1000" dirty="0">
                <a:solidFill>
                  <a:schemeClr val="tx2">
                    <a:lumMod val="50000"/>
                    <a:lumOff val="50000"/>
                  </a:schemeClr>
                </a:solidFill>
              </a:rPr>
              <a:t>At 1.6m height</a:t>
            </a:r>
          </a:p>
        </p:txBody>
      </p:sp>
      <p:sp>
        <p:nvSpPr>
          <p:cNvPr id="42" name="TextBox 41">
            <a:extLst>
              <a:ext uri="{FF2B5EF4-FFF2-40B4-BE49-F238E27FC236}">
                <a16:creationId xmlns:a16="http://schemas.microsoft.com/office/drawing/2014/main" id="{539F2629-594F-673E-1EC0-E2DE4DCCD542}"/>
              </a:ext>
            </a:extLst>
          </p:cNvPr>
          <p:cNvSpPr txBox="1"/>
          <p:nvPr/>
        </p:nvSpPr>
        <p:spPr>
          <a:xfrm>
            <a:off x="3593129" y="3113916"/>
            <a:ext cx="1184984" cy="231730"/>
          </a:xfrm>
          <a:prstGeom prst="rect">
            <a:avLst/>
          </a:prstGeom>
          <a:noFill/>
        </p:spPr>
        <p:txBody>
          <a:bodyPr wrap="square">
            <a:spAutoFit/>
          </a:bodyPr>
          <a:lstStyle/>
          <a:p>
            <a:pPr lvl="0" algn="just">
              <a:lnSpc>
                <a:spcPct val="90000"/>
              </a:lnSpc>
            </a:pPr>
            <a:r>
              <a:rPr lang="en-US" sz="1000" dirty="0">
                <a:solidFill>
                  <a:schemeClr val="tx2">
                    <a:lumMod val="50000"/>
                    <a:lumOff val="50000"/>
                  </a:schemeClr>
                </a:solidFill>
              </a:rPr>
              <a:t>5 m detection</a:t>
            </a:r>
          </a:p>
        </p:txBody>
      </p:sp>
      <p:sp>
        <p:nvSpPr>
          <p:cNvPr id="43" name="Right Bracket 42">
            <a:extLst>
              <a:ext uri="{FF2B5EF4-FFF2-40B4-BE49-F238E27FC236}">
                <a16:creationId xmlns:a16="http://schemas.microsoft.com/office/drawing/2014/main" id="{2F288E62-3E84-2F8F-6B5E-C050B604DAA6}"/>
              </a:ext>
            </a:extLst>
          </p:cNvPr>
          <p:cNvSpPr/>
          <p:nvPr/>
        </p:nvSpPr>
        <p:spPr>
          <a:xfrm rot="16200000">
            <a:off x="3287982" y="1861427"/>
            <a:ext cx="106955" cy="3028189"/>
          </a:xfrm>
          <a:prstGeom prst="rightBracket">
            <a:avLst/>
          </a:prstGeom>
          <a:ln w="3175">
            <a:solidFill>
              <a:schemeClr val="tx2">
                <a:lumMod val="50000"/>
                <a:lumOff val="50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nl-NL"/>
          </a:p>
        </p:txBody>
      </p:sp>
      <p:sp>
        <p:nvSpPr>
          <p:cNvPr id="33" name="Isosceles Triangle 32">
            <a:extLst>
              <a:ext uri="{FF2B5EF4-FFF2-40B4-BE49-F238E27FC236}">
                <a16:creationId xmlns:a16="http://schemas.microsoft.com/office/drawing/2014/main" id="{C8A05EE4-E877-044E-3047-BF309308E172}"/>
              </a:ext>
            </a:extLst>
          </p:cNvPr>
          <p:cNvSpPr/>
          <p:nvPr/>
        </p:nvSpPr>
        <p:spPr>
          <a:xfrm rot="5400000">
            <a:off x="1908378" y="3110518"/>
            <a:ext cx="2796705" cy="3137872"/>
          </a:xfrm>
          <a:prstGeom prst="triangle">
            <a:avLst/>
          </a:prstGeom>
          <a:solidFill>
            <a:schemeClr val="tx2">
              <a:lumMod val="25000"/>
              <a:lumOff val="75000"/>
              <a:alpha val="2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dirty="0"/>
          </a:p>
        </p:txBody>
      </p:sp>
      <p:sp>
        <p:nvSpPr>
          <p:cNvPr id="4" name="TextBox 3">
            <a:extLst>
              <a:ext uri="{FF2B5EF4-FFF2-40B4-BE49-F238E27FC236}">
                <a16:creationId xmlns:a16="http://schemas.microsoft.com/office/drawing/2014/main" id="{4049BF07-664D-45E0-0EE2-AF87F086A9C2}"/>
              </a:ext>
            </a:extLst>
          </p:cNvPr>
          <p:cNvSpPr txBox="1"/>
          <p:nvPr/>
        </p:nvSpPr>
        <p:spPr>
          <a:xfrm>
            <a:off x="5745290" y="2005639"/>
            <a:ext cx="4935808" cy="1200329"/>
          </a:xfrm>
          <a:prstGeom prst="rect">
            <a:avLst/>
          </a:prstGeom>
          <a:noFill/>
        </p:spPr>
        <p:txBody>
          <a:bodyPr wrap="square">
            <a:spAutoFit/>
          </a:bodyPr>
          <a:lstStyle/>
          <a:p>
            <a:pPr marL="171450" indent="-171450" algn="just" rtl="0" fontAlgn="base">
              <a:buClr>
                <a:schemeClr val="tx2">
                  <a:lumMod val="50000"/>
                  <a:lumOff val="50000"/>
                </a:schemeClr>
              </a:buClr>
              <a:buFont typeface="Arial" panose="020B0604020202020204" pitchFamily="34" charset="0"/>
              <a:buChar char="•"/>
            </a:pPr>
            <a:r>
              <a:rPr lang="en-GB" sz="1200" b="0" i="0" u="none" strike="noStrike" dirty="0">
                <a:solidFill>
                  <a:srgbClr val="1F1F1F"/>
                </a:solidFill>
                <a:effectLst/>
              </a:rPr>
              <a:t>Validate which sensors work per space</a:t>
            </a:r>
          </a:p>
          <a:p>
            <a:pPr marL="171450" indent="-171450" algn="just" rtl="0" fontAlgn="base">
              <a:buClr>
                <a:schemeClr val="tx2">
                  <a:lumMod val="50000"/>
                  <a:lumOff val="50000"/>
                </a:schemeClr>
              </a:buClr>
              <a:buFont typeface="Arial" panose="020B0604020202020204" pitchFamily="34" charset="0"/>
              <a:buChar char="•"/>
            </a:pPr>
            <a:r>
              <a:rPr lang="en-GB" sz="1200" b="0" i="0" u="none" strike="noStrike" dirty="0">
                <a:solidFill>
                  <a:srgbClr val="1F1F1F"/>
                </a:solidFill>
                <a:effectLst/>
              </a:rPr>
              <a:t>Build feature extraction logic</a:t>
            </a:r>
          </a:p>
          <a:p>
            <a:pPr marL="171450" indent="-171450" algn="just" rtl="0" fontAlgn="base">
              <a:buClr>
                <a:schemeClr val="tx2">
                  <a:lumMod val="50000"/>
                  <a:lumOff val="50000"/>
                </a:schemeClr>
              </a:buClr>
              <a:buFont typeface="Arial" panose="020B0604020202020204" pitchFamily="34" charset="0"/>
              <a:buChar char="•"/>
            </a:pPr>
            <a:r>
              <a:rPr lang="en-GB" sz="1200" b="0" i="0" u="none" strike="noStrike" dirty="0">
                <a:solidFill>
                  <a:srgbClr val="1F1F1F"/>
                </a:solidFill>
                <a:effectLst/>
              </a:rPr>
              <a:t>Design a decision-tree for future deployment (based on room type, door state, etc.)</a:t>
            </a:r>
          </a:p>
          <a:p>
            <a:pPr marL="171450" indent="-171450" algn="just" rtl="0" fontAlgn="base">
              <a:buClr>
                <a:schemeClr val="tx2">
                  <a:lumMod val="50000"/>
                  <a:lumOff val="50000"/>
                </a:schemeClr>
              </a:buClr>
              <a:buFont typeface="Arial" panose="020B0604020202020204" pitchFamily="34" charset="0"/>
              <a:buChar char="•"/>
            </a:pPr>
            <a:r>
              <a:rPr lang="en-GB" sz="1200" b="0" i="0" u="none" strike="noStrike" dirty="0">
                <a:solidFill>
                  <a:srgbClr val="1F1F1F"/>
                </a:solidFill>
                <a:effectLst/>
              </a:rPr>
              <a:t>Train small models using </a:t>
            </a:r>
            <a:r>
              <a:rPr lang="en-GB" sz="1200" dirty="0">
                <a:solidFill>
                  <a:srgbClr val="1F1F1F"/>
                </a:solidFill>
              </a:rPr>
              <a:t>ground truth</a:t>
            </a:r>
            <a:r>
              <a:rPr lang="en-GB" sz="1200" b="0" i="0" u="none" strike="noStrike" dirty="0">
                <a:solidFill>
                  <a:srgbClr val="1F1F1F"/>
                </a:solidFill>
                <a:effectLst/>
              </a:rPr>
              <a:t> data (QR surveys set up in rooms) to estimate headcount vs. truth</a:t>
            </a:r>
          </a:p>
        </p:txBody>
      </p:sp>
      <p:sp>
        <p:nvSpPr>
          <p:cNvPr id="8" name="TextBox 7">
            <a:extLst>
              <a:ext uri="{FF2B5EF4-FFF2-40B4-BE49-F238E27FC236}">
                <a16:creationId xmlns:a16="http://schemas.microsoft.com/office/drawing/2014/main" id="{C99B8384-308D-4716-4823-57EDA952F7BB}"/>
              </a:ext>
            </a:extLst>
          </p:cNvPr>
          <p:cNvSpPr txBox="1"/>
          <p:nvPr/>
        </p:nvSpPr>
        <p:spPr>
          <a:xfrm>
            <a:off x="5754563" y="1813550"/>
            <a:ext cx="4935808" cy="276999"/>
          </a:xfrm>
          <a:prstGeom prst="rect">
            <a:avLst/>
          </a:prstGeom>
          <a:noFill/>
        </p:spPr>
        <p:txBody>
          <a:bodyPr wrap="square">
            <a:spAutoFit/>
          </a:bodyPr>
          <a:lstStyle/>
          <a:p>
            <a:pPr marL="171450" indent="-171450" algn="just" rtl="0" fontAlgn="base">
              <a:buClr>
                <a:schemeClr val="tx2">
                  <a:lumMod val="50000"/>
                  <a:lumOff val="50000"/>
                </a:schemeClr>
              </a:buClr>
              <a:buFont typeface="Arial" panose="020B0604020202020204" pitchFamily="34" charset="0"/>
              <a:buChar char="•"/>
            </a:pPr>
            <a:r>
              <a:rPr lang="en-GB" sz="1200" dirty="0">
                <a:solidFill>
                  <a:srgbClr val="1F1F1F"/>
                </a:solidFill>
              </a:rPr>
              <a:t>Historical Data check</a:t>
            </a:r>
            <a:endParaRPr lang="en-GB" sz="1200" b="0" i="0" u="none" strike="noStrike" dirty="0">
              <a:solidFill>
                <a:srgbClr val="1F1F1F"/>
              </a:solidFill>
              <a:effectLst/>
            </a:endParaRPr>
          </a:p>
        </p:txBody>
      </p:sp>
      <p:sp>
        <p:nvSpPr>
          <p:cNvPr id="15" name="TextBox 14">
            <a:extLst>
              <a:ext uri="{FF2B5EF4-FFF2-40B4-BE49-F238E27FC236}">
                <a16:creationId xmlns:a16="http://schemas.microsoft.com/office/drawing/2014/main" id="{C71FE198-B819-3536-7E55-18DB946F00FB}"/>
              </a:ext>
            </a:extLst>
          </p:cNvPr>
          <p:cNvSpPr txBox="1">
            <a:spLocks/>
          </p:cNvSpPr>
          <p:nvPr/>
        </p:nvSpPr>
        <p:spPr>
          <a:xfrm>
            <a:off x="5318871" y="4550549"/>
            <a:ext cx="558565" cy="231730"/>
          </a:xfrm>
          <a:prstGeom prst="rect">
            <a:avLst/>
          </a:prstGeom>
          <a:solidFill>
            <a:schemeClr val="bg1"/>
          </a:solidFill>
          <a:ln w="3175">
            <a:solidFill>
              <a:schemeClr val="tx2">
                <a:lumMod val="50000"/>
                <a:lumOff val="50000"/>
              </a:schemeClr>
            </a:solidFill>
          </a:ln>
        </p:spPr>
        <p:txBody>
          <a:bodyPr wrap="square">
            <a:spAutoFit/>
          </a:bodyPr>
          <a:lstStyle/>
          <a:p>
            <a:pPr lvl="0" algn="ctr">
              <a:lnSpc>
                <a:spcPct val="90000"/>
              </a:lnSpc>
            </a:pPr>
            <a:r>
              <a:rPr lang="en-US" sz="1000" dirty="0">
                <a:solidFill>
                  <a:schemeClr val="tx2">
                    <a:lumMod val="50000"/>
                    <a:lumOff val="50000"/>
                  </a:schemeClr>
                </a:solidFill>
              </a:rPr>
              <a:t>Sensi</a:t>
            </a:r>
            <a:endParaRPr lang="en-US" sz="1000" b="1" dirty="0">
              <a:solidFill>
                <a:schemeClr val="tx2">
                  <a:lumMod val="50000"/>
                  <a:lumOff val="50000"/>
                </a:schemeClr>
              </a:solidFill>
            </a:endParaRPr>
          </a:p>
        </p:txBody>
      </p:sp>
      <p:cxnSp>
        <p:nvCxnSpPr>
          <p:cNvPr id="18" name="Straight Connector 17">
            <a:extLst>
              <a:ext uri="{FF2B5EF4-FFF2-40B4-BE49-F238E27FC236}">
                <a16:creationId xmlns:a16="http://schemas.microsoft.com/office/drawing/2014/main" id="{1FCAB61C-B5C1-A82B-E1F2-1CFB69C72621}"/>
              </a:ext>
            </a:extLst>
          </p:cNvPr>
          <p:cNvCxnSpPr>
            <a:cxnSpLocks/>
            <a:endCxn id="15" idx="1"/>
          </p:cNvCxnSpPr>
          <p:nvPr/>
        </p:nvCxnSpPr>
        <p:spPr>
          <a:xfrm flipV="1">
            <a:off x="4881518" y="4666414"/>
            <a:ext cx="437353" cy="593"/>
          </a:xfrm>
          <a:prstGeom prst="line">
            <a:avLst/>
          </a:prstGeom>
          <a:ln w="6350">
            <a:solidFill>
              <a:schemeClr val="tx2">
                <a:lumMod val="50000"/>
                <a:lumOff val="50000"/>
              </a:schemeClr>
            </a:solidFill>
          </a:ln>
        </p:spPr>
        <p:style>
          <a:lnRef idx="2">
            <a:schemeClr val="accent1"/>
          </a:lnRef>
          <a:fillRef idx="0">
            <a:schemeClr val="accent1"/>
          </a:fillRef>
          <a:effectRef idx="1">
            <a:schemeClr val="accent1"/>
          </a:effectRef>
          <a:fontRef idx="minor">
            <a:schemeClr val="tx1"/>
          </a:fontRef>
        </p:style>
      </p:cxnSp>
      <p:sp>
        <p:nvSpPr>
          <p:cNvPr id="2" name="TextBox 1">
            <a:extLst>
              <a:ext uri="{FF2B5EF4-FFF2-40B4-BE49-F238E27FC236}">
                <a16:creationId xmlns:a16="http://schemas.microsoft.com/office/drawing/2014/main" id="{D959BF2A-AD1F-4AE3-9892-B4E6F820681C}"/>
              </a:ext>
            </a:extLst>
          </p:cNvPr>
          <p:cNvSpPr txBox="1"/>
          <p:nvPr/>
        </p:nvSpPr>
        <p:spPr>
          <a:xfrm>
            <a:off x="5981774" y="5925196"/>
            <a:ext cx="4930867" cy="646331"/>
          </a:xfrm>
          <a:prstGeom prst="rect">
            <a:avLst/>
          </a:prstGeom>
          <a:noFill/>
        </p:spPr>
        <p:txBody>
          <a:bodyPr wrap="square">
            <a:spAutoFit/>
          </a:bodyPr>
          <a:lstStyle/>
          <a:p>
            <a:pPr algn="just"/>
            <a:r>
              <a:rPr lang="en-GB" sz="1200" dirty="0">
                <a:solidFill>
                  <a:schemeClr val="tx2">
                    <a:lumMod val="50000"/>
                    <a:lumOff val="50000"/>
                  </a:schemeClr>
                </a:solidFill>
              </a:rPr>
              <a:t>There is no one-size-fits-all sensor solution for occupancy estimation. But there can be a generalizable framework that adapts to space type and data quality.</a:t>
            </a:r>
            <a:endParaRPr lang="en-IT" sz="1200" dirty="0">
              <a:solidFill>
                <a:schemeClr val="tx2">
                  <a:lumMod val="50000"/>
                  <a:lumOff val="50000"/>
                </a:schemeClr>
              </a:solidFill>
            </a:endParaRPr>
          </a:p>
        </p:txBody>
      </p:sp>
      <p:sp>
        <p:nvSpPr>
          <p:cNvPr id="3" name="Google Shape;423;p21">
            <a:extLst>
              <a:ext uri="{FF2B5EF4-FFF2-40B4-BE49-F238E27FC236}">
                <a16:creationId xmlns:a16="http://schemas.microsoft.com/office/drawing/2014/main" id="{32FF4191-F82F-082E-6BD1-09C76D62A24A}"/>
              </a:ext>
            </a:extLst>
          </p:cNvPr>
          <p:cNvSpPr txBox="1"/>
          <p:nvPr/>
        </p:nvSpPr>
        <p:spPr>
          <a:xfrm>
            <a:off x="379614" y="487690"/>
            <a:ext cx="4084102" cy="618591"/>
          </a:xfrm>
          <a:prstGeom prst="rect">
            <a:avLst/>
          </a:prstGeom>
          <a:noFill/>
          <a:ln>
            <a:noFill/>
          </a:ln>
        </p:spPr>
        <p:txBody>
          <a:bodyPr spcFirstLastPara="1" wrap="square" lIns="91425" tIns="45700" rIns="91425" bIns="45700" anchor="t" anchorCtr="0">
            <a:spAutoFit/>
          </a:bodyPr>
          <a:lstStyle/>
          <a:p>
            <a:pPr lvl="0">
              <a:lnSpc>
                <a:spcPct val="90000"/>
              </a:lnSpc>
            </a:pPr>
            <a:r>
              <a:rPr lang="en-US" sz="2400" b="1" dirty="0">
                <a:solidFill>
                  <a:srgbClr val="4892DC"/>
                </a:solidFill>
                <a:latin typeface="Arial"/>
                <a:ea typeface="Arial"/>
                <a:cs typeface="Arial"/>
                <a:sym typeface="Arial"/>
              </a:rPr>
              <a:t>2. PILOT </a:t>
            </a:r>
            <a:r>
              <a:rPr lang="en-US" sz="1400" dirty="0">
                <a:solidFill>
                  <a:srgbClr val="4892DC"/>
                </a:solidFill>
                <a:latin typeface="Arial"/>
                <a:ea typeface="Arial"/>
                <a:cs typeface="Arial"/>
                <a:sym typeface="Arial"/>
              </a:rPr>
              <a:t>TESTING</a:t>
            </a:r>
            <a:br>
              <a:rPr lang="en-US" sz="1400" dirty="0">
                <a:solidFill>
                  <a:srgbClr val="4892DC"/>
                </a:solidFill>
                <a:latin typeface="Arial"/>
                <a:ea typeface="Arial"/>
                <a:cs typeface="Arial"/>
                <a:sym typeface="Arial"/>
              </a:rPr>
            </a:br>
            <a:r>
              <a:rPr lang="en-US" sz="1400" dirty="0">
                <a:solidFill>
                  <a:srgbClr val="4892DC"/>
                </a:solidFill>
                <a:latin typeface="Arial"/>
                <a:ea typeface="Arial"/>
                <a:cs typeface="Arial"/>
                <a:sym typeface="Arial"/>
              </a:rPr>
              <a:t>IEQ occupancy vs. ground truth testing</a:t>
            </a:r>
          </a:p>
        </p:txBody>
      </p:sp>
      <p:sp>
        <p:nvSpPr>
          <p:cNvPr id="12" name="TextBox 11">
            <a:extLst>
              <a:ext uri="{FF2B5EF4-FFF2-40B4-BE49-F238E27FC236}">
                <a16:creationId xmlns:a16="http://schemas.microsoft.com/office/drawing/2014/main" id="{56D4B8FE-D260-A79F-4978-0FDBBB86F793}"/>
              </a:ext>
            </a:extLst>
          </p:cNvPr>
          <p:cNvSpPr txBox="1">
            <a:spLocks/>
          </p:cNvSpPr>
          <p:nvPr/>
        </p:nvSpPr>
        <p:spPr>
          <a:xfrm>
            <a:off x="4066660" y="2040546"/>
            <a:ext cx="1530029" cy="231730"/>
          </a:xfrm>
          <a:prstGeom prst="rect">
            <a:avLst/>
          </a:prstGeom>
          <a:noFill/>
        </p:spPr>
        <p:txBody>
          <a:bodyPr wrap="square">
            <a:spAutoFit/>
          </a:bodyPr>
          <a:lstStyle/>
          <a:p>
            <a:pPr lvl="0" algn="just">
              <a:lnSpc>
                <a:spcPct val="90000"/>
              </a:lnSpc>
            </a:pPr>
            <a:r>
              <a:rPr lang="en-US" sz="1000" i="1" dirty="0">
                <a:solidFill>
                  <a:schemeClr val="bg2">
                    <a:lumMod val="75000"/>
                  </a:schemeClr>
                </a:solidFill>
              </a:rPr>
              <a:t>(Blazevic et al. </a:t>
            </a:r>
            <a:r>
              <a:rPr lang="en-US" sz="1000" i="1" dirty="0">
                <a:solidFill>
                  <a:schemeClr val="bg2">
                    <a:lumMod val="75000"/>
                  </a:schemeClr>
                </a:solidFill>
                <a:hlinkClick r:id="rId5"/>
              </a:rPr>
              <a:t>2024</a:t>
            </a:r>
            <a:r>
              <a:rPr lang="en-US" sz="1000" i="1" dirty="0">
                <a:solidFill>
                  <a:schemeClr val="bg2">
                    <a:lumMod val="75000"/>
                  </a:schemeClr>
                </a:solidFill>
              </a:rPr>
              <a:t>)</a:t>
            </a:r>
          </a:p>
        </p:txBody>
      </p:sp>
      <p:sp>
        <p:nvSpPr>
          <p:cNvPr id="13" name="TextBox 12">
            <a:extLst>
              <a:ext uri="{FF2B5EF4-FFF2-40B4-BE49-F238E27FC236}">
                <a16:creationId xmlns:a16="http://schemas.microsoft.com/office/drawing/2014/main" id="{D8DBB6DA-AB7C-AAEE-CC56-75E4EFDD4856}"/>
              </a:ext>
            </a:extLst>
          </p:cNvPr>
          <p:cNvSpPr txBox="1"/>
          <p:nvPr/>
        </p:nvSpPr>
        <p:spPr>
          <a:xfrm>
            <a:off x="780015" y="1142220"/>
            <a:ext cx="4900863" cy="830997"/>
          </a:xfrm>
          <a:prstGeom prst="rect">
            <a:avLst/>
          </a:prstGeom>
          <a:noFill/>
        </p:spPr>
        <p:txBody>
          <a:bodyPr wrap="square">
            <a:spAutoFit/>
          </a:bodyPr>
          <a:lstStyle/>
          <a:p>
            <a:pPr algn="just"/>
            <a:r>
              <a:rPr lang="en-GB" sz="1200" dirty="0">
                <a:solidFill>
                  <a:schemeClr val="tx2">
                    <a:lumMod val="50000"/>
                    <a:lumOff val="50000"/>
                  </a:schemeClr>
                </a:solidFill>
              </a:rPr>
              <a:t>The pilot tests included several test scenarios to understand limitations of each logged parameter such as</a:t>
            </a:r>
            <a:r>
              <a:rPr lang="en-GB" sz="1200" b="1" dirty="0">
                <a:solidFill>
                  <a:schemeClr val="tx2">
                    <a:lumMod val="50000"/>
                    <a:lumOff val="50000"/>
                  </a:schemeClr>
                </a:solidFill>
              </a:rPr>
              <a:t> PIR </a:t>
            </a:r>
            <a:r>
              <a:rPr lang="en-GB" sz="1200" dirty="0">
                <a:solidFill>
                  <a:schemeClr val="tx2">
                    <a:lumMod val="50000"/>
                    <a:lumOff val="50000"/>
                  </a:schemeClr>
                </a:solidFill>
              </a:rPr>
              <a:t>and </a:t>
            </a:r>
            <a:r>
              <a:rPr lang="en-GB" sz="1200" b="1" dirty="0">
                <a:solidFill>
                  <a:schemeClr val="tx2">
                    <a:lumMod val="50000"/>
                    <a:lumOff val="50000"/>
                  </a:schemeClr>
                </a:solidFill>
              </a:rPr>
              <a:t>CO2</a:t>
            </a:r>
            <a:r>
              <a:rPr lang="en-GB" sz="1200" dirty="0">
                <a:solidFill>
                  <a:schemeClr val="tx2">
                    <a:lumMod val="50000"/>
                    <a:lumOff val="50000"/>
                  </a:schemeClr>
                </a:solidFill>
              </a:rPr>
              <a:t> etc. as well as validate the range covered by the sensor for each parameter as stated on the tech sheet. Such  as: </a:t>
            </a:r>
            <a:endParaRPr lang="en-IT" sz="1200" dirty="0">
              <a:solidFill>
                <a:schemeClr val="tx2">
                  <a:lumMod val="50000"/>
                  <a:lumOff val="50000"/>
                </a:schemeClr>
              </a:solidFill>
            </a:endParaRPr>
          </a:p>
        </p:txBody>
      </p:sp>
      <p:sp>
        <p:nvSpPr>
          <p:cNvPr id="14" name="Google Shape;382;p20">
            <a:extLst>
              <a:ext uri="{FF2B5EF4-FFF2-40B4-BE49-F238E27FC236}">
                <a16:creationId xmlns:a16="http://schemas.microsoft.com/office/drawing/2014/main" id="{6F295299-DD41-3CE7-4090-307EB87A4BE2}"/>
              </a:ext>
            </a:extLst>
          </p:cNvPr>
          <p:cNvSpPr txBox="1"/>
          <p:nvPr/>
        </p:nvSpPr>
        <p:spPr>
          <a:xfrm>
            <a:off x="2302763" y="2000114"/>
            <a:ext cx="3291378" cy="246181"/>
          </a:xfrm>
          <a:prstGeom prst="rect">
            <a:avLst/>
          </a:prstGeom>
          <a:noFill/>
          <a:ln>
            <a:noFill/>
          </a:ln>
        </p:spPr>
        <p:txBody>
          <a:bodyPr spcFirstLastPara="1" wrap="square" lIns="91425" tIns="45700" rIns="91425" bIns="45700" anchor="t" anchorCtr="0">
            <a:spAutoFit/>
          </a:bodyPr>
          <a:lstStyle/>
          <a:p>
            <a:pPr marL="457200" lvl="1" algn="just"/>
            <a:r>
              <a:rPr lang="it-IT" sz="1000" dirty="0">
                <a:solidFill>
                  <a:schemeClr val="tx2">
                    <a:lumMod val="50000"/>
                    <a:lumOff val="50000"/>
                  </a:schemeClr>
                </a:solidFill>
                <a:latin typeface="Arial"/>
                <a:ea typeface="Arial"/>
                <a:cs typeface="Arial"/>
                <a:sym typeface="Arial"/>
              </a:rPr>
              <a:t>CO2</a:t>
            </a:r>
            <a:endParaRPr lang="it-IT" sz="1000" b="0" i="0" u="none" strike="noStrike" cap="none" baseline="-25000" dirty="0">
              <a:solidFill>
                <a:schemeClr val="tx2">
                  <a:lumMod val="50000"/>
                  <a:lumOff val="50000"/>
                </a:schemeClr>
              </a:solidFill>
              <a:latin typeface="Arial"/>
              <a:ea typeface="Arial"/>
              <a:cs typeface="Arial"/>
              <a:sym typeface="Arial"/>
            </a:endParaRPr>
          </a:p>
        </p:txBody>
      </p:sp>
    </p:spTree>
    <p:extLst>
      <p:ext uri="{BB962C8B-B14F-4D97-AF65-F5344CB8AC3E}">
        <p14:creationId xmlns:p14="http://schemas.microsoft.com/office/powerpoint/2010/main" val="38329670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74">
          <a:extLst>
            <a:ext uri="{FF2B5EF4-FFF2-40B4-BE49-F238E27FC236}">
              <a16:creationId xmlns:a16="http://schemas.microsoft.com/office/drawing/2014/main" id="{D7C54D4B-04F5-E1ED-731C-A47A5486203D}"/>
            </a:ext>
          </a:extLst>
        </p:cNvPr>
        <p:cNvGrpSpPr/>
        <p:nvPr/>
      </p:nvGrpSpPr>
      <p:grpSpPr>
        <a:xfrm>
          <a:off x="0" y="0"/>
          <a:ext cx="0" cy="0"/>
          <a:chOff x="0" y="0"/>
          <a:chExt cx="0" cy="0"/>
        </a:xfrm>
      </p:grpSpPr>
      <p:pic>
        <p:nvPicPr>
          <p:cNvPr id="16" name="Picture 15">
            <a:extLst>
              <a:ext uri="{FF2B5EF4-FFF2-40B4-BE49-F238E27FC236}">
                <a16:creationId xmlns:a16="http://schemas.microsoft.com/office/drawing/2014/main" id="{A270F60C-CE62-1BC2-DC6D-77ADB9CACF8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335675" y="784328"/>
            <a:ext cx="2760411" cy="604237"/>
          </a:xfrm>
          <a:prstGeom prst="rect">
            <a:avLst/>
          </a:prstGeom>
        </p:spPr>
      </p:pic>
      <p:sp>
        <p:nvSpPr>
          <p:cNvPr id="17" name="TextBox 16">
            <a:extLst>
              <a:ext uri="{FF2B5EF4-FFF2-40B4-BE49-F238E27FC236}">
                <a16:creationId xmlns:a16="http://schemas.microsoft.com/office/drawing/2014/main" id="{39444DF7-2ECB-9C15-1614-54817C963C9E}"/>
              </a:ext>
            </a:extLst>
          </p:cNvPr>
          <p:cNvSpPr txBox="1"/>
          <p:nvPr/>
        </p:nvSpPr>
        <p:spPr>
          <a:xfrm>
            <a:off x="2123402" y="1366266"/>
            <a:ext cx="3000533" cy="1478225"/>
          </a:xfrm>
          <a:prstGeom prst="rect">
            <a:avLst/>
          </a:prstGeom>
          <a:noFill/>
        </p:spPr>
        <p:txBody>
          <a:bodyPr wrap="square">
            <a:spAutoFit/>
          </a:bodyPr>
          <a:lstStyle/>
          <a:p>
            <a:pPr lvl="0" algn="just">
              <a:lnSpc>
                <a:spcPct val="90000"/>
              </a:lnSpc>
            </a:pPr>
            <a:r>
              <a:rPr lang="en-US" sz="1000" dirty="0">
                <a:solidFill>
                  <a:schemeClr val="bg2">
                    <a:lumMod val="25000"/>
                  </a:schemeClr>
                </a:solidFill>
              </a:rPr>
              <a:t>The mean of the accuracy for all days pr. Sensor will be used to determine the overall mean and confidence interval for the sensors, where:</a:t>
            </a:r>
            <a:br>
              <a:rPr lang="en-US" sz="1000" dirty="0">
                <a:solidFill>
                  <a:schemeClr val="bg2">
                    <a:lumMod val="25000"/>
                  </a:schemeClr>
                </a:solidFill>
              </a:rPr>
            </a:br>
            <a:endParaRPr lang="en-US" sz="1000" dirty="0">
              <a:solidFill>
                <a:schemeClr val="bg2">
                  <a:lumMod val="25000"/>
                </a:schemeClr>
              </a:solidFill>
            </a:endParaRPr>
          </a:p>
          <a:p>
            <a:pPr lvl="0" algn="just">
              <a:lnSpc>
                <a:spcPct val="90000"/>
              </a:lnSpc>
            </a:pPr>
            <a:r>
              <a:rPr lang="en-US" sz="1000" i="1" dirty="0">
                <a:solidFill>
                  <a:schemeClr val="bg2">
                    <a:lumMod val="25000"/>
                  </a:schemeClr>
                </a:solidFill>
              </a:rPr>
              <a:t>OC</a:t>
            </a:r>
            <a:r>
              <a:rPr lang="en-US" sz="1000" i="1" baseline="-25000" dirty="0">
                <a:solidFill>
                  <a:schemeClr val="bg2">
                    <a:lumMod val="25000"/>
                  </a:schemeClr>
                </a:solidFill>
              </a:rPr>
              <a:t>PIR</a:t>
            </a:r>
            <a:r>
              <a:rPr lang="en-US" sz="1000" dirty="0">
                <a:solidFill>
                  <a:schemeClr val="bg2">
                    <a:lumMod val="25000"/>
                  </a:schemeClr>
                </a:solidFill>
              </a:rPr>
              <a:t> is the occupant count based on </a:t>
            </a:r>
            <a:r>
              <a:rPr lang="en-US" sz="1000" i="1" dirty="0">
                <a:solidFill>
                  <a:schemeClr val="bg2">
                    <a:lumMod val="25000"/>
                  </a:schemeClr>
                </a:solidFill>
              </a:rPr>
              <a:t>PIR</a:t>
            </a:r>
          </a:p>
          <a:p>
            <a:pPr algn="just">
              <a:lnSpc>
                <a:spcPct val="90000"/>
              </a:lnSpc>
            </a:pPr>
            <a:r>
              <a:rPr lang="en-US" sz="1000" i="1" dirty="0">
                <a:solidFill>
                  <a:schemeClr val="bg2">
                    <a:lumMod val="25000"/>
                  </a:schemeClr>
                </a:solidFill>
              </a:rPr>
              <a:t>OC</a:t>
            </a:r>
            <a:r>
              <a:rPr lang="en-US" sz="1000" i="1" baseline="-25000" dirty="0">
                <a:solidFill>
                  <a:schemeClr val="bg2">
                    <a:lumMod val="25000"/>
                  </a:schemeClr>
                </a:solidFill>
              </a:rPr>
              <a:t>GT </a:t>
            </a:r>
            <a:r>
              <a:rPr lang="en-US" sz="1000" dirty="0">
                <a:solidFill>
                  <a:schemeClr val="bg2">
                    <a:lumMod val="25000"/>
                  </a:schemeClr>
                </a:solidFill>
              </a:rPr>
              <a:t>is the occupant count based on Ground Truth </a:t>
            </a:r>
            <a:r>
              <a:rPr lang="en-US" sz="1000" i="1" dirty="0">
                <a:solidFill>
                  <a:schemeClr val="bg2">
                    <a:lumMod val="25000"/>
                  </a:schemeClr>
                </a:solidFill>
              </a:rPr>
              <a:t>GT</a:t>
            </a:r>
          </a:p>
          <a:p>
            <a:pPr algn="just">
              <a:lnSpc>
                <a:spcPct val="90000"/>
              </a:lnSpc>
            </a:pPr>
            <a:r>
              <a:rPr lang="en-US" sz="1000" i="1" dirty="0">
                <a:solidFill>
                  <a:schemeClr val="bg2">
                    <a:lumMod val="25000"/>
                  </a:schemeClr>
                </a:solidFill>
              </a:rPr>
              <a:t>Sample size (n)</a:t>
            </a:r>
            <a:r>
              <a:rPr lang="en-US" sz="1000" b="1" i="1" dirty="0">
                <a:solidFill>
                  <a:schemeClr val="bg2">
                    <a:lumMod val="25000"/>
                  </a:schemeClr>
                </a:solidFill>
              </a:rPr>
              <a:t> </a:t>
            </a:r>
            <a:r>
              <a:rPr lang="en-US" sz="1000" b="1" dirty="0">
                <a:solidFill>
                  <a:schemeClr val="bg2">
                    <a:lumMod val="25000"/>
                  </a:schemeClr>
                </a:solidFill>
              </a:rPr>
              <a:t> </a:t>
            </a:r>
            <a:r>
              <a:rPr lang="en-US" sz="1000" dirty="0">
                <a:solidFill>
                  <a:schemeClr val="bg2">
                    <a:lumMod val="25000"/>
                  </a:schemeClr>
                </a:solidFill>
              </a:rPr>
              <a:t>for </a:t>
            </a:r>
            <a:r>
              <a:rPr lang="en-US" sz="1000" i="1" dirty="0">
                <a:solidFill>
                  <a:schemeClr val="bg2">
                    <a:lumMod val="25000"/>
                  </a:schemeClr>
                </a:solidFill>
              </a:rPr>
              <a:t>accuracy</a:t>
            </a:r>
            <a:r>
              <a:rPr lang="en-US" sz="1000" dirty="0">
                <a:solidFill>
                  <a:schemeClr val="bg2">
                    <a:lumMod val="25000"/>
                  </a:schemeClr>
                </a:solidFill>
              </a:rPr>
              <a:t> is number of desks/ seats and for </a:t>
            </a:r>
            <a:r>
              <a:rPr lang="en-US" sz="1000" i="1" dirty="0">
                <a:solidFill>
                  <a:schemeClr val="bg2">
                    <a:lumMod val="25000"/>
                  </a:schemeClr>
                </a:solidFill>
              </a:rPr>
              <a:t>occupancy count (OC) </a:t>
            </a:r>
            <a:r>
              <a:rPr lang="en-US" sz="1000" dirty="0">
                <a:solidFill>
                  <a:schemeClr val="bg2">
                    <a:lumMod val="25000"/>
                  </a:schemeClr>
                </a:solidFill>
              </a:rPr>
              <a:t>is number of days.</a:t>
            </a:r>
            <a:endParaRPr lang="en-US" sz="1000" i="1" dirty="0">
              <a:solidFill>
                <a:schemeClr val="bg2">
                  <a:lumMod val="25000"/>
                </a:schemeClr>
              </a:solidFill>
            </a:endParaRPr>
          </a:p>
        </p:txBody>
      </p:sp>
      <p:sp>
        <p:nvSpPr>
          <p:cNvPr id="22" name="TextBox 21">
            <a:extLst>
              <a:ext uri="{FF2B5EF4-FFF2-40B4-BE49-F238E27FC236}">
                <a16:creationId xmlns:a16="http://schemas.microsoft.com/office/drawing/2014/main" id="{199CCC1F-D701-951C-D119-E94D3EBC7789}"/>
              </a:ext>
            </a:extLst>
          </p:cNvPr>
          <p:cNvSpPr txBox="1"/>
          <p:nvPr/>
        </p:nvSpPr>
        <p:spPr>
          <a:xfrm>
            <a:off x="5592211" y="1048545"/>
            <a:ext cx="1685926" cy="508729"/>
          </a:xfrm>
          <a:prstGeom prst="rect">
            <a:avLst/>
          </a:prstGeom>
          <a:noFill/>
        </p:spPr>
        <p:txBody>
          <a:bodyPr wrap="square">
            <a:spAutoFit/>
          </a:bodyPr>
          <a:lstStyle/>
          <a:p>
            <a:pPr lvl="0" algn="just">
              <a:lnSpc>
                <a:spcPct val="90000"/>
              </a:lnSpc>
            </a:pPr>
            <a:r>
              <a:rPr lang="en-US" sz="1000" dirty="0">
                <a:solidFill>
                  <a:schemeClr val="tx2">
                    <a:lumMod val="50000"/>
                    <a:lumOff val="50000"/>
                  </a:schemeClr>
                </a:solidFill>
              </a:rPr>
              <a:t>Reliability of applying desk-mounted PIR sensors based on the mean ∆OC</a:t>
            </a:r>
          </a:p>
        </p:txBody>
      </p:sp>
      <p:cxnSp>
        <p:nvCxnSpPr>
          <p:cNvPr id="24" name="Google Shape;377;p20">
            <a:extLst>
              <a:ext uri="{FF2B5EF4-FFF2-40B4-BE49-F238E27FC236}">
                <a16:creationId xmlns:a16="http://schemas.microsoft.com/office/drawing/2014/main" id="{8BBB97D4-44FB-4ACC-BA0B-F2654DDB53CD}"/>
              </a:ext>
            </a:extLst>
          </p:cNvPr>
          <p:cNvCxnSpPr>
            <a:cxnSpLocks/>
          </p:cNvCxnSpPr>
          <p:nvPr/>
        </p:nvCxnSpPr>
        <p:spPr>
          <a:xfrm>
            <a:off x="4906591" y="1125050"/>
            <a:ext cx="656910" cy="0"/>
          </a:xfrm>
          <a:prstGeom prst="straightConnector1">
            <a:avLst/>
          </a:prstGeom>
          <a:noFill/>
          <a:ln w="19050" cap="flat" cmpd="sng">
            <a:solidFill>
              <a:schemeClr val="tx2">
                <a:lumMod val="10000"/>
                <a:lumOff val="90000"/>
              </a:schemeClr>
            </a:solidFill>
            <a:prstDash val="dash"/>
            <a:round/>
            <a:headEnd type="none" w="sm" len="sm"/>
            <a:tailEnd type="none" w="sm" len="sm"/>
          </a:ln>
        </p:spPr>
      </p:cxnSp>
      <p:pic>
        <p:nvPicPr>
          <p:cNvPr id="5" name="Picture 4" descr="A drawing of a table and chairs&#10;&#10;AI-generated content may be incorrect.">
            <a:extLst>
              <a:ext uri="{FF2B5EF4-FFF2-40B4-BE49-F238E27FC236}">
                <a16:creationId xmlns:a16="http://schemas.microsoft.com/office/drawing/2014/main" id="{C353E923-0D36-07CB-FDDF-623415BCFE5B}"/>
              </a:ext>
            </a:extLst>
          </p:cNvPr>
          <p:cNvPicPr>
            <a:picLocks noChangeAspect="1"/>
          </p:cNvPicPr>
          <p:nvPr/>
        </p:nvPicPr>
        <p:blipFill>
          <a:blip r:embed="rId4">
            <a:extLst>
              <a:ext uri="{28A0092B-C50C-407E-A947-70E740481C1C}">
                <a14:useLocalDpi xmlns:a14="http://schemas.microsoft.com/office/drawing/2010/main" val="0"/>
              </a:ext>
            </a:extLst>
          </a:blip>
          <a:srcRect r="6640" b="4956"/>
          <a:stretch>
            <a:fillRect/>
          </a:stretch>
        </p:blipFill>
        <p:spPr>
          <a:xfrm>
            <a:off x="2395308" y="3357982"/>
            <a:ext cx="2567182" cy="2850631"/>
          </a:xfrm>
          <a:prstGeom prst="rect">
            <a:avLst/>
          </a:prstGeom>
        </p:spPr>
      </p:pic>
      <p:pic>
        <p:nvPicPr>
          <p:cNvPr id="35" name="Picture 34" descr="A diagram of a person's figure&#10;&#10;AI-generated content may be incorrect.">
            <a:extLst>
              <a:ext uri="{FF2B5EF4-FFF2-40B4-BE49-F238E27FC236}">
                <a16:creationId xmlns:a16="http://schemas.microsoft.com/office/drawing/2014/main" id="{F3A76E60-39E8-7ECA-F5FC-85E55F4554CA}"/>
              </a:ext>
            </a:extLst>
          </p:cNvPr>
          <p:cNvPicPr>
            <a:picLocks noChangeAspect="1"/>
          </p:cNvPicPr>
          <p:nvPr/>
        </p:nvPicPr>
        <p:blipFill>
          <a:blip r:embed="rId5">
            <a:extLst>
              <a:ext uri="{28A0092B-C50C-407E-A947-70E740481C1C}">
                <a14:useLocalDpi xmlns:a14="http://schemas.microsoft.com/office/drawing/2010/main" val="0"/>
              </a:ext>
            </a:extLst>
          </a:blip>
          <a:srcRect l="4028" r="65670"/>
          <a:stretch>
            <a:fillRect/>
          </a:stretch>
        </p:blipFill>
        <p:spPr>
          <a:xfrm>
            <a:off x="499059" y="3003074"/>
            <a:ext cx="1836616" cy="3492749"/>
          </a:xfrm>
          <a:prstGeom prst="rect">
            <a:avLst/>
          </a:prstGeom>
        </p:spPr>
      </p:pic>
      <p:grpSp>
        <p:nvGrpSpPr>
          <p:cNvPr id="2" name="Group 1">
            <a:extLst>
              <a:ext uri="{FF2B5EF4-FFF2-40B4-BE49-F238E27FC236}">
                <a16:creationId xmlns:a16="http://schemas.microsoft.com/office/drawing/2014/main" id="{4C69F848-8604-226B-B83C-9210E7C14897}"/>
              </a:ext>
            </a:extLst>
          </p:cNvPr>
          <p:cNvGrpSpPr/>
          <p:nvPr/>
        </p:nvGrpSpPr>
        <p:grpSpPr>
          <a:xfrm>
            <a:off x="6096000" y="2457557"/>
            <a:ext cx="5591168" cy="3751056"/>
            <a:chOff x="6023390" y="410430"/>
            <a:chExt cx="4777683" cy="3205296"/>
          </a:xfrm>
        </p:grpSpPr>
        <p:pic>
          <p:nvPicPr>
            <p:cNvPr id="4" name="Picture 3" descr="A blueprint of a room&#10;&#10;AI-generated content may be incorrect.">
              <a:extLst>
                <a:ext uri="{FF2B5EF4-FFF2-40B4-BE49-F238E27FC236}">
                  <a16:creationId xmlns:a16="http://schemas.microsoft.com/office/drawing/2014/main" id="{494959B6-A5D8-73C1-AAA3-F1CE8C1AFB1B}"/>
                </a:ext>
              </a:extLst>
            </p:cNvPr>
            <p:cNvPicPr>
              <a:picLocks noChangeAspect="1"/>
            </p:cNvPicPr>
            <p:nvPr/>
          </p:nvPicPr>
          <p:blipFill>
            <a:blip r:embed="rId6">
              <a:extLst>
                <a:ext uri="{28A0092B-C50C-407E-A947-70E740481C1C}">
                  <a14:useLocalDpi xmlns:a14="http://schemas.microsoft.com/office/drawing/2010/main" val="0"/>
                </a:ext>
              </a:extLst>
            </a:blip>
            <a:srcRect l="2572" t="-1" r="6674" b="25724"/>
            <a:stretch>
              <a:fillRect/>
            </a:stretch>
          </p:blipFill>
          <p:spPr>
            <a:xfrm>
              <a:off x="6023390" y="526295"/>
              <a:ext cx="4777683" cy="3089431"/>
            </a:xfrm>
            <a:prstGeom prst="rect">
              <a:avLst/>
            </a:prstGeom>
          </p:spPr>
        </p:pic>
        <p:sp>
          <p:nvSpPr>
            <p:cNvPr id="8" name="Oval 7">
              <a:extLst>
                <a:ext uri="{FF2B5EF4-FFF2-40B4-BE49-F238E27FC236}">
                  <a16:creationId xmlns:a16="http://schemas.microsoft.com/office/drawing/2014/main" id="{805BC57C-98B2-AA43-2B25-30D939FCC2C9}"/>
                </a:ext>
              </a:extLst>
            </p:cNvPr>
            <p:cNvSpPr/>
            <p:nvPr/>
          </p:nvSpPr>
          <p:spPr>
            <a:xfrm>
              <a:off x="9742516" y="1114698"/>
              <a:ext cx="87284" cy="86492"/>
            </a:xfrm>
            <a:prstGeom prst="ellipse">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dirty="0"/>
            </a:p>
          </p:txBody>
        </p:sp>
        <p:sp>
          <p:nvSpPr>
            <p:cNvPr id="23" name="Oval 22">
              <a:extLst>
                <a:ext uri="{FF2B5EF4-FFF2-40B4-BE49-F238E27FC236}">
                  <a16:creationId xmlns:a16="http://schemas.microsoft.com/office/drawing/2014/main" id="{0974C796-A3CA-519C-ABD5-DEE1C14DE5FF}"/>
                </a:ext>
              </a:extLst>
            </p:cNvPr>
            <p:cNvSpPr/>
            <p:nvPr/>
          </p:nvSpPr>
          <p:spPr>
            <a:xfrm>
              <a:off x="9742516" y="2050088"/>
              <a:ext cx="87284" cy="86492"/>
            </a:xfrm>
            <a:prstGeom prst="ellipse">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dirty="0"/>
            </a:p>
          </p:txBody>
        </p:sp>
        <p:sp>
          <p:nvSpPr>
            <p:cNvPr id="25" name="Oval 24">
              <a:extLst>
                <a:ext uri="{FF2B5EF4-FFF2-40B4-BE49-F238E27FC236}">
                  <a16:creationId xmlns:a16="http://schemas.microsoft.com/office/drawing/2014/main" id="{56864719-4165-F7EF-C556-D27D53C76045}"/>
                </a:ext>
              </a:extLst>
            </p:cNvPr>
            <p:cNvSpPr/>
            <p:nvPr/>
          </p:nvSpPr>
          <p:spPr>
            <a:xfrm>
              <a:off x="9150784" y="1670265"/>
              <a:ext cx="87284" cy="86492"/>
            </a:xfrm>
            <a:prstGeom prst="ellipse">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dirty="0"/>
            </a:p>
          </p:txBody>
        </p:sp>
        <p:sp>
          <p:nvSpPr>
            <p:cNvPr id="26" name="Oval 25">
              <a:extLst>
                <a:ext uri="{FF2B5EF4-FFF2-40B4-BE49-F238E27FC236}">
                  <a16:creationId xmlns:a16="http://schemas.microsoft.com/office/drawing/2014/main" id="{3DCDDB1E-1771-3E5E-2680-F38E051DDE40}"/>
                </a:ext>
              </a:extLst>
            </p:cNvPr>
            <p:cNvSpPr/>
            <p:nvPr/>
          </p:nvSpPr>
          <p:spPr>
            <a:xfrm>
              <a:off x="9150784" y="2605655"/>
              <a:ext cx="87284" cy="86492"/>
            </a:xfrm>
            <a:prstGeom prst="ellipse">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dirty="0"/>
            </a:p>
          </p:txBody>
        </p:sp>
        <p:sp>
          <p:nvSpPr>
            <p:cNvPr id="28" name="Oval 27">
              <a:extLst>
                <a:ext uri="{FF2B5EF4-FFF2-40B4-BE49-F238E27FC236}">
                  <a16:creationId xmlns:a16="http://schemas.microsoft.com/office/drawing/2014/main" id="{C57885D9-0450-FE3A-9F92-531C386E152C}"/>
                </a:ext>
              </a:extLst>
            </p:cNvPr>
            <p:cNvSpPr/>
            <p:nvPr/>
          </p:nvSpPr>
          <p:spPr>
            <a:xfrm>
              <a:off x="7809388" y="1114698"/>
              <a:ext cx="87284" cy="86492"/>
            </a:xfrm>
            <a:prstGeom prst="ellipse">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dirty="0"/>
            </a:p>
          </p:txBody>
        </p:sp>
        <p:sp>
          <p:nvSpPr>
            <p:cNvPr id="29" name="Oval 28">
              <a:extLst>
                <a:ext uri="{FF2B5EF4-FFF2-40B4-BE49-F238E27FC236}">
                  <a16:creationId xmlns:a16="http://schemas.microsoft.com/office/drawing/2014/main" id="{E6C114E4-7C08-C946-ACC8-15CAF7FCB311}"/>
                </a:ext>
              </a:extLst>
            </p:cNvPr>
            <p:cNvSpPr/>
            <p:nvPr/>
          </p:nvSpPr>
          <p:spPr>
            <a:xfrm>
              <a:off x="7809388" y="2050088"/>
              <a:ext cx="87284" cy="86492"/>
            </a:xfrm>
            <a:prstGeom prst="ellipse">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dirty="0"/>
            </a:p>
          </p:txBody>
        </p:sp>
        <p:sp>
          <p:nvSpPr>
            <p:cNvPr id="30" name="Oval 29">
              <a:extLst>
                <a:ext uri="{FF2B5EF4-FFF2-40B4-BE49-F238E27FC236}">
                  <a16:creationId xmlns:a16="http://schemas.microsoft.com/office/drawing/2014/main" id="{CF8EAFE8-0680-0408-EDF1-1E05BC30DAF3}"/>
                </a:ext>
              </a:extLst>
            </p:cNvPr>
            <p:cNvSpPr/>
            <p:nvPr/>
          </p:nvSpPr>
          <p:spPr>
            <a:xfrm>
              <a:off x="7217656" y="1670265"/>
              <a:ext cx="87284" cy="86492"/>
            </a:xfrm>
            <a:prstGeom prst="ellipse">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dirty="0"/>
            </a:p>
          </p:txBody>
        </p:sp>
        <p:sp>
          <p:nvSpPr>
            <p:cNvPr id="31" name="Oval 30">
              <a:extLst>
                <a:ext uri="{FF2B5EF4-FFF2-40B4-BE49-F238E27FC236}">
                  <a16:creationId xmlns:a16="http://schemas.microsoft.com/office/drawing/2014/main" id="{472966CC-693E-AF42-B49A-5F1D7BF9A8CB}"/>
                </a:ext>
              </a:extLst>
            </p:cNvPr>
            <p:cNvSpPr/>
            <p:nvPr/>
          </p:nvSpPr>
          <p:spPr>
            <a:xfrm>
              <a:off x="7217656" y="2605655"/>
              <a:ext cx="87284" cy="86492"/>
            </a:xfrm>
            <a:prstGeom prst="ellipse">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dirty="0"/>
            </a:p>
          </p:txBody>
        </p:sp>
        <p:sp>
          <p:nvSpPr>
            <p:cNvPr id="34" name="TextBox 33">
              <a:extLst>
                <a:ext uri="{FF2B5EF4-FFF2-40B4-BE49-F238E27FC236}">
                  <a16:creationId xmlns:a16="http://schemas.microsoft.com/office/drawing/2014/main" id="{B4EC5411-267B-AAC4-91CF-6E8ECF5B7776}"/>
                </a:ext>
              </a:extLst>
            </p:cNvPr>
            <p:cNvSpPr txBox="1">
              <a:spLocks/>
            </p:cNvSpPr>
            <p:nvPr/>
          </p:nvSpPr>
          <p:spPr>
            <a:xfrm>
              <a:off x="6905816" y="410430"/>
              <a:ext cx="798250" cy="231730"/>
            </a:xfrm>
            <a:prstGeom prst="rect">
              <a:avLst/>
            </a:prstGeom>
            <a:noFill/>
            <a:ln w="3175">
              <a:solidFill>
                <a:schemeClr val="tx2">
                  <a:lumMod val="50000"/>
                  <a:lumOff val="50000"/>
                </a:schemeClr>
              </a:solidFill>
            </a:ln>
          </p:spPr>
          <p:txBody>
            <a:bodyPr wrap="square">
              <a:spAutoFit/>
            </a:bodyPr>
            <a:lstStyle/>
            <a:p>
              <a:pPr lvl="0" algn="ctr">
                <a:lnSpc>
                  <a:spcPct val="90000"/>
                </a:lnSpc>
              </a:pPr>
              <a:r>
                <a:rPr lang="en-US" sz="1000" dirty="0">
                  <a:solidFill>
                    <a:schemeClr val="tx2">
                      <a:lumMod val="50000"/>
                      <a:lumOff val="50000"/>
                    </a:schemeClr>
                  </a:solidFill>
                </a:rPr>
                <a:t>PIR sensor</a:t>
              </a:r>
              <a:endParaRPr lang="en-US" sz="1000" b="1" dirty="0">
                <a:solidFill>
                  <a:schemeClr val="tx2">
                    <a:lumMod val="50000"/>
                    <a:lumOff val="50000"/>
                  </a:schemeClr>
                </a:solidFill>
              </a:endParaRPr>
            </a:p>
          </p:txBody>
        </p:sp>
        <p:sp>
          <p:nvSpPr>
            <p:cNvPr id="37" name="Rectangle 36">
              <a:extLst>
                <a:ext uri="{FF2B5EF4-FFF2-40B4-BE49-F238E27FC236}">
                  <a16:creationId xmlns:a16="http://schemas.microsoft.com/office/drawing/2014/main" id="{93EA6A3B-2571-EFA5-CAB0-FBA5FC3857B8}"/>
                </a:ext>
              </a:extLst>
            </p:cNvPr>
            <p:cNvSpPr/>
            <p:nvPr/>
          </p:nvSpPr>
          <p:spPr>
            <a:xfrm>
              <a:off x="9091278" y="3322078"/>
              <a:ext cx="123286" cy="106921"/>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38" name="Rectangle 37">
              <a:extLst>
                <a:ext uri="{FF2B5EF4-FFF2-40B4-BE49-F238E27FC236}">
                  <a16:creationId xmlns:a16="http://schemas.microsoft.com/office/drawing/2014/main" id="{FB85E0B0-BE69-289D-D21F-21282CE4FB10}"/>
                </a:ext>
              </a:extLst>
            </p:cNvPr>
            <p:cNvSpPr/>
            <p:nvPr/>
          </p:nvSpPr>
          <p:spPr>
            <a:xfrm>
              <a:off x="6313216" y="1929353"/>
              <a:ext cx="123286" cy="106921"/>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dirty="0"/>
            </a:p>
          </p:txBody>
        </p:sp>
        <p:sp>
          <p:nvSpPr>
            <p:cNvPr id="39" name="Rectangle 38">
              <a:extLst>
                <a:ext uri="{FF2B5EF4-FFF2-40B4-BE49-F238E27FC236}">
                  <a16:creationId xmlns:a16="http://schemas.microsoft.com/office/drawing/2014/main" id="{6D4E22AD-ECE1-7E1A-C4D5-30311F0A5886}"/>
                </a:ext>
              </a:extLst>
            </p:cNvPr>
            <p:cNvSpPr/>
            <p:nvPr/>
          </p:nvSpPr>
          <p:spPr>
            <a:xfrm>
              <a:off x="7853030" y="3332821"/>
              <a:ext cx="123286" cy="106921"/>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grpSp>
      <p:sp>
        <p:nvSpPr>
          <p:cNvPr id="15" name="TextBox 14">
            <a:extLst>
              <a:ext uri="{FF2B5EF4-FFF2-40B4-BE49-F238E27FC236}">
                <a16:creationId xmlns:a16="http://schemas.microsoft.com/office/drawing/2014/main" id="{2F33BC12-707C-03A8-B4CC-BD1D95FC88EE}"/>
              </a:ext>
            </a:extLst>
          </p:cNvPr>
          <p:cNvSpPr txBox="1">
            <a:spLocks/>
          </p:cNvSpPr>
          <p:nvPr/>
        </p:nvSpPr>
        <p:spPr>
          <a:xfrm>
            <a:off x="4565370" y="2990919"/>
            <a:ext cx="558565" cy="231730"/>
          </a:xfrm>
          <a:prstGeom prst="rect">
            <a:avLst/>
          </a:prstGeom>
          <a:noFill/>
          <a:ln w="3175">
            <a:solidFill>
              <a:schemeClr val="tx2">
                <a:lumMod val="50000"/>
                <a:lumOff val="50000"/>
              </a:schemeClr>
            </a:solidFill>
          </a:ln>
        </p:spPr>
        <p:txBody>
          <a:bodyPr wrap="square">
            <a:spAutoFit/>
          </a:bodyPr>
          <a:lstStyle/>
          <a:p>
            <a:pPr lvl="0" algn="ctr">
              <a:lnSpc>
                <a:spcPct val="90000"/>
              </a:lnSpc>
            </a:pPr>
            <a:r>
              <a:rPr lang="en-US" sz="1000" dirty="0">
                <a:solidFill>
                  <a:schemeClr val="tx2">
                    <a:lumMod val="50000"/>
                    <a:lumOff val="50000"/>
                  </a:schemeClr>
                </a:solidFill>
              </a:rPr>
              <a:t>Sensi</a:t>
            </a:r>
            <a:endParaRPr lang="en-US" sz="1000" b="1" dirty="0">
              <a:solidFill>
                <a:schemeClr val="tx2">
                  <a:lumMod val="50000"/>
                  <a:lumOff val="50000"/>
                </a:schemeClr>
              </a:solidFill>
            </a:endParaRPr>
          </a:p>
        </p:txBody>
      </p:sp>
      <p:cxnSp>
        <p:nvCxnSpPr>
          <p:cNvPr id="51" name="Straight Connector 50">
            <a:extLst>
              <a:ext uri="{FF2B5EF4-FFF2-40B4-BE49-F238E27FC236}">
                <a16:creationId xmlns:a16="http://schemas.microsoft.com/office/drawing/2014/main" id="{507DA415-DAE6-5F5A-15DD-055239C3E037}"/>
              </a:ext>
            </a:extLst>
          </p:cNvPr>
          <p:cNvCxnSpPr>
            <a:cxnSpLocks/>
          </p:cNvCxnSpPr>
          <p:nvPr/>
        </p:nvCxnSpPr>
        <p:spPr>
          <a:xfrm>
            <a:off x="7536047" y="2722142"/>
            <a:ext cx="0" cy="1214530"/>
          </a:xfrm>
          <a:prstGeom prst="line">
            <a:avLst/>
          </a:prstGeom>
          <a:ln w="3175">
            <a:solidFill>
              <a:schemeClr val="tx2">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67" name="Straight Connector 66">
            <a:extLst>
              <a:ext uri="{FF2B5EF4-FFF2-40B4-BE49-F238E27FC236}">
                <a16:creationId xmlns:a16="http://schemas.microsoft.com/office/drawing/2014/main" id="{6F33A2F2-2EB9-C798-6D0E-742BAEE71B21}"/>
              </a:ext>
            </a:extLst>
          </p:cNvPr>
          <p:cNvCxnSpPr>
            <a:cxnSpLocks/>
          </p:cNvCxnSpPr>
          <p:nvPr/>
        </p:nvCxnSpPr>
        <p:spPr>
          <a:xfrm flipV="1">
            <a:off x="4837811" y="3229258"/>
            <a:ext cx="0" cy="1097210"/>
          </a:xfrm>
          <a:prstGeom prst="line">
            <a:avLst/>
          </a:prstGeom>
          <a:ln w="3175">
            <a:solidFill>
              <a:schemeClr val="tx2">
                <a:lumMod val="50000"/>
                <a:lumOff val="50000"/>
              </a:schemeClr>
            </a:solidFill>
          </a:ln>
        </p:spPr>
        <p:style>
          <a:lnRef idx="2">
            <a:schemeClr val="accent1"/>
          </a:lnRef>
          <a:fillRef idx="0">
            <a:schemeClr val="accent1"/>
          </a:fillRef>
          <a:effectRef idx="1">
            <a:schemeClr val="accent1"/>
          </a:effectRef>
          <a:fontRef idx="minor">
            <a:schemeClr val="tx1"/>
          </a:fontRef>
        </p:style>
      </p:cxnSp>
      <p:sp>
        <p:nvSpPr>
          <p:cNvPr id="72" name="TextBox 71">
            <a:extLst>
              <a:ext uri="{FF2B5EF4-FFF2-40B4-BE49-F238E27FC236}">
                <a16:creationId xmlns:a16="http://schemas.microsoft.com/office/drawing/2014/main" id="{7BCABA8A-27F9-9B78-8AC2-295F2FFB3ACB}"/>
              </a:ext>
            </a:extLst>
          </p:cNvPr>
          <p:cNvSpPr txBox="1"/>
          <p:nvPr/>
        </p:nvSpPr>
        <p:spPr>
          <a:xfrm>
            <a:off x="9194407" y="6538909"/>
            <a:ext cx="4702567" cy="231730"/>
          </a:xfrm>
          <a:prstGeom prst="rect">
            <a:avLst/>
          </a:prstGeom>
          <a:noFill/>
        </p:spPr>
        <p:txBody>
          <a:bodyPr wrap="square">
            <a:spAutoFit/>
          </a:bodyPr>
          <a:lstStyle/>
          <a:p>
            <a:pPr lvl="0" algn="just">
              <a:lnSpc>
                <a:spcPct val="90000"/>
              </a:lnSpc>
            </a:pPr>
            <a:r>
              <a:rPr lang="en-US" sz="1000" i="1" dirty="0">
                <a:solidFill>
                  <a:schemeClr val="tx2">
                    <a:lumMod val="50000"/>
                    <a:lumOff val="50000"/>
                  </a:schemeClr>
                </a:solidFill>
              </a:rPr>
              <a:t>PIR Sensing alone vs. CO</a:t>
            </a:r>
            <a:r>
              <a:rPr lang="en-US" sz="1000" i="1" baseline="-25000" dirty="0">
                <a:solidFill>
                  <a:schemeClr val="tx2">
                    <a:lumMod val="50000"/>
                    <a:lumOff val="50000"/>
                  </a:schemeClr>
                </a:solidFill>
              </a:rPr>
              <a:t>2  </a:t>
            </a:r>
            <a:r>
              <a:rPr lang="en-US" sz="1000" i="1" dirty="0">
                <a:solidFill>
                  <a:schemeClr val="tx2">
                    <a:lumMod val="50000"/>
                    <a:lumOff val="50000"/>
                  </a:schemeClr>
                </a:solidFill>
              </a:rPr>
              <a:t>vs. Sensor Fusion (+ML)</a:t>
            </a:r>
          </a:p>
        </p:txBody>
      </p:sp>
      <p:pic>
        <p:nvPicPr>
          <p:cNvPr id="74" name="Picture 73" descr="A diagram of a diagram of squares&#10;&#10;AI-generated content may be incorrect.">
            <a:extLst>
              <a:ext uri="{FF2B5EF4-FFF2-40B4-BE49-F238E27FC236}">
                <a16:creationId xmlns:a16="http://schemas.microsoft.com/office/drawing/2014/main" id="{EE0C2ACA-4C20-A4BC-38A0-F164E0C8B14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33822" y="1429930"/>
            <a:ext cx="1846290" cy="1324325"/>
          </a:xfrm>
          <a:prstGeom prst="rect">
            <a:avLst/>
          </a:prstGeom>
        </p:spPr>
      </p:pic>
      <p:sp>
        <p:nvSpPr>
          <p:cNvPr id="75" name="TextBox 74">
            <a:extLst>
              <a:ext uri="{FF2B5EF4-FFF2-40B4-BE49-F238E27FC236}">
                <a16:creationId xmlns:a16="http://schemas.microsoft.com/office/drawing/2014/main" id="{F50365B9-6092-2CEE-0331-3C1A37B18D0B}"/>
              </a:ext>
            </a:extLst>
          </p:cNvPr>
          <p:cNvSpPr txBox="1">
            <a:spLocks/>
          </p:cNvSpPr>
          <p:nvPr/>
        </p:nvSpPr>
        <p:spPr>
          <a:xfrm>
            <a:off x="405812" y="948688"/>
            <a:ext cx="851155" cy="370230"/>
          </a:xfrm>
          <a:prstGeom prst="rect">
            <a:avLst/>
          </a:prstGeom>
          <a:noFill/>
          <a:ln w="3175">
            <a:noFill/>
          </a:ln>
        </p:spPr>
        <p:txBody>
          <a:bodyPr wrap="square">
            <a:spAutoFit/>
          </a:bodyPr>
          <a:lstStyle/>
          <a:p>
            <a:pPr lvl="0">
              <a:lnSpc>
                <a:spcPct val="90000"/>
              </a:lnSpc>
            </a:pPr>
            <a:r>
              <a:rPr lang="en-US" sz="1000" dirty="0">
                <a:solidFill>
                  <a:schemeClr val="tx2">
                    <a:lumMod val="50000"/>
                    <a:lumOff val="50000"/>
                  </a:schemeClr>
                </a:solidFill>
              </a:rPr>
              <a:t>Detection Pattern</a:t>
            </a:r>
            <a:endParaRPr lang="en-US" sz="1000" b="1" dirty="0">
              <a:solidFill>
                <a:schemeClr val="tx2">
                  <a:lumMod val="50000"/>
                  <a:lumOff val="50000"/>
                </a:schemeClr>
              </a:solidFill>
            </a:endParaRPr>
          </a:p>
        </p:txBody>
      </p:sp>
      <p:sp>
        <p:nvSpPr>
          <p:cNvPr id="76" name="Rectangle 75">
            <a:extLst>
              <a:ext uri="{FF2B5EF4-FFF2-40B4-BE49-F238E27FC236}">
                <a16:creationId xmlns:a16="http://schemas.microsoft.com/office/drawing/2014/main" id="{A1B6E48C-9092-C71F-F7CE-00321A1E7A38}"/>
              </a:ext>
            </a:extLst>
          </p:cNvPr>
          <p:cNvSpPr/>
          <p:nvPr/>
        </p:nvSpPr>
        <p:spPr>
          <a:xfrm>
            <a:off x="4806246" y="4583968"/>
            <a:ext cx="100345" cy="172379"/>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dirty="0"/>
          </a:p>
        </p:txBody>
      </p:sp>
      <p:sp>
        <p:nvSpPr>
          <p:cNvPr id="77" name="Isosceles Triangle 76">
            <a:extLst>
              <a:ext uri="{FF2B5EF4-FFF2-40B4-BE49-F238E27FC236}">
                <a16:creationId xmlns:a16="http://schemas.microsoft.com/office/drawing/2014/main" id="{AD039D2B-E6BE-1442-6E77-4FEB6D21CEA8}"/>
              </a:ext>
            </a:extLst>
          </p:cNvPr>
          <p:cNvSpPr/>
          <p:nvPr/>
        </p:nvSpPr>
        <p:spPr>
          <a:xfrm rot="5400000">
            <a:off x="1905819" y="3101221"/>
            <a:ext cx="2796705" cy="3137872"/>
          </a:xfrm>
          <a:prstGeom prst="triangle">
            <a:avLst/>
          </a:prstGeom>
          <a:solidFill>
            <a:schemeClr val="tx2">
              <a:lumMod val="25000"/>
              <a:lumOff val="75000"/>
              <a:alpha val="2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dirty="0"/>
          </a:p>
        </p:txBody>
      </p:sp>
      <p:sp>
        <p:nvSpPr>
          <p:cNvPr id="6" name="Google Shape;423;p21">
            <a:extLst>
              <a:ext uri="{FF2B5EF4-FFF2-40B4-BE49-F238E27FC236}">
                <a16:creationId xmlns:a16="http://schemas.microsoft.com/office/drawing/2014/main" id="{B25723E9-5F37-E079-CA2D-3A7946061B9F}"/>
              </a:ext>
            </a:extLst>
          </p:cNvPr>
          <p:cNvSpPr txBox="1"/>
          <p:nvPr/>
        </p:nvSpPr>
        <p:spPr>
          <a:xfrm>
            <a:off x="379614" y="487690"/>
            <a:ext cx="3104967" cy="424691"/>
          </a:xfrm>
          <a:prstGeom prst="rect">
            <a:avLst/>
          </a:prstGeom>
          <a:noFill/>
          <a:ln>
            <a:noFill/>
          </a:ln>
        </p:spPr>
        <p:txBody>
          <a:bodyPr spcFirstLastPara="1" wrap="square" lIns="91425" tIns="45700" rIns="91425" bIns="45700" anchor="t" anchorCtr="0">
            <a:spAutoFit/>
          </a:bodyPr>
          <a:lstStyle/>
          <a:p>
            <a:pPr lvl="0">
              <a:lnSpc>
                <a:spcPct val="90000"/>
              </a:lnSpc>
            </a:pPr>
            <a:r>
              <a:rPr lang="en-US" sz="2400" b="1" dirty="0">
                <a:solidFill>
                  <a:srgbClr val="4892DC"/>
                </a:solidFill>
                <a:latin typeface="Arial"/>
                <a:ea typeface="Arial"/>
                <a:cs typeface="Arial"/>
                <a:sym typeface="Arial"/>
              </a:rPr>
              <a:t>2</a:t>
            </a:r>
            <a:r>
              <a:rPr lang="en-US" sz="2400" b="1" i="0" u="none" strike="noStrike" cap="none" dirty="0">
                <a:solidFill>
                  <a:srgbClr val="4892DC"/>
                </a:solidFill>
                <a:latin typeface="Arial"/>
                <a:ea typeface="Arial"/>
                <a:cs typeface="Arial"/>
                <a:sym typeface="Arial"/>
              </a:rPr>
              <a:t>. </a:t>
            </a:r>
            <a:r>
              <a:rPr lang="en-US" sz="2400" b="1" dirty="0">
                <a:solidFill>
                  <a:srgbClr val="4892DC"/>
                </a:solidFill>
                <a:latin typeface="Arial"/>
                <a:ea typeface="Arial"/>
                <a:cs typeface="Arial"/>
                <a:sym typeface="Arial"/>
              </a:rPr>
              <a:t>PILOT </a:t>
            </a:r>
            <a:r>
              <a:rPr lang="en-US" sz="1400" dirty="0">
                <a:solidFill>
                  <a:srgbClr val="4892DC"/>
                </a:solidFill>
                <a:latin typeface="Arial"/>
                <a:ea typeface="Arial"/>
                <a:cs typeface="Arial"/>
                <a:sym typeface="Arial"/>
              </a:rPr>
              <a:t>TESTING [Celsius]</a:t>
            </a:r>
            <a:endParaRPr lang="en-US" u="none" strike="noStrike" cap="none" dirty="0">
              <a:solidFill>
                <a:srgbClr val="4892DC"/>
              </a:solidFill>
              <a:latin typeface="Arial"/>
              <a:ea typeface="Arial"/>
              <a:cs typeface="Arial"/>
              <a:sym typeface="Arial"/>
            </a:endParaRPr>
          </a:p>
        </p:txBody>
      </p:sp>
    </p:spTree>
    <p:extLst>
      <p:ext uri="{BB962C8B-B14F-4D97-AF65-F5344CB8AC3E}">
        <p14:creationId xmlns:p14="http://schemas.microsoft.com/office/powerpoint/2010/main" val="13121764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74">
          <a:extLst>
            <a:ext uri="{FF2B5EF4-FFF2-40B4-BE49-F238E27FC236}">
              <a16:creationId xmlns:a16="http://schemas.microsoft.com/office/drawing/2014/main" id="{DFE770F6-8940-C3BE-CA16-BB5E60A3A420}"/>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EEB0CA1B-FBA1-7674-07E4-77E6668DFA1D}"/>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5530432" y="1121315"/>
            <a:ext cx="6275805" cy="1325710"/>
          </a:xfrm>
          <a:prstGeom prst="rect">
            <a:avLst/>
          </a:prstGeom>
        </p:spPr>
      </p:pic>
      <p:sp>
        <p:nvSpPr>
          <p:cNvPr id="12" name="Google Shape;382;p20">
            <a:extLst>
              <a:ext uri="{FF2B5EF4-FFF2-40B4-BE49-F238E27FC236}">
                <a16:creationId xmlns:a16="http://schemas.microsoft.com/office/drawing/2014/main" id="{D3A47D32-85F1-B579-AA87-FDB4A34D1B6A}"/>
              </a:ext>
            </a:extLst>
          </p:cNvPr>
          <p:cNvSpPr txBox="1"/>
          <p:nvPr/>
        </p:nvSpPr>
        <p:spPr>
          <a:xfrm>
            <a:off x="1437376" y="2562835"/>
            <a:ext cx="3291378" cy="400069"/>
          </a:xfrm>
          <a:prstGeom prst="rect">
            <a:avLst/>
          </a:prstGeom>
          <a:noFill/>
          <a:ln>
            <a:noFill/>
          </a:ln>
        </p:spPr>
        <p:txBody>
          <a:bodyPr spcFirstLastPara="1" wrap="square" lIns="91425" tIns="45700" rIns="91425" bIns="45700" anchor="t" anchorCtr="0">
            <a:spAutoFit/>
          </a:bodyPr>
          <a:lstStyle/>
          <a:p>
            <a:pPr marL="457200" lvl="1" algn="just"/>
            <a:r>
              <a:rPr lang="it-IT" sz="1200" dirty="0">
                <a:solidFill>
                  <a:srgbClr val="000000"/>
                </a:solidFill>
                <a:latin typeface="Arial"/>
                <a:ea typeface="Arial"/>
                <a:cs typeface="Arial"/>
                <a:sym typeface="Arial"/>
              </a:rPr>
              <a:t>STAGE</a:t>
            </a:r>
            <a:r>
              <a:rPr lang="it-IT" sz="1000" b="1" dirty="0">
                <a:solidFill>
                  <a:srgbClr val="000000"/>
                </a:solidFill>
                <a:latin typeface="Arial"/>
                <a:ea typeface="Arial"/>
                <a:cs typeface="Arial"/>
                <a:sym typeface="Arial"/>
              </a:rPr>
              <a:t> </a:t>
            </a:r>
            <a:r>
              <a:rPr lang="it-IT" sz="2000" b="1" dirty="0">
                <a:solidFill>
                  <a:schemeClr val="tx2">
                    <a:lumMod val="50000"/>
                    <a:lumOff val="50000"/>
                  </a:schemeClr>
                </a:solidFill>
                <a:latin typeface="Arial"/>
                <a:ea typeface="Arial"/>
                <a:cs typeface="Arial"/>
                <a:sym typeface="Arial"/>
              </a:rPr>
              <a:t>2</a:t>
            </a:r>
            <a:endParaRPr lang="it-IT" sz="1000" b="1" i="0" u="none" strike="noStrike" cap="none" dirty="0">
              <a:solidFill>
                <a:schemeClr val="tx2">
                  <a:lumMod val="50000"/>
                  <a:lumOff val="50000"/>
                </a:schemeClr>
              </a:solidFill>
              <a:latin typeface="Arial"/>
              <a:ea typeface="Arial"/>
              <a:cs typeface="Arial"/>
              <a:sym typeface="Arial"/>
            </a:endParaRPr>
          </a:p>
        </p:txBody>
      </p:sp>
      <p:cxnSp>
        <p:nvCxnSpPr>
          <p:cNvPr id="13" name="Google Shape;377;p20">
            <a:extLst>
              <a:ext uri="{FF2B5EF4-FFF2-40B4-BE49-F238E27FC236}">
                <a16:creationId xmlns:a16="http://schemas.microsoft.com/office/drawing/2014/main" id="{4DC6D129-B1D6-9C02-816A-1ECD7A6D7DB2}"/>
              </a:ext>
            </a:extLst>
          </p:cNvPr>
          <p:cNvCxnSpPr>
            <a:cxnSpLocks/>
          </p:cNvCxnSpPr>
          <p:nvPr/>
        </p:nvCxnSpPr>
        <p:spPr>
          <a:xfrm>
            <a:off x="2760936" y="2834735"/>
            <a:ext cx="1976846" cy="0"/>
          </a:xfrm>
          <a:prstGeom prst="straightConnector1">
            <a:avLst/>
          </a:prstGeom>
          <a:noFill/>
          <a:ln w="19050" cap="flat" cmpd="sng">
            <a:solidFill>
              <a:schemeClr val="accent4"/>
            </a:solidFill>
            <a:prstDash val="dash"/>
            <a:round/>
            <a:headEnd type="none" w="sm" len="sm"/>
            <a:tailEnd type="none" w="sm" len="sm"/>
          </a:ln>
        </p:spPr>
      </p:cxnSp>
      <p:sp>
        <p:nvSpPr>
          <p:cNvPr id="14" name="TextBox 13">
            <a:extLst>
              <a:ext uri="{FF2B5EF4-FFF2-40B4-BE49-F238E27FC236}">
                <a16:creationId xmlns:a16="http://schemas.microsoft.com/office/drawing/2014/main" id="{9A9CF5C1-63AF-8E5D-0C5A-5EE6573708BF}"/>
              </a:ext>
            </a:extLst>
          </p:cNvPr>
          <p:cNvSpPr txBox="1">
            <a:spLocks/>
          </p:cNvSpPr>
          <p:nvPr/>
        </p:nvSpPr>
        <p:spPr>
          <a:xfrm>
            <a:off x="3352800" y="2603005"/>
            <a:ext cx="1643805" cy="231725"/>
          </a:xfrm>
          <a:prstGeom prst="rect">
            <a:avLst/>
          </a:prstGeom>
          <a:noFill/>
        </p:spPr>
        <p:txBody>
          <a:bodyPr wrap="square">
            <a:spAutoFit/>
          </a:bodyPr>
          <a:lstStyle/>
          <a:p>
            <a:pPr lvl="0" algn="just">
              <a:lnSpc>
                <a:spcPct val="90000"/>
              </a:lnSpc>
            </a:pPr>
            <a:r>
              <a:rPr lang="en-US" sz="1000" i="1" dirty="0">
                <a:solidFill>
                  <a:schemeClr val="bg2">
                    <a:lumMod val="75000"/>
                  </a:schemeClr>
                </a:solidFill>
              </a:rPr>
              <a:t>(Sheikh khan et al. </a:t>
            </a:r>
            <a:r>
              <a:rPr lang="en-US" sz="1000" i="1" dirty="0">
                <a:solidFill>
                  <a:schemeClr val="bg2">
                    <a:lumMod val="75000"/>
                  </a:schemeClr>
                </a:solidFill>
                <a:hlinkClick r:id="rId4"/>
              </a:rPr>
              <a:t>2021</a:t>
            </a:r>
            <a:r>
              <a:rPr lang="en-US" sz="1000" i="1" dirty="0">
                <a:solidFill>
                  <a:schemeClr val="bg2">
                    <a:lumMod val="75000"/>
                  </a:schemeClr>
                </a:solidFill>
              </a:rPr>
              <a:t>)</a:t>
            </a:r>
          </a:p>
        </p:txBody>
      </p:sp>
      <p:pic>
        <p:nvPicPr>
          <p:cNvPr id="16" name="Picture 15" descr="A number of mathematical equations&#10;&#10;AI-generated content may be incorrect.">
            <a:extLst>
              <a:ext uri="{FF2B5EF4-FFF2-40B4-BE49-F238E27FC236}">
                <a16:creationId xmlns:a16="http://schemas.microsoft.com/office/drawing/2014/main" id="{1B2F05DB-DB0E-E1FE-4C24-C781F16AFA4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53206" y="2698190"/>
            <a:ext cx="2760411" cy="945768"/>
          </a:xfrm>
          <a:prstGeom prst="rect">
            <a:avLst/>
          </a:prstGeom>
        </p:spPr>
      </p:pic>
      <p:sp>
        <p:nvSpPr>
          <p:cNvPr id="17" name="TextBox 16">
            <a:extLst>
              <a:ext uri="{FF2B5EF4-FFF2-40B4-BE49-F238E27FC236}">
                <a16:creationId xmlns:a16="http://schemas.microsoft.com/office/drawing/2014/main" id="{A35C3DE3-BEE9-8A9C-8F14-52EA1895CCD8}"/>
              </a:ext>
            </a:extLst>
          </p:cNvPr>
          <p:cNvSpPr txBox="1"/>
          <p:nvPr/>
        </p:nvSpPr>
        <p:spPr>
          <a:xfrm>
            <a:off x="5530433" y="3380069"/>
            <a:ext cx="5432842" cy="647228"/>
          </a:xfrm>
          <a:prstGeom prst="rect">
            <a:avLst/>
          </a:prstGeom>
          <a:noFill/>
        </p:spPr>
        <p:txBody>
          <a:bodyPr wrap="square">
            <a:spAutoFit/>
          </a:bodyPr>
          <a:lstStyle/>
          <a:p>
            <a:pPr lvl="0" algn="just">
              <a:lnSpc>
                <a:spcPct val="90000"/>
              </a:lnSpc>
            </a:pPr>
            <a:r>
              <a:rPr lang="en-US" sz="1000" dirty="0">
                <a:solidFill>
                  <a:schemeClr val="bg2">
                    <a:lumMod val="25000"/>
                  </a:schemeClr>
                </a:solidFill>
              </a:rPr>
              <a:t>Where:</a:t>
            </a:r>
          </a:p>
          <a:p>
            <a:pPr lvl="0" algn="just">
              <a:lnSpc>
                <a:spcPct val="90000"/>
              </a:lnSpc>
            </a:pPr>
            <a:r>
              <a:rPr lang="en-US" sz="1000" i="1" dirty="0">
                <a:solidFill>
                  <a:schemeClr val="bg2">
                    <a:lumMod val="25000"/>
                  </a:schemeClr>
                </a:solidFill>
              </a:rPr>
              <a:t>O</a:t>
            </a:r>
            <a:r>
              <a:rPr lang="en-US" sz="1000" i="1" baseline="-25000" dirty="0">
                <a:solidFill>
                  <a:schemeClr val="bg2">
                    <a:lumMod val="25000"/>
                  </a:schemeClr>
                </a:solidFill>
              </a:rPr>
              <a:t>i</a:t>
            </a:r>
            <a:r>
              <a:rPr lang="en-US" sz="1000" dirty="0">
                <a:solidFill>
                  <a:schemeClr val="bg2">
                    <a:lumMod val="25000"/>
                  </a:schemeClr>
                </a:solidFill>
              </a:rPr>
              <a:t> is the observed frequency (number of presence or absence in PIR)</a:t>
            </a:r>
          </a:p>
          <a:p>
            <a:pPr lvl="0" algn="just">
              <a:lnSpc>
                <a:spcPct val="90000"/>
              </a:lnSpc>
            </a:pPr>
            <a:r>
              <a:rPr lang="en-US" sz="1000" i="1" dirty="0">
                <a:solidFill>
                  <a:schemeClr val="bg2">
                    <a:lumMod val="25000"/>
                  </a:schemeClr>
                </a:solidFill>
              </a:rPr>
              <a:t>E</a:t>
            </a:r>
            <a:r>
              <a:rPr lang="en-US" sz="1000" i="1" baseline="-25000" dirty="0">
                <a:solidFill>
                  <a:schemeClr val="bg2">
                    <a:lumMod val="25000"/>
                  </a:schemeClr>
                </a:solidFill>
              </a:rPr>
              <a:t>i</a:t>
            </a:r>
            <a:r>
              <a:rPr lang="en-US" sz="1000" dirty="0">
                <a:solidFill>
                  <a:schemeClr val="bg2">
                    <a:lumMod val="25000"/>
                  </a:schemeClr>
                </a:solidFill>
              </a:rPr>
              <a:t> is the expected frequency (number of presence or absence in GT) of the </a:t>
            </a:r>
            <a:r>
              <a:rPr lang="en-US" sz="1000" baseline="-25000" dirty="0" err="1">
                <a:solidFill>
                  <a:schemeClr val="bg2">
                    <a:lumMod val="25000"/>
                  </a:schemeClr>
                </a:solidFill>
              </a:rPr>
              <a:t>i</a:t>
            </a:r>
            <a:r>
              <a:rPr lang="en-US" sz="1000" dirty="0" err="1">
                <a:solidFill>
                  <a:schemeClr val="bg2">
                    <a:lumMod val="25000"/>
                  </a:schemeClr>
                </a:solidFill>
              </a:rPr>
              <a:t>th</a:t>
            </a:r>
            <a:r>
              <a:rPr lang="en-US" sz="1000" dirty="0">
                <a:solidFill>
                  <a:schemeClr val="bg2">
                    <a:lumMod val="25000"/>
                  </a:schemeClr>
                </a:solidFill>
              </a:rPr>
              <a:t> PIR sensor.</a:t>
            </a:r>
          </a:p>
          <a:p>
            <a:pPr lvl="0" algn="just">
              <a:lnSpc>
                <a:spcPct val="90000"/>
              </a:lnSpc>
            </a:pPr>
            <a:r>
              <a:rPr lang="en-US" sz="1000" i="1" dirty="0">
                <a:solidFill>
                  <a:schemeClr val="bg2">
                    <a:lumMod val="25000"/>
                  </a:schemeClr>
                </a:solidFill>
              </a:rPr>
              <a:t>C </a:t>
            </a:r>
            <a:r>
              <a:rPr lang="en-US" sz="1000" dirty="0">
                <a:solidFill>
                  <a:schemeClr val="bg2">
                    <a:lumMod val="25000"/>
                  </a:schemeClr>
                </a:solidFill>
              </a:rPr>
              <a:t>count of sensors observed</a:t>
            </a:r>
            <a:endParaRPr lang="en-US" sz="1000" i="1" dirty="0">
              <a:solidFill>
                <a:schemeClr val="bg2">
                  <a:lumMod val="25000"/>
                </a:schemeClr>
              </a:solidFill>
            </a:endParaRPr>
          </a:p>
        </p:txBody>
      </p:sp>
      <p:pic>
        <p:nvPicPr>
          <p:cNvPr id="19" name="Picture 18" descr="A black text on a white background&#10;&#10;AI-generated content may be incorrect.">
            <a:extLst>
              <a:ext uri="{FF2B5EF4-FFF2-40B4-BE49-F238E27FC236}">
                <a16:creationId xmlns:a16="http://schemas.microsoft.com/office/drawing/2014/main" id="{75C1ABDA-79C2-D3D8-E811-131F496FFA1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339237" y="4579594"/>
            <a:ext cx="3086716" cy="586676"/>
          </a:xfrm>
          <a:prstGeom prst="rect">
            <a:avLst/>
          </a:prstGeom>
        </p:spPr>
      </p:pic>
      <p:sp>
        <p:nvSpPr>
          <p:cNvPr id="20" name="TextBox 19">
            <a:extLst>
              <a:ext uri="{FF2B5EF4-FFF2-40B4-BE49-F238E27FC236}">
                <a16:creationId xmlns:a16="http://schemas.microsoft.com/office/drawing/2014/main" id="{12CD055A-437B-8FC7-D401-0C93B6580FB2}"/>
              </a:ext>
            </a:extLst>
          </p:cNvPr>
          <p:cNvSpPr txBox="1"/>
          <p:nvPr/>
        </p:nvSpPr>
        <p:spPr>
          <a:xfrm>
            <a:off x="10132648" y="4797775"/>
            <a:ext cx="1184984" cy="508729"/>
          </a:xfrm>
          <a:prstGeom prst="rect">
            <a:avLst/>
          </a:prstGeom>
          <a:noFill/>
        </p:spPr>
        <p:txBody>
          <a:bodyPr wrap="square">
            <a:spAutoFit/>
          </a:bodyPr>
          <a:lstStyle/>
          <a:p>
            <a:pPr lvl="0" algn="just">
              <a:lnSpc>
                <a:spcPct val="90000"/>
              </a:lnSpc>
            </a:pPr>
            <a:r>
              <a:rPr lang="en-US" sz="1000" dirty="0">
                <a:solidFill>
                  <a:schemeClr val="tx2">
                    <a:lumMod val="50000"/>
                    <a:lumOff val="50000"/>
                  </a:schemeClr>
                </a:solidFill>
              </a:rPr>
              <a:t>Sensor’s ability to accurately detect presence.</a:t>
            </a:r>
          </a:p>
        </p:txBody>
      </p:sp>
      <p:cxnSp>
        <p:nvCxnSpPr>
          <p:cNvPr id="21" name="Google Shape;377;p20">
            <a:extLst>
              <a:ext uri="{FF2B5EF4-FFF2-40B4-BE49-F238E27FC236}">
                <a16:creationId xmlns:a16="http://schemas.microsoft.com/office/drawing/2014/main" id="{76A336CA-0D4C-17D2-02F9-8A3378313987}"/>
              </a:ext>
            </a:extLst>
          </p:cNvPr>
          <p:cNvCxnSpPr>
            <a:cxnSpLocks/>
          </p:cNvCxnSpPr>
          <p:nvPr/>
        </p:nvCxnSpPr>
        <p:spPr>
          <a:xfrm>
            <a:off x="9346692" y="4913398"/>
            <a:ext cx="734027" cy="0"/>
          </a:xfrm>
          <a:prstGeom prst="straightConnector1">
            <a:avLst/>
          </a:prstGeom>
          <a:noFill/>
          <a:ln w="19050" cap="flat" cmpd="sng">
            <a:solidFill>
              <a:schemeClr val="tx2">
                <a:lumMod val="10000"/>
                <a:lumOff val="90000"/>
              </a:schemeClr>
            </a:solidFill>
            <a:prstDash val="dash"/>
            <a:round/>
            <a:headEnd type="none" w="sm" len="sm"/>
            <a:tailEnd type="none" w="sm" len="sm"/>
          </a:ln>
        </p:spPr>
      </p:cxnSp>
      <p:sp>
        <p:nvSpPr>
          <p:cNvPr id="22" name="TextBox 21">
            <a:extLst>
              <a:ext uri="{FF2B5EF4-FFF2-40B4-BE49-F238E27FC236}">
                <a16:creationId xmlns:a16="http://schemas.microsoft.com/office/drawing/2014/main" id="{F619E755-C7FD-8CD5-98CA-2F1D3755E584}"/>
              </a:ext>
            </a:extLst>
          </p:cNvPr>
          <p:cNvSpPr txBox="1"/>
          <p:nvPr/>
        </p:nvSpPr>
        <p:spPr>
          <a:xfrm>
            <a:off x="10120312" y="3067050"/>
            <a:ext cx="1685926" cy="508729"/>
          </a:xfrm>
          <a:prstGeom prst="rect">
            <a:avLst/>
          </a:prstGeom>
          <a:noFill/>
        </p:spPr>
        <p:txBody>
          <a:bodyPr wrap="square">
            <a:spAutoFit/>
          </a:bodyPr>
          <a:lstStyle/>
          <a:p>
            <a:pPr lvl="0" algn="just">
              <a:lnSpc>
                <a:spcPct val="90000"/>
              </a:lnSpc>
            </a:pPr>
            <a:r>
              <a:rPr lang="en-US" sz="1000" dirty="0">
                <a:solidFill>
                  <a:schemeClr val="tx2">
                    <a:lumMod val="50000"/>
                    <a:lumOff val="50000"/>
                  </a:schemeClr>
                </a:solidFill>
              </a:rPr>
              <a:t>Test of goodness: observed presence/ absence using PIR vs. GT.</a:t>
            </a:r>
          </a:p>
        </p:txBody>
      </p:sp>
      <p:cxnSp>
        <p:nvCxnSpPr>
          <p:cNvPr id="24" name="Google Shape;377;p20">
            <a:extLst>
              <a:ext uri="{FF2B5EF4-FFF2-40B4-BE49-F238E27FC236}">
                <a16:creationId xmlns:a16="http://schemas.microsoft.com/office/drawing/2014/main" id="{7E10A4B7-9019-4937-008C-29762B0C7963}"/>
              </a:ext>
            </a:extLst>
          </p:cNvPr>
          <p:cNvCxnSpPr>
            <a:cxnSpLocks/>
          </p:cNvCxnSpPr>
          <p:nvPr/>
        </p:nvCxnSpPr>
        <p:spPr>
          <a:xfrm>
            <a:off x="9372915" y="3161551"/>
            <a:ext cx="656910" cy="0"/>
          </a:xfrm>
          <a:prstGeom prst="straightConnector1">
            <a:avLst/>
          </a:prstGeom>
          <a:noFill/>
          <a:ln w="19050" cap="flat" cmpd="sng">
            <a:solidFill>
              <a:schemeClr val="tx2">
                <a:lumMod val="10000"/>
                <a:lumOff val="90000"/>
              </a:schemeClr>
            </a:solidFill>
            <a:prstDash val="dash"/>
            <a:round/>
            <a:headEnd type="none" w="sm" len="sm"/>
            <a:tailEnd type="none" w="sm" len="sm"/>
          </a:ln>
        </p:spPr>
      </p:cxnSp>
      <p:sp>
        <p:nvSpPr>
          <p:cNvPr id="27" name="TextBox 26">
            <a:extLst>
              <a:ext uri="{FF2B5EF4-FFF2-40B4-BE49-F238E27FC236}">
                <a16:creationId xmlns:a16="http://schemas.microsoft.com/office/drawing/2014/main" id="{6AF9B5C0-8CB0-7B5F-3765-5828AA877A1D}"/>
              </a:ext>
            </a:extLst>
          </p:cNvPr>
          <p:cNvSpPr txBox="1"/>
          <p:nvPr/>
        </p:nvSpPr>
        <p:spPr>
          <a:xfrm>
            <a:off x="5542769" y="5091087"/>
            <a:ext cx="4589879" cy="1062727"/>
          </a:xfrm>
          <a:prstGeom prst="rect">
            <a:avLst/>
          </a:prstGeom>
          <a:noFill/>
        </p:spPr>
        <p:txBody>
          <a:bodyPr wrap="square">
            <a:spAutoFit/>
          </a:bodyPr>
          <a:lstStyle/>
          <a:p>
            <a:pPr lvl="0" algn="just">
              <a:lnSpc>
                <a:spcPct val="90000"/>
              </a:lnSpc>
            </a:pPr>
            <a:r>
              <a:rPr lang="en-US" sz="1000" dirty="0">
                <a:solidFill>
                  <a:schemeClr val="bg2">
                    <a:lumMod val="25000"/>
                  </a:schemeClr>
                </a:solidFill>
              </a:rPr>
              <a:t>Accuracy estimates the number of times a sensor correctly identified presence and absence and was calculated for each PIR sensor pr. day. Where:</a:t>
            </a:r>
          </a:p>
          <a:p>
            <a:pPr lvl="0" algn="just">
              <a:lnSpc>
                <a:spcPct val="90000"/>
              </a:lnSpc>
            </a:pPr>
            <a:endParaRPr lang="en-US" sz="1000" dirty="0">
              <a:solidFill>
                <a:schemeClr val="bg2">
                  <a:lumMod val="25000"/>
                </a:schemeClr>
              </a:solidFill>
            </a:endParaRPr>
          </a:p>
          <a:p>
            <a:pPr lvl="0" algn="just">
              <a:lnSpc>
                <a:spcPct val="90000"/>
              </a:lnSpc>
            </a:pPr>
            <a:r>
              <a:rPr lang="en-US" sz="1000" i="1" dirty="0">
                <a:solidFill>
                  <a:schemeClr val="bg2">
                    <a:lumMod val="25000"/>
                  </a:schemeClr>
                </a:solidFill>
              </a:rPr>
              <a:t>TP, </a:t>
            </a:r>
            <a:r>
              <a:rPr lang="en-US" sz="1000" dirty="0">
                <a:solidFill>
                  <a:schemeClr val="bg2">
                    <a:lumMod val="25000"/>
                  </a:schemeClr>
                </a:solidFill>
              </a:rPr>
              <a:t>number of true positive</a:t>
            </a:r>
          </a:p>
          <a:p>
            <a:pPr lvl="0" algn="just">
              <a:lnSpc>
                <a:spcPct val="90000"/>
              </a:lnSpc>
            </a:pPr>
            <a:r>
              <a:rPr lang="en-US" sz="1000" i="1" dirty="0">
                <a:solidFill>
                  <a:schemeClr val="bg2">
                    <a:lumMod val="25000"/>
                  </a:schemeClr>
                </a:solidFill>
              </a:rPr>
              <a:t>TN</a:t>
            </a:r>
            <a:r>
              <a:rPr lang="en-US" sz="1000" dirty="0">
                <a:solidFill>
                  <a:schemeClr val="bg2">
                    <a:lumMod val="25000"/>
                  </a:schemeClr>
                </a:solidFill>
              </a:rPr>
              <a:t>, number of true negative</a:t>
            </a:r>
          </a:p>
          <a:p>
            <a:pPr lvl="0" algn="just">
              <a:lnSpc>
                <a:spcPct val="90000"/>
              </a:lnSpc>
            </a:pPr>
            <a:r>
              <a:rPr lang="en-US" sz="1000" i="1" dirty="0">
                <a:solidFill>
                  <a:schemeClr val="bg2">
                    <a:lumMod val="25000"/>
                  </a:schemeClr>
                </a:solidFill>
              </a:rPr>
              <a:t>FP</a:t>
            </a:r>
            <a:r>
              <a:rPr lang="en-US" sz="1000" dirty="0">
                <a:solidFill>
                  <a:schemeClr val="bg2">
                    <a:lumMod val="25000"/>
                  </a:schemeClr>
                </a:solidFill>
              </a:rPr>
              <a:t>, number of false positive</a:t>
            </a:r>
          </a:p>
          <a:p>
            <a:pPr lvl="0" algn="just">
              <a:lnSpc>
                <a:spcPct val="90000"/>
              </a:lnSpc>
            </a:pPr>
            <a:r>
              <a:rPr lang="en-US" sz="1000" i="1" dirty="0">
                <a:solidFill>
                  <a:schemeClr val="bg2">
                    <a:lumMod val="25000"/>
                  </a:schemeClr>
                </a:solidFill>
              </a:rPr>
              <a:t>FN</a:t>
            </a:r>
            <a:r>
              <a:rPr lang="en-US" sz="1000" dirty="0">
                <a:solidFill>
                  <a:schemeClr val="bg2">
                    <a:lumMod val="25000"/>
                  </a:schemeClr>
                </a:solidFill>
              </a:rPr>
              <a:t>, number of false negative</a:t>
            </a:r>
          </a:p>
        </p:txBody>
      </p:sp>
      <p:pic>
        <p:nvPicPr>
          <p:cNvPr id="5" name="Picture 4" descr="A drawing of a table and chairs&#10;&#10;AI-generated content may be incorrect.">
            <a:extLst>
              <a:ext uri="{FF2B5EF4-FFF2-40B4-BE49-F238E27FC236}">
                <a16:creationId xmlns:a16="http://schemas.microsoft.com/office/drawing/2014/main" id="{2C7889A1-D86E-142C-ABD6-9888478B9F03}"/>
              </a:ext>
            </a:extLst>
          </p:cNvPr>
          <p:cNvPicPr>
            <a:picLocks noChangeAspect="1"/>
          </p:cNvPicPr>
          <p:nvPr/>
        </p:nvPicPr>
        <p:blipFill>
          <a:blip r:embed="rId7">
            <a:extLst>
              <a:ext uri="{28A0092B-C50C-407E-A947-70E740481C1C}">
                <a14:useLocalDpi xmlns:a14="http://schemas.microsoft.com/office/drawing/2010/main" val="0"/>
              </a:ext>
            </a:extLst>
          </a:blip>
          <a:srcRect r="6640" b="4956"/>
          <a:stretch>
            <a:fillRect/>
          </a:stretch>
        </p:blipFill>
        <p:spPr>
          <a:xfrm>
            <a:off x="2395308" y="3357982"/>
            <a:ext cx="2567182" cy="2850631"/>
          </a:xfrm>
          <a:prstGeom prst="rect">
            <a:avLst/>
          </a:prstGeom>
        </p:spPr>
      </p:pic>
      <p:sp>
        <p:nvSpPr>
          <p:cNvPr id="9" name="Rectangle 8">
            <a:extLst>
              <a:ext uri="{FF2B5EF4-FFF2-40B4-BE49-F238E27FC236}">
                <a16:creationId xmlns:a16="http://schemas.microsoft.com/office/drawing/2014/main" id="{C33E9978-D2FE-0D4F-6F32-C273C132E880}"/>
              </a:ext>
            </a:extLst>
          </p:cNvPr>
          <p:cNvSpPr/>
          <p:nvPr/>
        </p:nvSpPr>
        <p:spPr>
          <a:xfrm>
            <a:off x="4806246" y="4583968"/>
            <a:ext cx="100345" cy="172379"/>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dirty="0"/>
          </a:p>
        </p:txBody>
      </p:sp>
      <p:sp>
        <p:nvSpPr>
          <p:cNvPr id="15" name="TextBox 14">
            <a:extLst>
              <a:ext uri="{FF2B5EF4-FFF2-40B4-BE49-F238E27FC236}">
                <a16:creationId xmlns:a16="http://schemas.microsoft.com/office/drawing/2014/main" id="{133EFCFB-55B6-5CD4-1F65-75499D1955DC}"/>
              </a:ext>
            </a:extLst>
          </p:cNvPr>
          <p:cNvSpPr txBox="1">
            <a:spLocks/>
          </p:cNvSpPr>
          <p:nvPr/>
        </p:nvSpPr>
        <p:spPr>
          <a:xfrm>
            <a:off x="5318871" y="4550549"/>
            <a:ext cx="558565" cy="231730"/>
          </a:xfrm>
          <a:prstGeom prst="rect">
            <a:avLst/>
          </a:prstGeom>
          <a:noFill/>
          <a:ln w="3175">
            <a:solidFill>
              <a:schemeClr val="tx2">
                <a:lumMod val="50000"/>
                <a:lumOff val="50000"/>
              </a:schemeClr>
            </a:solidFill>
          </a:ln>
        </p:spPr>
        <p:txBody>
          <a:bodyPr wrap="square">
            <a:spAutoFit/>
          </a:bodyPr>
          <a:lstStyle/>
          <a:p>
            <a:pPr lvl="0" algn="ctr">
              <a:lnSpc>
                <a:spcPct val="90000"/>
              </a:lnSpc>
            </a:pPr>
            <a:r>
              <a:rPr lang="en-US" sz="1000" dirty="0">
                <a:solidFill>
                  <a:schemeClr val="tx2">
                    <a:lumMod val="50000"/>
                    <a:lumOff val="50000"/>
                  </a:schemeClr>
                </a:solidFill>
              </a:rPr>
              <a:t>Sensi</a:t>
            </a:r>
            <a:endParaRPr lang="en-US" sz="1000" b="1" dirty="0">
              <a:solidFill>
                <a:schemeClr val="tx2">
                  <a:lumMod val="50000"/>
                  <a:lumOff val="50000"/>
                </a:schemeClr>
              </a:solidFill>
            </a:endParaRPr>
          </a:p>
        </p:txBody>
      </p:sp>
      <p:cxnSp>
        <p:nvCxnSpPr>
          <p:cNvPr id="18" name="Straight Connector 17">
            <a:extLst>
              <a:ext uri="{FF2B5EF4-FFF2-40B4-BE49-F238E27FC236}">
                <a16:creationId xmlns:a16="http://schemas.microsoft.com/office/drawing/2014/main" id="{6228DE4A-8859-28A1-C87E-673AC525E6BE}"/>
              </a:ext>
            </a:extLst>
          </p:cNvPr>
          <p:cNvCxnSpPr>
            <a:cxnSpLocks/>
            <a:endCxn id="15" idx="1"/>
          </p:cNvCxnSpPr>
          <p:nvPr/>
        </p:nvCxnSpPr>
        <p:spPr>
          <a:xfrm flipV="1">
            <a:off x="4881518" y="4666414"/>
            <a:ext cx="437353" cy="593"/>
          </a:xfrm>
          <a:prstGeom prst="line">
            <a:avLst/>
          </a:prstGeom>
          <a:ln w="6350">
            <a:solidFill>
              <a:schemeClr val="tx2">
                <a:lumMod val="50000"/>
                <a:lumOff val="50000"/>
              </a:schemeClr>
            </a:solidFill>
          </a:ln>
        </p:spPr>
        <p:style>
          <a:lnRef idx="2">
            <a:schemeClr val="accent1"/>
          </a:lnRef>
          <a:fillRef idx="0">
            <a:schemeClr val="accent1"/>
          </a:fillRef>
          <a:effectRef idx="1">
            <a:schemeClr val="accent1"/>
          </a:effectRef>
          <a:fontRef idx="minor">
            <a:schemeClr val="tx1"/>
          </a:fontRef>
        </p:style>
      </p:cxnSp>
      <p:pic>
        <p:nvPicPr>
          <p:cNvPr id="35" name="Picture 34" descr="A diagram of a person's figure&#10;&#10;AI-generated content may be incorrect.">
            <a:extLst>
              <a:ext uri="{FF2B5EF4-FFF2-40B4-BE49-F238E27FC236}">
                <a16:creationId xmlns:a16="http://schemas.microsoft.com/office/drawing/2014/main" id="{7C59035C-36E6-0693-F0AE-964617CC3894}"/>
              </a:ext>
            </a:extLst>
          </p:cNvPr>
          <p:cNvPicPr>
            <a:picLocks noChangeAspect="1"/>
          </p:cNvPicPr>
          <p:nvPr/>
        </p:nvPicPr>
        <p:blipFill>
          <a:blip r:embed="rId8">
            <a:extLst>
              <a:ext uri="{28A0092B-C50C-407E-A947-70E740481C1C}">
                <a14:useLocalDpi xmlns:a14="http://schemas.microsoft.com/office/drawing/2010/main" val="0"/>
              </a:ext>
            </a:extLst>
          </a:blip>
          <a:srcRect l="4028" r="65670"/>
          <a:stretch>
            <a:fillRect/>
          </a:stretch>
        </p:blipFill>
        <p:spPr>
          <a:xfrm>
            <a:off x="499059" y="3003074"/>
            <a:ext cx="1836616" cy="3492749"/>
          </a:xfrm>
          <a:prstGeom prst="rect">
            <a:avLst/>
          </a:prstGeom>
        </p:spPr>
      </p:pic>
      <p:sp>
        <p:nvSpPr>
          <p:cNvPr id="37" name="Google Shape;382;p20">
            <a:extLst>
              <a:ext uri="{FF2B5EF4-FFF2-40B4-BE49-F238E27FC236}">
                <a16:creationId xmlns:a16="http://schemas.microsoft.com/office/drawing/2014/main" id="{C3C0621A-4B84-558B-D8A6-EBE4A653990E}"/>
              </a:ext>
            </a:extLst>
          </p:cNvPr>
          <p:cNvSpPr txBox="1"/>
          <p:nvPr/>
        </p:nvSpPr>
        <p:spPr>
          <a:xfrm>
            <a:off x="1437376" y="2452604"/>
            <a:ext cx="3291378" cy="246181"/>
          </a:xfrm>
          <a:prstGeom prst="rect">
            <a:avLst/>
          </a:prstGeom>
          <a:noFill/>
          <a:ln>
            <a:noFill/>
          </a:ln>
        </p:spPr>
        <p:txBody>
          <a:bodyPr spcFirstLastPara="1" wrap="square" lIns="91425" tIns="45700" rIns="91425" bIns="45700" anchor="t" anchorCtr="0">
            <a:spAutoFit/>
          </a:bodyPr>
          <a:lstStyle/>
          <a:p>
            <a:pPr marL="457200" lvl="1" algn="just"/>
            <a:r>
              <a:rPr lang="it-IT" sz="1000" dirty="0">
                <a:solidFill>
                  <a:schemeClr val="tx2">
                    <a:lumMod val="50000"/>
                    <a:lumOff val="50000"/>
                  </a:schemeClr>
                </a:solidFill>
                <a:latin typeface="Arial"/>
                <a:ea typeface="Arial"/>
                <a:cs typeface="Arial"/>
                <a:sym typeface="Arial"/>
              </a:rPr>
              <a:t>PIR</a:t>
            </a:r>
            <a:endParaRPr lang="it-IT" sz="1000" b="0" i="0" u="none" strike="noStrike" cap="none" baseline="-25000" dirty="0">
              <a:solidFill>
                <a:schemeClr val="tx2">
                  <a:lumMod val="50000"/>
                  <a:lumOff val="50000"/>
                </a:schemeClr>
              </a:solidFill>
              <a:latin typeface="Arial"/>
              <a:ea typeface="Arial"/>
              <a:cs typeface="Arial"/>
              <a:sym typeface="Arial"/>
            </a:endParaRPr>
          </a:p>
        </p:txBody>
      </p:sp>
      <p:sp>
        <p:nvSpPr>
          <p:cNvPr id="39" name="TextBox 38">
            <a:extLst>
              <a:ext uri="{FF2B5EF4-FFF2-40B4-BE49-F238E27FC236}">
                <a16:creationId xmlns:a16="http://schemas.microsoft.com/office/drawing/2014/main" id="{4555F040-8038-0FEE-FD4E-E4AC63DAD8CA}"/>
              </a:ext>
            </a:extLst>
          </p:cNvPr>
          <p:cNvSpPr txBox="1"/>
          <p:nvPr/>
        </p:nvSpPr>
        <p:spPr>
          <a:xfrm>
            <a:off x="5530433" y="2643141"/>
            <a:ext cx="6096000" cy="246221"/>
          </a:xfrm>
          <a:prstGeom prst="rect">
            <a:avLst/>
          </a:prstGeom>
          <a:noFill/>
        </p:spPr>
        <p:txBody>
          <a:bodyPr wrap="square">
            <a:spAutoFit/>
          </a:bodyPr>
          <a:lstStyle/>
          <a:p>
            <a:r>
              <a:rPr lang="en-US" sz="1000" dirty="0"/>
              <a:t>Chi-Square Test (</a:t>
            </a:r>
            <a:r>
              <a:rPr lang="el-GR" sz="1000" dirty="0"/>
              <a:t>χ²)</a:t>
            </a:r>
            <a:r>
              <a:rPr lang="en-US" sz="1000" dirty="0"/>
              <a:t> to validate PIR-sensor based occupancy detection against a known truth:</a:t>
            </a:r>
            <a:endParaRPr lang="nl-NL" sz="1000" dirty="0"/>
          </a:p>
        </p:txBody>
      </p:sp>
      <p:sp>
        <p:nvSpPr>
          <p:cNvPr id="40" name="TextBox 39">
            <a:extLst>
              <a:ext uri="{FF2B5EF4-FFF2-40B4-BE49-F238E27FC236}">
                <a16:creationId xmlns:a16="http://schemas.microsoft.com/office/drawing/2014/main" id="{2AF30150-89DB-B4B8-6511-C2A19CEFDEC5}"/>
              </a:ext>
            </a:extLst>
          </p:cNvPr>
          <p:cNvSpPr txBox="1"/>
          <p:nvPr/>
        </p:nvSpPr>
        <p:spPr>
          <a:xfrm>
            <a:off x="499059" y="6331077"/>
            <a:ext cx="4589879" cy="480901"/>
          </a:xfrm>
          <a:prstGeom prst="rect">
            <a:avLst/>
          </a:prstGeom>
          <a:noFill/>
        </p:spPr>
        <p:txBody>
          <a:bodyPr wrap="square">
            <a:spAutoFit/>
          </a:bodyPr>
          <a:lstStyle/>
          <a:p>
            <a:pPr lvl="0" algn="just">
              <a:lnSpc>
                <a:spcPct val="90000"/>
              </a:lnSpc>
            </a:pPr>
            <a:r>
              <a:rPr lang="en-US" sz="1000" dirty="0">
                <a:solidFill>
                  <a:schemeClr val="tx2">
                    <a:lumMod val="50000"/>
                    <a:lumOff val="50000"/>
                  </a:schemeClr>
                </a:solidFill>
              </a:rPr>
              <a:t>* </a:t>
            </a:r>
            <a:r>
              <a:rPr lang="en-US" sz="1000" dirty="0">
                <a:solidFill>
                  <a:schemeClr val="bg2">
                    <a:lumMod val="25000"/>
                  </a:schemeClr>
                </a:solidFill>
              </a:rPr>
              <a:t>  </a:t>
            </a:r>
            <a:r>
              <a:rPr lang="en-US" sz="900" i="1" dirty="0">
                <a:solidFill>
                  <a:schemeClr val="bg2">
                    <a:lumMod val="25000"/>
                  </a:schemeClr>
                </a:solidFill>
              </a:rPr>
              <a:t>Effective detection area: up to 7.5 m wide × 6.0 m deep under ideal conditions.</a:t>
            </a:r>
          </a:p>
          <a:p>
            <a:pPr lvl="0" algn="just">
              <a:lnSpc>
                <a:spcPct val="90000"/>
              </a:lnSpc>
            </a:pPr>
            <a:r>
              <a:rPr lang="en-US" sz="900" i="1" dirty="0">
                <a:solidFill>
                  <a:schemeClr val="tx2">
                    <a:lumMod val="50000"/>
                    <a:lumOff val="50000"/>
                  </a:schemeClr>
                </a:solidFill>
              </a:rPr>
              <a:t>**</a:t>
            </a:r>
            <a:r>
              <a:rPr lang="en-US" sz="900" i="1" dirty="0">
                <a:solidFill>
                  <a:schemeClr val="bg2">
                    <a:lumMod val="25000"/>
                  </a:schemeClr>
                </a:solidFill>
              </a:rPr>
              <a:t> </a:t>
            </a:r>
            <a:r>
              <a:rPr lang="en-US" sz="900" i="1" dirty="0"/>
              <a:t>After detecting motion, the PIR sensor goes into a 30-second "blanking" period. Not ideal for detecting still occupancy without some motion.</a:t>
            </a:r>
            <a:endParaRPr lang="en-US" sz="900" i="1" dirty="0">
              <a:solidFill>
                <a:schemeClr val="bg2">
                  <a:lumMod val="25000"/>
                </a:schemeClr>
              </a:solidFill>
            </a:endParaRPr>
          </a:p>
        </p:txBody>
      </p:sp>
      <p:sp>
        <p:nvSpPr>
          <p:cNvPr id="41" name="TextBox 40">
            <a:extLst>
              <a:ext uri="{FF2B5EF4-FFF2-40B4-BE49-F238E27FC236}">
                <a16:creationId xmlns:a16="http://schemas.microsoft.com/office/drawing/2014/main" id="{FFEFDE2B-9CFE-EB57-59E2-805218B6AA0E}"/>
              </a:ext>
            </a:extLst>
          </p:cNvPr>
          <p:cNvSpPr txBox="1"/>
          <p:nvPr/>
        </p:nvSpPr>
        <p:spPr>
          <a:xfrm>
            <a:off x="5183938" y="4797533"/>
            <a:ext cx="1184984" cy="231730"/>
          </a:xfrm>
          <a:prstGeom prst="rect">
            <a:avLst/>
          </a:prstGeom>
          <a:noFill/>
        </p:spPr>
        <p:txBody>
          <a:bodyPr wrap="square">
            <a:spAutoFit/>
          </a:bodyPr>
          <a:lstStyle/>
          <a:p>
            <a:pPr lvl="0" algn="just">
              <a:lnSpc>
                <a:spcPct val="90000"/>
              </a:lnSpc>
            </a:pPr>
            <a:r>
              <a:rPr lang="en-US" sz="1000" dirty="0">
                <a:solidFill>
                  <a:schemeClr val="tx2">
                    <a:lumMod val="50000"/>
                    <a:lumOff val="50000"/>
                  </a:schemeClr>
                </a:solidFill>
              </a:rPr>
              <a:t>1.6m height</a:t>
            </a:r>
          </a:p>
        </p:txBody>
      </p:sp>
      <p:sp>
        <p:nvSpPr>
          <p:cNvPr id="42" name="TextBox 41">
            <a:extLst>
              <a:ext uri="{FF2B5EF4-FFF2-40B4-BE49-F238E27FC236}">
                <a16:creationId xmlns:a16="http://schemas.microsoft.com/office/drawing/2014/main" id="{318D5EF5-DDFF-48F9-0C35-6AEB0F6E9D0D}"/>
              </a:ext>
            </a:extLst>
          </p:cNvPr>
          <p:cNvSpPr txBox="1"/>
          <p:nvPr/>
        </p:nvSpPr>
        <p:spPr>
          <a:xfrm>
            <a:off x="3593129" y="3113916"/>
            <a:ext cx="1184984" cy="231730"/>
          </a:xfrm>
          <a:prstGeom prst="rect">
            <a:avLst/>
          </a:prstGeom>
          <a:noFill/>
        </p:spPr>
        <p:txBody>
          <a:bodyPr wrap="square">
            <a:spAutoFit/>
          </a:bodyPr>
          <a:lstStyle/>
          <a:p>
            <a:pPr lvl="0" algn="just">
              <a:lnSpc>
                <a:spcPct val="90000"/>
              </a:lnSpc>
            </a:pPr>
            <a:r>
              <a:rPr lang="en-US" sz="1000" dirty="0">
                <a:solidFill>
                  <a:schemeClr val="tx2">
                    <a:lumMod val="50000"/>
                    <a:lumOff val="50000"/>
                  </a:schemeClr>
                </a:solidFill>
              </a:rPr>
              <a:t>5 m detection</a:t>
            </a:r>
          </a:p>
        </p:txBody>
      </p:sp>
      <p:sp>
        <p:nvSpPr>
          <p:cNvPr id="43" name="Right Bracket 42">
            <a:extLst>
              <a:ext uri="{FF2B5EF4-FFF2-40B4-BE49-F238E27FC236}">
                <a16:creationId xmlns:a16="http://schemas.microsoft.com/office/drawing/2014/main" id="{6B21C028-CD87-031B-A48E-823C2FAC43E7}"/>
              </a:ext>
            </a:extLst>
          </p:cNvPr>
          <p:cNvSpPr/>
          <p:nvPr/>
        </p:nvSpPr>
        <p:spPr>
          <a:xfrm rot="16200000">
            <a:off x="3287982" y="1861427"/>
            <a:ext cx="106955" cy="3028189"/>
          </a:xfrm>
          <a:prstGeom prst="rightBracket">
            <a:avLst/>
          </a:prstGeom>
          <a:ln w="3175">
            <a:solidFill>
              <a:schemeClr val="tx2">
                <a:lumMod val="50000"/>
                <a:lumOff val="50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nl-NL"/>
          </a:p>
        </p:txBody>
      </p:sp>
      <p:sp>
        <p:nvSpPr>
          <p:cNvPr id="33" name="Isosceles Triangle 32">
            <a:extLst>
              <a:ext uri="{FF2B5EF4-FFF2-40B4-BE49-F238E27FC236}">
                <a16:creationId xmlns:a16="http://schemas.microsoft.com/office/drawing/2014/main" id="{B5319F36-238D-CC89-CD1B-F7579A756E2B}"/>
              </a:ext>
            </a:extLst>
          </p:cNvPr>
          <p:cNvSpPr/>
          <p:nvPr/>
        </p:nvSpPr>
        <p:spPr>
          <a:xfrm rot="5400000">
            <a:off x="1908378" y="3110518"/>
            <a:ext cx="2796705" cy="3137872"/>
          </a:xfrm>
          <a:prstGeom prst="triangle">
            <a:avLst/>
          </a:prstGeom>
          <a:solidFill>
            <a:schemeClr val="tx2">
              <a:lumMod val="25000"/>
              <a:lumOff val="75000"/>
              <a:alpha val="2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dirty="0"/>
          </a:p>
        </p:txBody>
      </p:sp>
      <p:sp>
        <p:nvSpPr>
          <p:cNvPr id="2" name="TextBox 1">
            <a:extLst>
              <a:ext uri="{FF2B5EF4-FFF2-40B4-BE49-F238E27FC236}">
                <a16:creationId xmlns:a16="http://schemas.microsoft.com/office/drawing/2014/main" id="{52BD4C52-11F5-FD54-69B9-9A5D36F996C0}"/>
              </a:ext>
            </a:extLst>
          </p:cNvPr>
          <p:cNvSpPr txBox="1"/>
          <p:nvPr/>
        </p:nvSpPr>
        <p:spPr>
          <a:xfrm>
            <a:off x="408358" y="1126859"/>
            <a:ext cx="4900863" cy="830997"/>
          </a:xfrm>
          <a:prstGeom prst="rect">
            <a:avLst/>
          </a:prstGeom>
          <a:noFill/>
        </p:spPr>
        <p:txBody>
          <a:bodyPr wrap="square">
            <a:spAutoFit/>
          </a:bodyPr>
          <a:lstStyle/>
          <a:p>
            <a:pPr algn="just"/>
            <a:r>
              <a:rPr lang="en-GB" sz="1200" dirty="0">
                <a:solidFill>
                  <a:schemeClr val="tx2">
                    <a:lumMod val="50000"/>
                    <a:lumOff val="50000"/>
                  </a:schemeClr>
                </a:solidFill>
              </a:rPr>
              <a:t>The pilot tests included several test scenarios to understand limitations of each logged parameter such as PIR and CO2 etc. as well as validate the range covered by the sensor for each parameter as stated on the tech sheet. Such  as: </a:t>
            </a:r>
            <a:endParaRPr lang="en-IT" sz="1200" dirty="0">
              <a:solidFill>
                <a:schemeClr val="tx2">
                  <a:lumMod val="50000"/>
                  <a:lumOff val="50000"/>
                </a:schemeClr>
              </a:solidFill>
            </a:endParaRPr>
          </a:p>
        </p:txBody>
      </p:sp>
      <p:sp>
        <p:nvSpPr>
          <p:cNvPr id="4" name="Google Shape;423;p21">
            <a:extLst>
              <a:ext uri="{FF2B5EF4-FFF2-40B4-BE49-F238E27FC236}">
                <a16:creationId xmlns:a16="http://schemas.microsoft.com/office/drawing/2014/main" id="{CD82A0BB-7AEF-103D-FF29-DE1F8E3ABABB}"/>
              </a:ext>
            </a:extLst>
          </p:cNvPr>
          <p:cNvSpPr txBox="1"/>
          <p:nvPr/>
        </p:nvSpPr>
        <p:spPr>
          <a:xfrm>
            <a:off x="379614" y="487690"/>
            <a:ext cx="3104967" cy="424691"/>
          </a:xfrm>
          <a:prstGeom prst="rect">
            <a:avLst/>
          </a:prstGeom>
          <a:noFill/>
          <a:ln>
            <a:noFill/>
          </a:ln>
        </p:spPr>
        <p:txBody>
          <a:bodyPr spcFirstLastPara="1" wrap="square" lIns="91425" tIns="45700" rIns="91425" bIns="45700" anchor="t" anchorCtr="0">
            <a:spAutoFit/>
          </a:bodyPr>
          <a:lstStyle/>
          <a:p>
            <a:pPr lvl="0">
              <a:lnSpc>
                <a:spcPct val="90000"/>
              </a:lnSpc>
            </a:pPr>
            <a:r>
              <a:rPr lang="en-US" sz="2400" b="1" dirty="0">
                <a:solidFill>
                  <a:srgbClr val="4892DC"/>
                </a:solidFill>
                <a:latin typeface="Arial"/>
                <a:ea typeface="Arial"/>
                <a:cs typeface="Arial"/>
                <a:sym typeface="Arial"/>
              </a:rPr>
              <a:t>2</a:t>
            </a:r>
            <a:r>
              <a:rPr lang="en-US" sz="2400" b="1" i="0" u="none" strike="noStrike" cap="none" dirty="0">
                <a:solidFill>
                  <a:srgbClr val="4892DC"/>
                </a:solidFill>
                <a:latin typeface="Arial"/>
                <a:ea typeface="Arial"/>
                <a:cs typeface="Arial"/>
                <a:sym typeface="Arial"/>
              </a:rPr>
              <a:t>. </a:t>
            </a:r>
            <a:r>
              <a:rPr lang="en-US" sz="2400" b="1" dirty="0">
                <a:solidFill>
                  <a:srgbClr val="4892DC"/>
                </a:solidFill>
                <a:latin typeface="Arial"/>
                <a:ea typeface="Arial"/>
                <a:cs typeface="Arial"/>
                <a:sym typeface="Arial"/>
              </a:rPr>
              <a:t>PILOT </a:t>
            </a:r>
            <a:r>
              <a:rPr lang="en-US" sz="1400" dirty="0">
                <a:solidFill>
                  <a:srgbClr val="4892DC"/>
                </a:solidFill>
                <a:latin typeface="Arial"/>
                <a:ea typeface="Arial"/>
                <a:cs typeface="Arial"/>
                <a:sym typeface="Arial"/>
              </a:rPr>
              <a:t>TESTING [Celsius]</a:t>
            </a:r>
            <a:endParaRPr lang="en-US" u="none" strike="noStrike" cap="none" dirty="0">
              <a:solidFill>
                <a:srgbClr val="4892DC"/>
              </a:solidFill>
              <a:latin typeface="Arial"/>
              <a:ea typeface="Arial"/>
              <a:cs typeface="Arial"/>
              <a:sym typeface="Arial"/>
            </a:endParaRPr>
          </a:p>
        </p:txBody>
      </p:sp>
    </p:spTree>
    <p:extLst>
      <p:ext uri="{BB962C8B-B14F-4D97-AF65-F5344CB8AC3E}">
        <p14:creationId xmlns:p14="http://schemas.microsoft.com/office/powerpoint/2010/main" val="41257953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74">
          <a:extLst>
            <a:ext uri="{FF2B5EF4-FFF2-40B4-BE49-F238E27FC236}">
              <a16:creationId xmlns:a16="http://schemas.microsoft.com/office/drawing/2014/main" id="{6A359805-8F1C-1985-31CC-08D4153CBF11}"/>
            </a:ext>
          </a:extLst>
        </p:cNvPr>
        <p:cNvGrpSpPr/>
        <p:nvPr/>
      </p:nvGrpSpPr>
      <p:grpSpPr>
        <a:xfrm>
          <a:off x="0" y="0"/>
          <a:ext cx="0" cy="0"/>
          <a:chOff x="0" y="0"/>
          <a:chExt cx="0" cy="0"/>
        </a:xfrm>
      </p:grpSpPr>
      <p:pic>
        <p:nvPicPr>
          <p:cNvPr id="30" name="Picture 29">
            <a:extLst>
              <a:ext uri="{FF2B5EF4-FFF2-40B4-BE49-F238E27FC236}">
                <a16:creationId xmlns:a16="http://schemas.microsoft.com/office/drawing/2014/main" id="{50A11B0A-4285-8B8C-F343-EA4A8D1A107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625162" y="743125"/>
            <a:ext cx="7056295" cy="4094905"/>
          </a:xfrm>
          <a:prstGeom prst="rect">
            <a:avLst/>
          </a:prstGeom>
        </p:spPr>
      </p:pic>
      <p:sp>
        <p:nvSpPr>
          <p:cNvPr id="10" name="TextBox 9">
            <a:extLst>
              <a:ext uri="{FF2B5EF4-FFF2-40B4-BE49-F238E27FC236}">
                <a16:creationId xmlns:a16="http://schemas.microsoft.com/office/drawing/2014/main" id="{0C012C19-7C15-1D10-44FF-8E1FF5439C10}"/>
              </a:ext>
            </a:extLst>
          </p:cNvPr>
          <p:cNvSpPr txBox="1"/>
          <p:nvPr/>
        </p:nvSpPr>
        <p:spPr>
          <a:xfrm>
            <a:off x="5111693" y="4805181"/>
            <a:ext cx="6569764" cy="1754326"/>
          </a:xfrm>
          <a:prstGeom prst="rect">
            <a:avLst/>
          </a:prstGeom>
          <a:noFill/>
        </p:spPr>
        <p:txBody>
          <a:bodyPr wrap="square">
            <a:spAutoFit/>
          </a:bodyPr>
          <a:lstStyle/>
          <a:p>
            <a:endParaRPr lang="en-US" sz="1200" dirty="0">
              <a:solidFill>
                <a:srgbClr val="1F1F1F"/>
              </a:solidFill>
            </a:endParaRPr>
          </a:p>
          <a:p>
            <a:endParaRPr lang="en-US" sz="1200" dirty="0">
              <a:solidFill>
                <a:srgbClr val="1F1F1F"/>
              </a:solidFill>
            </a:endParaRPr>
          </a:p>
          <a:p>
            <a:r>
              <a:rPr lang="en-US" sz="1200" b="1" dirty="0">
                <a:solidFill>
                  <a:srgbClr val="1F1F1F"/>
                </a:solidFill>
              </a:rPr>
              <a:t>Considerations:</a:t>
            </a:r>
          </a:p>
          <a:p>
            <a:pPr marL="171450" indent="-171450">
              <a:buFont typeface="Arial" panose="020B0604020202020204" pitchFamily="34" charset="0"/>
              <a:buChar char="•"/>
            </a:pPr>
            <a:r>
              <a:rPr lang="en-US" sz="1200" dirty="0">
                <a:solidFill>
                  <a:srgbClr val="1F1F1F"/>
                </a:solidFill>
              </a:rPr>
              <a:t>PIR ≠ seated presence: PIR sensors detect motion, not static presence. If someone sits still for a long time, it may underreport. If someone fidgets, it overreports. </a:t>
            </a:r>
          </a:p>
          <a:p>
            <a:pPr marL="171450" indent="-171450">
              <a:buFont typeface="Arial" panose="020B0604020202020204" pitchFamily="34" charset="0"/>
              <a:buChar char="•"/>
            </a:pPr>
            <a:r>
              <a:rPr lang="en-US" altLang="en-US" sz="1200" dirty="0">
                <a:latin typeface="Arial" panose="020B0604020202020204" pitchFamily="34" charset="0"/>
              </a:rPr>
              <a:t>The </a:t>
            </a:r>
            <a:r>
              <a:rPr lang="en-US" altLang="en-US" sz="1200" b="1" dirty="0">
                <a:latin typeface="Arial" panose="020B0604020202020204" pitchFamily="34" charset="0"/>
              </a:rPr>
              <a:t>summed PIR count is reliable</a:t>
            </a:r>
            <a:r>
              <a:rPr lang="en-US" altLang="en-US" sz="1200" dirty="0">
                <a:latin typeface="Arial" panose="020B0604020202020204" pitchFamily="34" charset="0"/>
              </a:rPr>
              <a:t> for estimating total occupancy.</a:t>
            </a:r>
          </a:p>
          <a:p>
            <a:pPr marL="171450" indent="-171450">
              <a:buFont typeface="Arial" panose="020B0604020202020204" pitchFamily="34" charset="0"/>
              <a:buChar char="•"/>
            </a:pPr>
            <a:r>
              <a:rPr lang="en-US" altLang="en-US" sz="1200" dirty="0">
                <a:latin typeface="Arial" panose="020B0604020202020204" pitchFamily="34" charset="0"/>
              </a:rPr>
              <a:t>But for </a:t>
            </a:r>
            <a:r>
              <a:rPr lang="en-US" altLang="en-US" sz="1200" b="1" dirty="0">
                <a:latin typeface="Arial" panose="020B0604020202020204" pitchFamily="34" charset="0"/>
              </a:rPr>
              <a:t>seat-level or sensor-level analysis</a:t>
            </a:r>
            <a:r>
              <a:rPr lang="en-US" altLang="en-US" sz="1200" dirty="0">
                <a:latin typeface="Arial" panose="020B0604020202020204" pitchFamily="34" charset="0"/>
              </a:rPr>
              <a:t>, contributions </a:t>
            </a:r>
            <a:r>
              <a:rPr lang="en-US" altLang="en-US" sz="1200" b="1" dirty="0">
                <a:latin typeface="Arial" panose="020B0604020202020204" pitchFamily="34" charset="0"/>
              </a:rPr>
              <a:t>vary substantially</a:t>
            </a:r>
            <a:r>
              <a:rPr lang="en-US" altLang="en-US" sz="1200" dirty="0">
                <a:latin typeface="Arial" panose="020B0604020202020204" pitchFamily="34" charset="0"/>
              </a:rPr>
              <a:t>.</a:t>
            </a:r>
          </a:p>
          <a:p>
            <a:pPr marL="171450" indent="-171450">
              <a:buFont typeface="Arial" panose="020B0604020202020204" pitchFamily="34" charset="0"/>
              <a:buChar char="•"/>
            </a:pPr>
            <a:endParaRPr lang="en-US" sz="1200" dirty="0">
              <a:solidFill>
                <a:srgbClr val="1F1F1F"/>
              </a:solidFill>
            </a:endParaRPr>
          </a:p>
          <a:p>
            <a:endParaRPr lang="nl-NL" sz="1200" dirty="0"/>
          </a:p>
        </p:txBody>
      </p:sp>
      <p:sp>
        <p:nvSpPr>
          <p:cNvPr id="18" name="TextBox 17">
            <a:extLst>
              <a:ext uri="{FF2B5EF4-FFF2-40B4-BE49-F238E27FC236}">
                <a16:creationId xmlns:a16="http://schemas.microsoft.com/office/drawing/2014/main" id="{37738000-4DAC-965D-84CD-9A38584E38DA}"/>
              </a:ext>
            </a:extLst>
          </p:cNvPr>
          <p:cNvSpPr txBox="1"/>
          <p:nvPr/>
        </p:nvSpPr>
        <p:spPr>
          <a:xfrm>
            <a:off x="815165" y="2210647"/>
            <a:ext cx="6569764" cy="646331"/>
          </a:xfrm>
          <a:prstGeom prst="rect">
            <a:avLst/>
          </a:prstGeom>
          <a:noFill/>
        </p:spPr>
        <p:txBody>
          <a:bodyPr wrap="square">
            <a:spAutoFit/>
          </a:bodyPr>
          <a:lstStyle/>
          <a:p>
            <a:pPr lvl="0"/>
            <a:r>
              <a:rPr lang="en-US" sz="1800" dirty="0">
                <a:solidFill>
                  <a:schemeClr val="tx2">
                    <a:lumMod val="25000"/>
                    <a:lumOff val="75000"/>
                  </a:schemeClr>
                </a:solidFill>
                <a:latin typeface="Arial"/>
                <a:cs typeface="Arial"/>
                <a:sym typeface="Arial"/>
              </a:rPr>
              <a:t>INDIVIDUAL PIR vs. </a:t>
            </a:r>
          </a:p>
          <a:p>
            <a:pPr lvl="0"/>
            <a:r>
              <a:rPr lang="en-US" sz="1800" spc="600" dirty="0">
                <a:solidFill>
                  <a:schemeClr val="tx2">
                    <a:lumMod val="25000"/>
                    <a:lumOff val="75000"/>
                  </a:schemeClr>
                </a:solidFill>
                <a:latin typeface="Arial"/>
                <a:cs typeface="Arial"/>
                <a:sym typeface="Arial"/>
              </a:rPr>
              <a:t>GROUND TRUTH</a:t>
            </a:r>
            <a:endParaRPr lang="en-US" sz="1050" b="1" spc="600" dirty="0">
              <a:solidFill>
                <a:schemeClr val="tx2">
                  <a:lumMod val="25000"/>
                  <a:lumOff val="75000"/>
                </a:schemeClr>
              </a:solidFill>
            </a:endParaRPr>
          </a:p>
        </p:txBody>
      </p:sp>
      <p:sp>
        <p:nvSpPr>
          <p:cNvPr id="32" name="TextBox 31">
            <a:extLst>
              <a:ext uri="{FF2B5EF4-FFF2-40B4-BE49-F238E27FC236}">
                <a16:creationId xmlns:a16="http://schemas.microsoft.com/office/drawing/2014/main" id="{7DA063D9-CBFE-E99D-8509-D02D255B17C5}"/>
              </a:ext>
            </a:extLst>
          </p:cNvPr>
          <p:cNvSpPr txBox="1"/>
          <p:nvPr/>
        </p:nvSpPr>
        <p:spPr>
          <a:xfrm>
            <a:off x="10646852" y="4531353"/>
            <a:ext cx="3034087" cy="276999"/>
          </a:xfrm>
          <a:prstGeom prst="rect">
            <a:avLst/>
          </a:prstGeom>
          <a:noFill/>
        </p:spPr>
        <p:txBody>
          <a:bodyPr wrap="square">
            <a:spAutoFit/>
          </a:bodyPr>
          <a:lstStyle/>
          <a:p>
            <a:r>
              <a:rPr lang="en-US" sz="1200" dirty="0">
                <a:solidFill>
                  <a:schemeClr val="tx2">
                    <a:lumMod val="50000"/>
                    <a:lumOff val="50000"/>
                  </a:schemeClr>
                </a:solidFill>
              </a:rPr>
              <a:t>All PIR BELOW</a:t>
            </a:r>
            <a:endParaRPr lang="nl-NL" sz="1200" dirty="0">
              <a:solidFill>
                <a:schemeClr val="tx2">
                  <a:lumMod val="50000"/>
                  <a:lumOff val="50000"/>
                </a:schemeClr>
              </a:solidFill>
            </a:endParaRPr>
          </a:p>
        </p:txBody>
      </p:sp>
      <p:grpSp>
        <p:nvGrpSpPr>
          <p:cNvPr id="22" name="Group 21">
            <a:extLst>
              <a:ext uri="{FF2B5EF4-FFF2-40B4-BE49-F238E27FC236}">
                <a16:creationId xmlns:a16="http://schemas.microsoft.com/office/drawing/2014/main" id="{1C394A5F-6C65-140A-2614-26EE97AF74A7}"/>
              </a:ext>
            </a:extLst>
          </p:cNvPr>
          <p:cNvGrpSpPr/>
          <p:nvPr/>
        </p:nvGrpSpPr>
        <p:grpSpPr>
          <a:xfrm>
            <a:off x="444653" y="2856978"/>
            <a:ext cx="4526896" cy="3045822"/>
            <a:chOff x="6147017" y="341657"/>
            <a:chExt cx="6669237" cy="4487249"/>
          </a:xfrm>
        </p:grpSpPr>
        <p:cxnSp>
          <p:nvCxnSpPr>
            <p:cNvPr id="23" name="Google Shape;377;p20">
              <a:extLst>
                <a:ext uri="{FF2B5EF4-FFF2-40B4-BE49-F238E27FC236}">
                  <a16:creationId xmlns:a16="http://schemas.microsoft.com/office/drawing/2014/main" id="{65B4B099-B9E7-76D8-3263-CCEDB6BE74CF}"/>
                </a:ext>
              </a:extLst>
            </p:cNvPr>
            <p:cNvCxnSpPr>
              <a:cxnSpLocks/>
            </p:cNvCxnSpPr>
            <p:nvPr/>
          </p:nvCxnSpPr>
          <p:spPr>
            <a:xfrm>
              <a:off x="6147017" y="607435"/>
              <a:ext cx="0" cy="4221471"/>
            </a:xfrm>
            <a:prstGeom prst="straightConnector1">
              <a:avLst/>
            </a:prstGeom>
            <a:noFill/>
            <a:ln w="19050" cap="flat" cmpd="sng">
              <a:solidFill>
                <a:schemeClr val="accent4"/>
              </a:solidFill>
              <a:prstDash val="dash"/>
              <a:round/>
              <a:headEnd type="none" w="sm" len="sm"/>
              <a:tailEnd type="none" w="sm" len="sm"/>
            </a:ln>
          </p:spPr>
        </p:cxnSp>
        <p:sp>
          <p:nvSpPr>
            <p:cNvPr id="24" name="Google Shape;382;p20">
              <a:extLst>
                <a:ext uri="{FF2B5EF4-FFF2-40B4-BE49-F238E27FC236}">
                  <a16:creationId xmlns:a16="http://schemas.microsoft.com/office/drawing/2014/main" id="{E6B50BF4-465C-B082-929A-956F3853CEB3}"/>
                </a:ext>
              </a:extLst>
            </p:cNvPr>
            <p:cNvSpPr txBox="1"/>
            <p:nvPr/>
          </p:nvSpPr>
          <p:spPr>
            <a:xfrm>
              <a:off x="9524876" y="3953696"/>
              <a:ext cx="3291378" cy="246181"/>
            </a:xfrm>
            <a:prstGeom prst="rect">
              <a:avLst/>
            </a:prstGeom>
            <a:noFill/>
            <a:ln>
              <a:noFill/>
            </a:ln>
          </p:spPr>
          <p:txBody>
            <a:bodyPr spcFirstLastPara="1" wrap="square" lIns="91425" tIns="45700" rIns="91425" bIns="45700" anchor="t" anchorCtr="0">
              <a:spAutoFit/>
            </a:bodyPr>
            <a:lstStyle/>
            <a:p>
              <a:pPr marL="457200" lvl="1" algn="just"/>
              <a:r>
                <a:rPr lang="it-IT" sz="1000" b="0" i="0" u="none" strike="noStrike" cap="none" dirty="0">
                  <a:solidFill>
                    <a:schemeClr val="bg2">
                      <a:lumMod val="75000"/>
                    </a:schemeClr>
                  </a:solidFill>
                  <a:latin typeface="Arial"/>
                  <a:ea typeface="Arial"/>
                  <a:cs typeface="Arial"/>
                  <a:sym typeface="Arial"/>
                </a:rPr>
                <a:t>SENSOR </a:t>
              </a:r>
              <a:r>
                <a:rPr lang="it-IT" sz="1000" b="1" i="0" u="none" strike="noStrike" cap="none" dirty="0">
                  <a:solidFill>
                    <a:schemeClr val="bg2">
                      <a:lumMod val="75000"/>
                    </a:schemeClr>
                  </a:solidFill>
                  <a:latin typeface="Arial"/>
                  <a:ea typeface="Arial"/>
                  <a:cs typeface="Arial"/>
                  <a:sym typeface="Arial"/>
                </a:rPr>
                <a:t>GRID</a:t>
              </a:r>
              <a:r>
                <a:rPr lang="it-IT" sz="1000" b="0" i="0" u="none" strike="noStrike" cap="none" dirty="0">
                  <a:solidFill>
                    <a:schemeClr val="bg2">
                      <a:lumMod val="75000"/>
                    </a:schemeClr>
                  </a:solidFill>
                  <a:latin typeface="Arial"/>
                  <a:ea typeface="Arial"/>
                  <a:cs typeface="Arial"/>
                  <a:sym typeface="Arial"/>
                </a:rPr>
                <a:t> APPROACH</a:t>
              </a:r>
            </a:p>
          </p:txBody>
        </p:sp>
        <p:sp>
          <p:nvSpPr>
            <p:cNvPr id="25" name="Rectangle 24">
              <a:extLst>
                <a:ext uri="{FF2B5EF4-FFF2-40B4-BE49-F238E27FC236}">
                  <a16:creationId xmlns:a16="http://schemas.microsoft.com/office/drawing/2014/main" id="{185A486D-8ECB-E412-0FE9-39F22D736856}"/>
                </a:ext>
              </a:extLst>
            </p:cNvPr>
            <p:cNvSpPr/>
            <p:nvPr/>
          </p:nvSpPr>
          <p:spPr>
            <a:xfrm>
              <a:off x="8477284" y="1661372"/>
              <a:ext cx="123286" cy="106921"/>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7" name="Rectangle 26">
              <a:extLst>
                <a:ext uri="{FF2B5EF4-FFF2-40B4-BE49-F238E27FC236}">
                  <a16:creationId xmlns:a16="http://schemas.microsoft.com/office/drawing/2014/main" id="{74A78A42-04AF-550C-EDAE-30602C87AEEC}"/>
                </a:ext>
              </a:extLst>
            </p:cNvPr>
            <p:cNvSpPr/>
            <p:nvPr/>
          </p:nvSpPr>
          <p:spPr>
            <a:xfrm>
              <a:off x="9715532" y="1649938"/>
              <a:ext cx="123286" cy="106921"/>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29" name="Straight Connector 28">
              <a:extLst>
                <a:ext uri="{FF2B5EF4-FFF2-40B4-BE49-F238E27FC236}">
                  <a16:creationId xmlns:a16="http://schemas.microsoft.com/office/drawing/2014/main" id="{00B389FE-550B-4A53-705D-E70930920211}"/>
                </a:ext>
              </a:extLst>
            </p:cNvPr>
            <p:cNvCxnSpPr>
              <a:cxnSpLocks/>
            </p:cNvCxnSpPr>
            <p:nvPr/>
          </p:nvCxnSpPr>
          <p:spPr>
            <a:xfrm>
              <a:off x="9775038" y="3241070"/>
              <a:ext cx="0" cy="313788"/>
            </a:xfrm>
            <a:prstGeom prst="line">
              <a:avLst/>
            </a:prstGeom>
            <a:ln w="6350">
              <a:solidFill>
                <a:schemeClr val="tx2">
                  <a:lumMod val="50000"/>
                  <a:lumOff val="50000"/>
                </a:schemeClr>
              </a:solidFill>
            </a:ln>
          </p:spPr>
          <p:style>
            <a:lnRef idx="2">
              <a:schemeClr val="accent1"/>
            </a:lnRef>
            <a:fillRef idx="0">
              <a:schemeClr val="accent1"/>
            </a:fillRef>
            <a:effectRef idx="1">
              <a:schemeClr val="accent1"/>
            </a:effectRef>
            <a:fontRef idx="minor">
              <a:schemeClr val="tx1"/>
            </a:fontRef>
          </p:style>
        </p:cxnSp>
        <p:grpSp>
          <p:nvGrpSpPr>
            <p:cNvPr id="33" name="Group 32">
              <a:extLst>
                <a:ext uri="{FF2B5EF4-FFF2-40B4-BE49-F238E27FC236}">
                  <a16:creationId xmlns:a16="http://schemas.microsoft.com/office/drawing/2014/main" id="{FA3F4628-5087-8326-45C8-1DBC6880F77D}"/>
                </a:ext>
              </a:extLst>
            </p:cNvPr>
            <p:cNvGrpSpPr/>
            <p:nvPr/>
          </p:nvGrpSpPr>
          <p:grpSpPr>
            <a:xfrm>
              <a:off x="6512235" y="341657"/>
              <a:ext cx="5264434" cy="4093832"/>
              <a:chOff x="5887981" y="526295"/>
              <a:chExt cx="5264434" cy="4093832"/>
            </a:xfrm>
          </p:grpSpPr>
          <p:pic>
            <p:nvPicPr>
              <p:cNvPr id="45" name="Picture 44" descr="A blueprint of a room&#10;&#10;AI-generated content may be incorrect.">
                <a:extLst>
                  <a:ext uri="{FF2B5EF4-FFF2-40B4-BE49-F238E27FC236}">
                    <a16:creationId xmlns:a16="http://schemas.microsoft.com/office/drawing/2014/main" id="{53EC71FA-CEF5-C8F5-5709-DAB9D9C16338}"/>
                  </a:ext>
                </a:extLst>
              </p:cNvPr>
              <p:cNvPicPr>
                <a:picLocks noChangeAspect="1"/>
              </p:cNvPicPr>
              <p:nvPr/>
            </p:nvPicPr>
            <p:blipFill>
              <a:blip r:embed="rId4">
                <a:extLst>
                  <a:ext uri="{28A0092B-C50C-407E-A947-70E740481C1C}">
                    <a14:useLocalDpi xmlns:a14="http://schemas.microsoft.com/office/drawing/2010/main" val="0"/>
                  </a:ext>
                </a:extLst>
              </a:blip>
              <a:srcRect t="-1" b="1576"/>
              <a:stretch>
                <a:fillRect/>
              </a:stretch>
            </p:blipFill>
            <p:spPr>
              <a:xfrm>
                <a:off x="5887981" y="526295"/>
                <a:ext cx="5264434" cy="4093832"/>
              </a:xfrm>
              <a:prstGeom prst="rect">
                <a:avLst/>
              </a:prstGeom>
            </p:spPr>
          </p:pic>
          <p:sp>
            <p:nvSpPr>
              <p:cNvPr id="46" name="Oval 45">
                <a:extLst>
                  <a:ext uri="{FF2B5EF4-FFF2-40B4-BE49-F238E27FC236}">
                    <a16:creationId xmlns:a16="http://schemas.microsoft.com/office/drawing/2014/main" id="{B17336B5-840A-B2DC-B397-7042BC32D6AC}"/>
                  </a:ext>
                </a:extLst>
              </p:cNvPr>
              <p:cNvSpPr/>
              <p:nvPr/>
            </p:nvSpPr>
            <p:spPr>
              <a:xfrm>
                <a:off x="9643326" y="1374720"/>
                <a:ext cx="87284" cy="86492"/>
              </a:xfrm>
              <a:prstGeom prst="ellipse">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dirty="0"/>
              </a:p>
            </p:txBody>
          </p:sp>
          <p:sp>
            <p:nvSpPr>
              <p:cNvPr id="47" name="Oval 46">
                <a:extLst>
                  <a:ext uri="{FF2B5EF4-FFF2-40B4-BE49-F238E27FC236}">
                    <a16:creationId xmlns:a16="http://schemas.microsoft.com/office/drawing/2014/main" id="{EEB33D5F-D461-04CE-029B-EE0A9ED3054A}"/>
                  </a:ext>
                </a:extLst>
              </p:cNvPr>
              <p:cNvSpPr/>
              <p:nvPr/>
            </p:nvSpPr>
            <p:spPr>
              <a:xfrm>
                <a:off x="9660871" y="2398541"/>
                <a:ext cx="87284" cy="86492"/>
              </a:xfrm>
              <a:prstGeom prst="ellipse">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dirty="0"/>
              </a:p>
            </p:txBody>
          </p:sp>
          <p:sp>
            <p:nvSpPr>
              <p:cNvPr id="48" name="Oval 47">
                <a:extLst>
                  <a:ext uri="{FF2B5EF4-FFF2-40B4-BE49-F238E27FC236}">
                    <a16:creationId xmlns:a16="http://schemas.microsoft.com/office/drawing/2014/main" id="{5020959E-A7AA-8A0C-351B-BF5FBA648560}"/>
                  </a:ext>
                </a:extLst>
              </p:cNvPr>
              <p:cNvSpPr/>
              <p:nvPr/>
            </p:nvSpPr>
            <p:spPr>
              <a:xfrm>
                <a:off x="9327931" y="2410970"/>
                <a:ext cx="87284" cy="86492"/>
              </a:xfrm>
              <a:prstGeom prst="ellipse">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dirty="0"/>
              </a:p>
            </p:txBody>
          </p:sp>
          <p:sp>
            <p:nvSpPr>
              <p:cNvPr id="49" name="Oval 48">
                <a:extLst>
                  <a:ext uri="{FF2B5EF4-FFF2-40B4-BE49-F238E27FC236}">
                    <a16:creationId xmlns:a16="http://schemas.microsoft.com/office/drawing/2014/main" id="{1E5CE217-C606-64CF-52A4-92BA5099D081}"/>
                  </a:ext>
                </a:extLst>
              </p:cNvPr>
              <p:cNvSpPr/>
              <p:nvPr/>
            </p:nvSpPr>
            <p:spPr>
              <a:xfrm>
                <a:off x="7693158" y="2363700"/>
                <a:ext cx="87284" cy="86492"/>
              </a:xfrm>
              <a:prstGeom prst="ellipse">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dirty="0"/>
              </a:p>
            </p:txBody>
          </p:sp>
          <p:sp>
            <p:nvSpPr>
              <p:cNvPr id="50" name="Oval 49">
                <a:extLst>
                  <a:ext uri="{FF2B5EF4-FFF2-40B4-BE49-F238E27FC236}">
                    <a16:creationId xmlns:a16="http://schemas.microsoft.com/office/drawing/2014/main" id="{85947815-02C8-2B43-B894-0F7AEB42FC64}"/>
                  </a:ext>
                </a:extLst>
              </p:cNvPr>
              <p:cNvSpPr/>
              <p:nvPr/>
            </p:nvSpPr>
            <p:spPr>
              <a:xfrm>
                <a:off x="7311321" y="1403401"/>
                <a:ext cx="87284" cy="86492"/>
              </a:xfrm>
              <a:prstGeom prst="ellipse">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dirty="0"/>
              </a:p>
            </p:txBody>
          </p:sp>
          <p:cxnSp>
            <p:nvCxnSpPr>
              <p:cNvPr id="51" name="Straight Connector 50">
                <a:extLst>
                  <a:ext uri="{FF2B5EF4-FFF2-40B4-BE49-F238E27FC236}">
                    <a16:creationId xmlns:a16="http://schemas.microsoft.com/office/drawing/2014/main" id="{01AF3605-CE4C-39A1-D371-1F24C66FC5D8}"/>
                  </a:ext>
                </a:extLst>
              </p:cNvPr>
              <p:cNvCxnSpPr>
                <a:cxnSpLocks/>
              </p:cNvCxnSpPr>
              <p:nvPr/>
            </p:nvCxnSpPr>
            <p:spPr>
              <a:xfrm>
                <a:off x="7730309" y="2437340"/>
                <a:ext cx="6491" cy="1210668"/>
              </a:xfrm>
              <a:prstGeom prst="line">
                <a:avLst/>
              </a:prstGeom>
              <a:ln w="6350">
                <a:solidFill>
                  <a:schemeClr val="tx2">
                    <a:lumMod val="50000"/>
                    <a:lumOff val="50000"/>
                  </a:schemeClr>
                </a:solidFill>
              </a:ln>
            </p:spPr>
            <p:style>
              <a:lnRef idx="2">
                <a:schemeClr val="accent1"/>
              </a:lnRef>
              <a:fillRef idx="0">
                <a:schemeClr val="accent1"/>
              </a:fillRef>
              <a:effectRef idx="1">
                <a:schemeClr val="accent1"/>
              </a:effectRef>
              <a:fontRef idx="minor">
                <a:schemeClr val="tx1"/>
              </a:fontRef>
            </p:style>
          </p:cxnSp>
          <p:sp>
            <p:nvSpPr>
              <p:cNvPr id="52" name="TextBox 51">
                <a:extLst>
                  <a:ext uri="{FF2B5EF4-FFF2-40B4-BE49-F238E27FC236}">
                    <a16:creationId xmlns:a16="http://schemas.microsoft.com/office/drawing/2014/main" id="{033739F5-93D5-DE08-FD4C-607CBE1DD954}"/>
                  </a:ext>
                </a:extLst>
              </p:cNvPr>
              <p:cNvSpPr txBox="1">
                <a:spLocks/>
              </p:cNvSpPr>
              <p:nvPr/>
            </p:nvSpPr>
            <p:spPr>
              <a:xfrm>
                <a:off x="7034848" y="3648008"/>
                <a:ext cx="798250" cy="231730"/>
              </a:xfrm>
              <a:prstGeom prst="rect">
                <a:avLst/>
              </a:prstGeom>
              <a:noFill/>
              <a:ln w="3175">
                <a:solidFill>
                  <a:schemeClr val="tx2">
                    <a:lumMod val="50000"/>
                    <a:lumOff val="50000"/>
                  </a:schemeClr>
                </a:solidFill>
              </a:ln>
            </p:spPr>
            <p:txBody>
              <a:bodyPr wrap="square">
                <a:spAutoFit/>
              </a:bodyPr>
              <a:lstStyle/>
              <a:p>
                <a:pPr lvl="0" algn="ctr">
                  <a:lnSpc>
                    <a:spcPct val="90000"/>
                  </a:lnSpc>
                </a:pPr>
                <a:r>
                  <a:rPr lang="en-US" sz="1000" dirty="0">
                    <a:solidFill>
                      <a:schemeClr val="tx2">
                        <a:lumMod val="50000"/>
                        <a:lumOff val="50000"/>
                      </a:schemeClr>
                    </a:solidFill>
                  </a:rPr>
                  <a:t>PIR sensor</a:t>
                </a:r>
                <a:endParaRPr lang="en-US" sz="1000" b="1" dirty="0">
                  <a:solidFill>
                    <a:schemeClr val="tx2">
                      <a:lumMod val="50000"/>
                      <a:lumOff val="50000"/>
                    </a:schemeClr>
                  </a:solidFill>
                </a:endParaRPr>
              </a:p>
            </p:txBody>
          </p:sp>
          <p:sp>
            <p:nvSpPr>
              <p:cNvPr id="53" name="TextBox 52">
                <a:extLst>
                  <a:ext uri="{FF2B5EF4-FFF2-40B4-BE49-F238E27FC236}">
                    <a16:creationId xmlns:a16="http://schemas.microsoft.com/office/drawing/2014/main" id="{240C5FD0-6258-1D48-9DF9-55F2A5EDB4B0}"/>
                  </a:ext>
                </a:extLst>
              </p:cNvPr>
              <p:cNvSpPr txBox="1">
                <a:spLocks/>
              </p:cNvSpPr>
              <p:nvPr/>
            </p:nvSpPr>
            <p:spPr>
              <a:xfrm>
                <a:off x="8915218" y="3739496"/>
                <a:ext cx="558565" cy="231730"/>
              </a:xfrm>
              <a:prstGeom prst="rect">
                <a:avLst/>
              </a:prstGeom>
              <a:noFill/>
              <a:ln w="3175">
                <a:solidFill>
                  <a:schemeClr val="tx2">
                    <a:lumMod val="50000"/>
                    <a:lumOff val="50000"/>
                  </a:schemeClr>
                </a:solidFill>
              </a:ln>
            </p:spPr>
            <p:txBody>
              <a:bodyPr wrap="square">
                <a:spAutoFit/>
              </a:bodyPr>
              <a:lstStyle/>
              <a:p>
                <a:pPr lvl="0" algn="ctr">
                  <a:lnSpc>
                    <a:spcPct val="90000"/>
                  </a:lnSpc>
                </a:pPr>
                <a:r>
                  <a:rPr lang="en-US" sz="1000" dirty="0">
                    <a:solidFill>
                      <a:schemeClr val="tx2">
                        <a:lumMod val="50000"/>
                        <a:lumOff val="50000"/>
                      </a:schemeClr>
                    </a:solidFill>
                  </a:rPr>
                  <a:t>Sensi</a:t>
                </a:r>
                <a:endParaRPr lang="en-US" sz="1000" b="1" dirty="0">
                  <a:solidFill>
                    <a:schemeClr val="tx2">
                      <a:lumMod val="50000"/>
                      <a:lumOff val="50000"/>
                    </a:schemeClr>
                  </a:solidFill>
                </a:endParaRPr>
              </a:p>
            </p:txBody>
          </p:sp>
          <p:sp>
            <p:nvSpPr>
              <p:cNvPr id="54" name="Rectangle 53">
                <a:extLst>
                  <a:ext uri="{FF2B5EF4-FFF2-40B4-BE49-F238E27FC236}">
                    <a16:creationId xmlns:a16="http://schemas.microsoft.com/office/drawing/2014/main" id="{55ECD7BC-F9B7-BE8D-4732-426F807AD2DA}"/>
                  </a:ext>
                </a:extLst>
              </p:cNvPr>
              <p:cNvSpPr/>
              <p:nvPr/>
            </p:nvSpPr>
            <p:spPr>
              <a:xfrm>
                <a:off x="9818079" y="1834818"/>
                <a:ext cx="123286" cy="106921"/>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55" name="Rectangle 54">
                <a:extLst>
                  <a:ext uri="{FF2B5EF4-FFF2-40B4-BE49-F238E27FC236}">
                    <a16:creationId xmlns:a16="http://schemas.microsoft.com/office/drawing/2014/main" id="{80A066C7-8A3D-3EA8-DDCA-07019E09C975}"/>
                  </a:ext>
                </a:extLst>
              </p:cNvPr>
              <p:cNvSpPr/>
              <p:nvPr/>
            </p:nvSpPr>
            <p:spPr>
              <a:xfrm>
                <a:off x="7848104" y="1834576"/>
                <a:ext cx="123286" cy="106921"/>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dirty="0"/>
              </a:p>
            </p:txBody>
          </p:sp>
          <p:sp>
            <p:nvSpPr>
              <p:cNvPr id="56" name="Rectangle 55">
                <a:extLst>
                  <a:ext uri="{FF2B5EF4-FFF2-40B4-BE49-F238E27FC236}">
                    <a16:creationId xmlns:a16="http://schemas.microsoft.com/office/drawing/2014/main" id="{4386333A-4CBF-0CDF-8902-5398130B7169}"/>
                  </a:ext>
                </a:extLst>
              </p:cNvPr>
              <p:cNvSpPr/>
              <p:nvPr/>
            </p:nvSpPr>
            <p:spPr>
              <a:xfrm>
                <a:off x="7853030" y="3313157"/>
                <a:ext cx="123286" cy="106921"/>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grpSp>
        <p:cxnSp>
          <p:nvCxnSpPr>
            <p:cNvPr id="34" name="Straight Connector 33">
              <a:extLst>
                <a:ext uri="{FF2B5EF4-FFF2-40B4-BE49-F238E27FC236}">
                  <a16:creationId xmlns:a16="http://schemas.microsoft.com/office/drawing/2014/main" id="{DDE092EA-86B9-6C7F-8C11-2F62DF3CAE74}"/>
                </a:ext>
              </a:extLst>
            </p:cNvPr>
            <p:cNvCxnSpPr>
              <a:cxnSpLocks/>
            </p:cNvCxnSpPr>
            <p:nvPr/>
          </p:nvCxnSpPr>
          <p:spPr>
            <a:xfrm>
              <a:off x="9793425" y="3189813"/>
              <a:ext cx="0" cy="368944"/>
            </a:xfrm>
            <a:prstGeom prst="line">
              <a:avLst/>
            </a:prstGeom>
            <a:ln w="6350">
              <a:solidFill>
                <a:schemeClr val="tx2">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543AD634-8C65-AEF5-A082-66C2A0FCE7FE}"/>
                </a:ext>
              </a:extLst>
            </p:cNvPr>
            <p:cNvCxnSpPr>
              <a:cxnSpLocks/>
            </p:cNvCxnSpPr>
            <p:nvPr/>
          </p:nvCxnSpPr>
          <p:spPr>
            <a:xfrm>
              <a:off x="8595644" y="3194032"/>
              <a:ext cx="1194536" cy="0"/>
            </a:xfrm>
            <a:prstGeom prst="line">
              <a:avLst/>
            </a:prstGeom>
            <a:ln w="6350">
              <a:solidFill>
                <a:schemeClr val="tx2">
                  <a:lumMod val="50000"/>
                  <a:lumOff val="50000"/>
                </a:schemeClr>
              </a:solidFill>
            </a:ln>
          </p:spPr>
          <p:style>
            <a:lnRef idx="2">
              <a:schemeClr val="accent1"/>
            </a:lnRef>
            <a:fillRef idx="0">
              <a:schemeClr val="accent1"/>
            </a:fillRef>
            <a:effectRef idx="1">
              <a:schemeClr val="accent1"/>
            </a:effectRef>
            <a:fontRef idx="minor">
              <a:schemeClr val="tx1"/>
            </a:fontRef>
          </p:style>
        </p:cxnSp>
        <p:sp>
          <p:nvSpPr>
            <p:cNvPr id="36" name="TextBox 35">
              <a:extLst>
                <a:ext uri="{FF2B5EF4-FFF2-40B4-BE49-F238E27FC236}">
                  <a16:creationId xmlns:a16="http://schemas.microsoft.com/office/drawing/2014/main" id="{59955167-CC0B-ECDF-A425-7AEFEC240C58}"/>
                </a:ext>
              </a:extLst>
            </p:cNvPr>
            <p:cNvSpPr txBox="1"/>
            <p:nvPr/>
          </p:nvSpPr>
          <p:spPr>
            <a:xfrm>
              <a:off x="7979217" y="1146144"/>
              <a:ext cx="276223" cy="231730"/>
            </a:xfrm>
            <a:prstGeom prst="rect">
              <a:avLst/>
            </a:prstGeom>
            <a:noFill/>
          </p:spPr>
          <p:txBody>
            <a:bodyPr wrap="square">
              <a:spAutoFit/>
            </a:bodyPr>
            <a:lstStyle/>
            <a:p>
              <a:pPr lvl="0" algn="just">
                <a:lnSpc>
                  <a:spcPct val="90000"/>
                </a:lnSpc>
              </a:pPr>
              <a:r>
                <a:rPr lang="en-US" sz="1000" dirty="0">
                  <a:solidFill>
                    <a:schemeClr val="tx2">
                      <a:lumMod val="50000"/>
                      <a:lumOff val="50000"/>
                    </a:schemeClr>
                  </a:solidFill>
                </a:rPr>
                <a:t>1</a:t>
              </a:r>
              <a:endParaRPr lang="en-US" sz="1000" b="1" dirty="0">
                <a:solidFill>
                  <a:schemeClr val="tx2">
                    <a:lumMod val="50000"/>
                    <a:lumOff val="50000"/>
                  </a:schemeClr>
                </a:solidFill>
              </a:endParaRPr>
            </a:p>
          </p:txBody>
        </p:sp>
        <p:sp>
          <p:nvSpPr>
            <p:cNvPr id="37" name="TextBox 36">
              <a:extLst>
                <a:ext uri="{FF2B5EF4-FFF2-40B4-BE49-F238E27FC236}">
                  <a16:creationId xmlns:a16="http://schemas.microsoft.com/office/drawing/2014/main" id="{BF4D14E5-A333-4847-6204-E424F7B96527}"/>
                </a:ext>
              </a:extLst>
            </p:cNvPr>
            <p:cNvSpPr txBox="1"/>
            <p:nvPr/>
          </p:nvSpPr>
          <p:spPr>
            <a:xfrm>
              <a:off x="8396826" y="2145857"/>
              <a:ext cx="276223" cy="231730"/>
            </a:xfrm>
            <a:prstGeom prst="rect">
              <a:avLst/>
            </a:prstGeom>
            <a:noFill/>
          </p:spPr>
          <p:txBody>
            <a:bodyPr wrap="square">
              <a:spAutoFit/>
            </a:bodyPr>
            <a:lstStyle/>
            <a:p>
              <a:pPr lvl="0" algn="just">
                <a:lnSpc>
                  <a:spcPct val="90000"/>
                </a:lnSpc>
              </a:pPr>
              <a:r>
                <a:rPr lang="en-US" sz="1000" dirty="0">
                  <a:solidFill>
                    <a:schemeClr val="tx2">
                      <a:lumMod val="50000"/>
                      <a:lumOff val="50000"/>
                    </a:schemeClr>
                  </a:solidFill>
                </a:rPr>
                <a:t>2</a:t>
              </a:r>
            </a:p>
          </p:txBody>
        </p:sp>
        <p:sp>
          <p:nvSpPr>
            <p:cNvPr id="38" name="TextBox 37">
              <a:extLst>
                <a:ext uri="{FF2B5EF4-FFF2-40B4-BE49-F238E27FC236}">
                  <a16:creationId xmlns:a16="http://schemas.microsoft.com/office/drawing/2014/main" id="{022C17BF-4CAC-2991-ABD2-A644EFE0FF52}"/>
                </a:ext>
              </a:extLst>
            </p:cNvPr>
            <p:cNvSpPr txBox="1"/>
            <p:nvPr/>
          </p:nvSpPr>
          <p:spPr>
            <a:xfrm>
              <a:off x="9719604" y="2158273"/>
              <a:ext cx="276223" cy="231730"/>
            </a:xfrm>
            <a:prstGeom prst="rect">
              <a:avLst/>
            </a:prstGeom>
            <a:noFill/>
          </p:spPr>
          <p:txBody>
            <a:bodyPr wrap="square">
              <a:spAutoFit/>
            </a:bodyPr>
            <a:lstStyle/>
            <a:p>
              <a:pPr lvl="0" algn="just">
                <a:lnSpc>
                  <a:spcPct val="90000"/>
                </a:lnSpc>
              </a:pPr>
              <a:r>
                <a:rPr lang="en-US" sz="1000" dirty="0">
                  <a:solidFill>
                    <a:schemeClr val="tx2">
                      <a:lumMod val="50000"/>
                      <a:lumOff val="50000"/>
                    </a:schemeClr>
                  </a:solidFill>
                </a:rPr>
                <a:t>3</a:t>
              </a:r>
              <a:endParaRPr lang="en-US" sz="1000" b="1" dirty="0">
                <a:solidFill>
                  <a:schemeClr val="tx2">
                    <a:lumMod val="50000"/>
                    <a:lumOff val="50000"/>
                  </a:schemeClr>
                </a:solidFill>
              </a:endParaRPr>
            </a:p>
          </p:txBody>
        </p:sp>
        <p:sp>
          <p:nvSpPr>
            <p:cNvPr id="39" name="TextBox 38">
              <a:extLst>
                <a:ext uri="{FF2B5EF4-FFF2-40B4-BE49-F238E27FC236}">
                  <a16:creationId xmlns:a16="http://schemas.microsoft.com/office/drawing/2014/main" id="{09EC6561-A906-9F0D-4C06-5E695EF356FC}"/>
                </a:ext>
              </a:extLst>
            </p:cNvPr>
            <p:cNvSpPr txBox="1"/>
            <p:nvPr/>
          </p:nvSpPr>
          <p:spPr>
            <a:xfrm>
              <a:off x="10322061" y="2145857"/>
              <a:ext cx="276223" cy="231730"/>
            </a:xfrm>
            <a:prstGeom prst="rect">
              <a:avLst/>
            </a:prstGeom>
            <a:noFill/>
          </p:spPr>
          <p:txBody>
            <a:bodyPr wrap="square">
              <a:spAutoFit/>
            </a:bodyPr>
            <a:lstStyle/>
            <a:p>
              <a:pPr lvl="0" algn="just">
                <a:lnSpc>
                  <a:spcPct val="90000"/>
                </a:lnSpc>
              </a:pPr>
              <a:r>
                <a:rPr lang="en-US" sz="1000" dirty="0">
                  <a:solidFill>
                    <a:schemeClr val="tx2">
                      <a:lumMod val="50000"/>
                      <a:lumOff val="50000"/>
                    </a:schemeClr>
                  </a:solidFill>
                </a:rPr>
                <a:t>4</a:t>
              </a:r>
              <a:endParaRPr lang="en-US" sz="1000" b="1" dirty="0">
                <a:solidFill>
                  <a:schemeClr val="tx2">
                    <a:lumMod val="50000"/>
                    <a:lumOff val="50000"/>
                  </a:schemeClr>
                </a:solidFill>
              </a:endParaRPr>
            </a:p>
          </p:txBody>
        </p:sp>
        <p:sp>
          <p:nvSpPr>
            <p:cNvPr id="40" name="TextBox 39">
              <a:extLst>
                <a:ext uri="{FF2B5EF4-FFF2-40B4-BE49-F238E27FC236}">
                  <a16:creationId xmlns:a16="http://schemas.microsoft.com/office/drawing/2014/main" id="{6FE9FB92-38E7-8559-08F2-4DD61D50C698}"/>
                </a:ext>
              </a:extLst>
            </p:cNvPr>
            <p:cNvSpPr txBox="1"/>
            <p:nvPr/>
          </p:nvSpPr>
          <p:spPr>
            <a:xfrm>
              <a:off x="10304516" y="1154093"/>
              <a:ext cx="276223" cy="231730"/>
            </a:xfrm>
            <a:prstGeom prst="rect">
              <a:avLst/>
            </a:prstGeom>
            <a:noFill/>
          </p:spPr>
          <p:txBody>
            <a:bodyPr wrap="square">
              <a:spAutoFit/>
            </a:bodyPr>
            <a:lstStyle/>
            <a:p>
              <a:pPr lvl="0" algn="just">
                <a:lnSpc>
                  <a:spcPct val="90000"/>
                </a:lnSpc>
              </a:pPr>
              <a:r>
                <a:rPr lang="en-US" sz="1000" dirty="0">
                  <a:solidFill>
                    <a:schemeClr val="tx2">
                      <a:lumMod val="50000"/>
                      <a:lumOff val="50000"/>
                    </a:schemeClr>
                  </a:solidFill>
                </a:rPr>
                <a:t>5</a:t>
              </a:r>
            </a:p>
          </p:txBody>
        </p:sp>
        <p:sp>
          <p:nvSpPr>
            <p:cNvPr id="41" name="TextBox 40">
              <a:extLst>
                <a:ext uri="{FF2B5EF4-FFF2-40B4-BE49-F238E27FC236}">
                  <a16:creationId xmlns:a16="http://schemas.microsoft.com/office/drawing/2014/main" id="{A67FE467-9D69-B0A6-7150-9F3F7D44FAA9}"/>
                </a:ext>
              </a:extLst>
            </p:cNvPr>
            <p:cNvSpPr txBox="1"/>
            <p:nvPr/>
          </p:nvSpPr>
          <p:spPr>
            <a:xfrm>
              <a:off x="9362658" y="1619522"/>
              <a:ext cx="276223" cy="231730"/>
            </a:xfrm>
            <a:prstGeom prst="rect">
              <a:avLst/>
            </a:prstGeom>
            <a:noFill/>
          </p:spPr>
          <p:txBody>
            <a:bodyPr wrap="square">
              <a:spAutoFit/>
            </a:bodyPr>
            <a:lstStyle/>
            <a:p>
              <a:pPr lvl="0" algn="just">
                <a:lnSpc>
                  <a:spcPct val="90000"/>
                </a:lnSpc>
              </a:pPr>
              <a:r>
                <a:rPr lang="en-US" sz="1000" dirty="0">
                  <a:solidFill>
                    <a:schemeClr val="tx2">
                      <a:lumMod val="50000"/>
                      <a:lumOff val="50000"/>
                    </a:schemeClr>
                  </a:solidFill>
                </a:rPr>
                <a:t>1</a:t>
              </a:r>
              <a:endParaRPr lang="en-US" sz="1000" b="1" dirty="0">
                <a:solidFill>
                  <a:schemeClr val="tx2">
                    <a:lumMod val="50000"/>
                    <a:lumOff val="50000"/>
                  </a:schemeClr>
                </a:solidFill>
              </a:endParaRPr>
            </a:p>
          </p:txBody>
        </p:sp>
        <p:sp>
          <p:nvSpPr>
            <p:cNvPr id="42" name="TextBox 41">
              <a:extLst>
                <a:ext uri="{FF2B5EF4-FFF2-40B4-BE49-F238E27FC236}">
                  <a16:creationId xmlns:a16="http://schemas.microsoft.com/office/drawing/2014/main" id="{4BD73AA7-4D26-8F3E-163F-AF9106F6E85C}"/>
                </a:ext>
              </a:extLst>
            </p:cNvPr>
            <p:cNvSpPr txBox="1"/>
            <p:nvPr/>
          </p:nvSpPr>
          <p:spPr>
            <a:xfrm>
              <a:off x="8579607" y="1598967"/>
              <a:ext cx="686554" cy="231730"/>
            </a:xfrm>
            <a:prstGeom prst="rect">
              <a:avLst/>
            </a:prstGeom>
            <a:noFill/>
          </p:spPr>
          <p:txBody>
            <a:bodyPr wrap="square">
              <a:spAutoFit/>
            </a:bodyPr>
            <a:lstStyle/>
            <a:p>
              <a:pPr lvl="0" algn="just">
                <a:lnSpc>
                  <a:spcPct val="90000"/>
                </a:lnSpc>
              </a:pPr>
              <a:r>
                <a:rPr lang="en-US" sz="1000" dirty="0">
                  <a:solidFill>
                    <a:schemeClr val="tx2">
                      <a:lumMod val="50000"/>
                      <a:lumOff val="50000"/>
                    </a:schemeClr>
                  </a:solidFill>
                </a:rPr>
                <a:t>IEQ1</a:t>
              </a:r>
            </a:p>
          </p:txBody>
        </p:sp>
        <p:sp>
          <p:nvSpPr>
            <p:cNvPr id="43" name="TextBox 42">
              <a:extLst>
                <a:ext uri="{FF2B5EF4-FFF2-40B4-BE49-F238E27FC236}">
                  <a16:creationId xmlns:a16="http://schemas.microsoft.com/office/drawing/2014/main" id="{844E038C-F7FD-73F0-788E-B7831FEEAF32}"/>
                </a:ext>
              </a:extLst>
            </p:cNvPr>
            <p:cNvSpPr txBox="1"/>
            <p:nvPr/>
          </p:nvSpPr>
          <p:spPr>
            <a:xfrm>
              <a:off x="10552957" y="1598967"/>
              <a:ext cx="686554" cy="231730"/>
            </a:xfrm>
            <a:prstGeom prst="rect">
              <a:avLst/>
            </a:prstGeom>
            <a:noFill/>
          </p:spPr>
          <p:txBody>
            <a:bodyPr wrap="square">
              <a:spAutoFit/>
            </a:bodyPr>
            <a:lstStyle/>
            <a:p>
              <a:pPr lvl="0" algn="just">
                <a:lnSpc>
                  <a:spcPct val="90000"/>
                </a:lnSpc>
              </a:pPr>
              <a:r>
                <a:rPr lang="en-US" sz="1000" dirty="0">
                  <a:solidFill>
                    <a:schemeClr val="tx2">
                      <a:lumMod val="50000"/>
                      <a:lumOff val="50000"/>
                    </a:schemeClr>
                  </a:solidFill>
                </a:rPr>
                <a:t>IEQ2</a:t>
              </a:r>
            </a:p>
          </p:txBody>
        </p:sp>
        <p:sp>
          <p:nvSpPr>
            <p:cNvPr id="44" name="TextBox 43">
              <a:extLst>
                <a:ext uri="{FF2B5EF4-FFF2-40B4-BE49-F238E27FC236}">
                  <a16:creationId xmlns:a16="http://schemas.microsoft.com/office/drawing/2014/main" id="{423D7FF8-19BA-6CF2-5AAF-F2769774F9BD}"/>
                </a:ext>
              </a:extLst>
            </p:cNvPr>
            <p:cNvSpPr txBox="1"/>
            <p:nvPr/>
          </p:nvSpPr>
          <p:spPr>
            <a:xfrm>
              <a:off x="8346288" y="2900621"/>
              <a:ext cx="686554" cy="231730"/>
            </a:xfrm>
            <a:prstGeom prst="rect">
              <a:avLst/>
            </a:prstGeom>
            <a:noFill/>
          </p:spPr>
          <p:txBody>
            <a:bodyPr wrap="square">
              <a:spAutoFit/>
            </a:bodyPr>
            <a:lstStyle/>
            <a:p>
              <a:pPr lvl="0" algn="just">
                <a:lnSpc>
                  <a:spcPct val="90000"/>
                </a:lnSpc>
              </a:pPr>
              <a:r>
                <a:rPr lang="en-US" sz="1000" dirty="0">
                  <a:solidFill>
                    <a:schemeClr val="tx2">
                      <a:lumMod val="50000"/>
                      <a:lumOff val="50000"/>
                    </a:schemeClr>
                  </a:solidFill>
                </a:rPr>
                <a:t>IEQ3</a:t>
              </a:r>
            </a:p>
          </p:txBody>
        </p:sp>
      </p:grpSp>
      <p:sp>
        <p:nvSpPr>
          <p:cNvPr id="58" name="TextBox 57">
            <a:extLst>
              <a:ext uri="{FF2B5EF4-FFF2-40B4-BE49-F238E27FC236}">
                <a16:creationId xmlns:a16="http://schemas.microsoft.com/office/drawing/2014/main" id="{D3C6D6FD-57D6-EE99-B4F8-0D4985434A3F}"/>
              </a:ext>
            </a:extLst>
          </p:cNvPr>
          <p:cNvSpPr txBox="1"/>
          <p:nvPr/>
        </p:nvSpPr>
        <p:spPr>
          <a:xfrm>
            <a:off x="510543" y="5721877"/>
            <a:ext cx="6842050" cy="276999"/>
          </a:xfrm>
          <a:prstGeom prst="rect">
            <a:avLst/>
          </a:prstGeom>
          <a:noFill/>
        </p:spPr>
        <p:txBody>
          <a:bodyPr wrap="square">
            <a:spAutoFit/>
          </a:bodyPr>
          <a:lstStyle/>
          <a:p>
            <a:r>
              <a:rPr lang="en-US" sz="1200" dirty="0">
                <a:solidFill>
                  <a:srgbClr val="FF0000"/>
                </a:solidFill>
              </a:rPr>
              <a:t>Can we tell presence by day from this</a:t>
            </a:r>
            <a:r>
              <a:rPr lang="en-US" sz="100" dirty="0">
                <a:solidFill>
                  <a:srgbClr val="FF0000"/>
                </a:solidFill>
              </a:rPr>
              <a:t>?</a:t>
            </a:r>
            <a:r>
              <a:rPr lang="en-US" sz="1200" dirty="0">
                <a:solidFill>
                  <a:srgbClr val="FF0000"/>
                </a:solidFill>
              </a:rPr>
              <a:t> Like attendance?</a:t>
            </a:r>
            <a:endParaRPr lang="nl-NL" sz="1200" dirty="0">
              <a:solidFill>
                <a:srgbClr val="FF0000"/>
              </a:solidFill>
            </a:endParaRPr>
          </a:p>
        </p:txBody>
      </p:sp>
      <p:sp>
        <p:nvSpPr>
          <p:cNvPr id="2" name="Google Shape;423;p21">
            <a:extLst>
              <a:ext uri="{FF2B5EF4-FFF2-40B4-BE49-F238E27FC236}">
                <a16:creationId xmlns:a16="http://schemas.microsoft.com/office/drawing/2014/main" id="{7C190522-36D1-5FF0-AF04-8367E999DF46}"/>
              </a:ext>
            </a:extLst>
          </p:cNvPr>
          <p:cNvSpPr txBox="1"/>
          <p:nvPr/>
        </p:nvSpPr>
        <p:spPr>
          <a:xfrm>
            <a:off x="379614" y="487690"/>
            <a:ext cx="3386269" cy="424691"/>
          </a:xfrm>
          <a:prstGeom prst="rect">
            <a:avLst/>
          </a:prstGeom>
          <a:noFill/>
          <a:ln>
            <a:noFill/>
          </a:ln>
        </p:spPr>
        <p:txBody>
          <a:bodyPr spcFirstLastPara="1" wrap="square" lIns="91425" tIns="45700" rIns="91425" bIns="45700" anchor="t" anchorCtr="0">
            <a:spAutoFit/>
          </a:bodyPr>
          <a:lstStyle/>
          <a:p>
            <a:pPr lvl="0">
              <a:lnSpc>
                <a:spcPct val="90000"/>
              </a:lnSpc>
            </a:pPr>
            <a:r>
              <a:rPr lang="en-US" sz="2400" b="1" dirty="0">
                <a:solidFill>
                  <a:srgbClr val="4892DC"/>
                </a:solidFill>
                <a:latin typeface="Arial"/>
                <a:ea typeface="Arial"/>
                <a:cs typeface="Arial"/>
                <a:sym typeface="Arial"/>
              </a:rPr>
              <a:t>2</a:t>
            </a:r>
            <a:r>
              <a:rPr lang="en-US" sz="2400" b="1" i="0" u="none" strike="noStrike" cap="none" dirty="0">
                <a:solidFill>
                  <a:srgbClr val="4892DC"/>
                </a:solidFill>
                <a:latin typeface="Arial"/>
                <a:ea typeface="Arial"/>
                <a:cs typeface="Arial"/>
                <a:sym typeface="Arial"/>
              </a:rPr>
              <a:t>. </a:t>
            </a:r>
            <a:r>
              <a:rPr lang="en-US" sz="2400" b="1" dirty="0">
                <a:solidFill>
                  <a:srgbClr val="4892DC"/>
                </a:solidFill>
                <a:latin typeface="Arial"/>
                <a:ea typeface="Arial"/>
                <a:cs typeface="Arial"/>
                <a:sym typeface="Arial"/>
              </a:rPr>
              <a:t>PILOT </a:t>
            </a:r>
            <a:r>
              <a:rPr lang="en-US" sz="1400" dirty="0">
                <a:solidFill>
                  <a:srgbClr val="4892DC"/>
                </a:solidFill>
                <a:latin typeface="Arial"/>
                <a:ea typeface="Arial"/>
                <a:cs typeface="Arial"/>
                <a:sym typeface="Arial"/>
              </a:rPr>
              <a:t>TESTING [Workroom]</a:t>
            </a:r>
            <a:endParaRPr lang="en-US" u="none" strike="noStrike" cap="none" dirty="0">
              <a:solidFill>
                <a:srgbClr val="4892DC"/>
              </a:solidFill>
              <a:latin typeface="Arial"/>
              <a:ea typeface="Arial"/>
              <a:cs typeface="Arial"/>
              <a:sym typeface="Arial"/>
            </a:endParaRPr>
          </a:p>
        </p:txBody>
      </p:sp>
    </p:spTree>
    <p:extLst>
      <p:ext uri="{BB962C8B-B14F-4D97-AF65-F5344CB8AC3E}">
        <p14:creationId xmlns:p14="http://schemas.microsoft.com/office/powerpoint/2010/main" val="26595655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74">
          <a:extLst>
            <a:ext uri="{FF2B5EF4-FFF2-40B4-BE49-F238E27FC236}">
              <a16:creationId xmlns:a16="http://schemas.microsoft.com/office/drawing/2014/main" id="{86DFF90A-DAE8-D2BF-116D-466D4C4ED8C2}"/>
            </a:ext>
          </a:extLst>
        </p:cNvPr>
        <p:cNvGrpSpPr/>
        <p:nvPr/>
      </p:nvGrpSpPr>
      <p:grpSpPr>
        <a:xfrm>
          <a:off x="0" y="0"/>
          <a:ext cx="0" cy="0"/>
          <a:chOff x="0" y="0"/>
          <a:chExt cx="0" cy="0"/>
        </a:xfrm>
      </p:grpSpPr>
      <p:pic>
        <p:nvPicPr>
          <p:cNvPr id="30" name="Picture 29" descr="A graph with blue dots&#10;&#10;AI-generated content may be incorrect.">
            <a:extLst>
              <a:ext uri="{FF2B5EF4-FFF2-40B4-BE49-F238E27FC236}">
                <a16:creationId xmlns:a16="http://schemas.microsoft.com/office/drawing/2014/main" id="{4E7C36D4-2105-853F-1E33-55260EA920A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22694" y="688236"/>
            <a:ext cx="6758763" cy="4032023"/>
          </a:xfrm>
          <a:prstGeom prst="rect">
            <a:avLst/>
          </a:prstGeom>
        </p:spPr>
      </p:pic>
      <p:sp>
        <p:nvSpPr>
          <p:cNvPr id="4" name="TextBox 3">
            <a:extLst>
              <a:ext uri="{FF2B5EF4-FFF2-40B4-BE49-F238E27FC236}">
                <a16:creationId xmlns:a16="http://schemas.microsoft.com/office/drawing/2014/main" id="{F4FB11E8-5E45-930B-E85F-71CE3ADEBB94}"/>
              </a:ext>
            </a:extLst>
          </p:cNvPr>
          <p:cNvSpPr txBox="1"/>
          <p:nvPr/>
        </p:nvSpPr>
        <p:spPr>
          <a:xfrm>
            <a:off x="833639" y="3000667"/>
            <a:ext cx="6569764" cy="307777"/>
          </a:xfrm>
          <a:prstGeom prst="rect">
            <a:avLst/>
          </a:prstGeom>
          <a:noFill/>
        </p:spPr>
        <p:txBody>
          <a:bodyPr wrap="square">
            <a:spAutoFit/>
          </a:bodyPr>
          <a:lstStyle/>
          <a:p>
            <a:r>
              <a:rPr lang="en-US" sz="1400" b="1" dirty="0">
                <a:solidFill>
                  <a:schemeClr val="tx2">
                    <a:lumMod val="50000"/>
                    <a:lumOff val="50000"/>
                  </a:schemeClr>
                </a:solidFill>
              </a:rPr>
              <a:t>PIR detects motion — not presence.</a:t>
            </a:r>
            <a:endParaRPr lang="nl-NL" sz="1400" dirty="0">
              <a:solidFill>
                <a:schemeClr val="tx2">
                  <a:lumMod val="50000"/>
                  <a:lumOff val="50000"/>
                </a:schemeClr>
              </a:solidFill>
            </a:endParaRPr>
          </a:p>
        </p:txBody>
      </p:sp>
      <p:sp>
        <p:nvSpPr>
          <p:cNvPr id="7" name="TextBox 6">
            <a:extLst>
              <a:ext uri="{FF2B5EF4-FFF2-40B4-BE49-F238E27FC236}">
                <a16:creationId xmlns:a16="http://schemas.microsoft.com/office/drawing/2014/main" id="{BF1C0CD5-11AB-CB1A-FC03-5B9E820CD532}"/>
              </a:ext>
            </a:extLst>
          </p:cNvPr>
          <p:cNvSpPr txBox="1"/>
          <p:nvPr/>
        </p:nvSpPr>
        <p:spPr>
          <a:xfrm>
            <a:off x="833639" y="3354570"/>
            <a:ext cx="3034087" cy="830997"/>
          </a:xfrm>
          <a:prstGeom prst="rect">
            <a:avLst/>
          </a:prstGeom>
          <a:noFill/>
        </p:spPr>
        <p:txBody>
          <a:bodyPr wrap="square">
            <a:spAutoFit/>
          </a:bodyPr>
          <a:lstStyle/>
          <a:p>
            <a:r>
              <a:rPr lang="en-US" sz="1200" dirty="0">
                <a:solidFill>
                  <a:schemeClr val="tx2">
                    <a:lumMod val="50000"/>
                    <a:lumOff val="50000"/>
                  </a:schemeClr>
                </a:solidFill>
              </a:rPr>
              <a:t>It tells us that </a:t>
            </a:r>
            <a:r>
              <a:rPr lang="en-US" sz="1200" b="1" dirty="0">
                <a:solidFill>
                  <a:schemeClr val="tx2">
                    <a:lumMod val="50000"/>
                    <a:lumOff val="50000"/>
                  </a:schemeClr>
                </a:solidFill>
              </a:rPr>
              <a:t>on average</a:t>
            </a:r>
            <a:r>
              <a:rPr lang="en-US" sz="1200" dirty="0">
                <a:solidFill>
                  <a:schemeClr val="tx2">
                    <a:lumMod val="50000"/>
                    <a:lumOff val="50000"/>
                  </a:schemeClr>
                </a:solidFill>
              </a:rPr>
              <a:t>, more people </a:t>
            </a:r>
            <a:r>
              <a:rPr lang="en-US" sz="1200" b="1" dirty="0">
                <a:solidFill>
                  <a:schemeClr val="tx2">
                    <a:lumMod val="50000"/>
                    <a:lumOff val="50000"/>
                  </a:schemeClr>
                </a:solidFill>
              </a:rPr>
              <a:t>tend to generate more motion</a:t>
            </a:r>
            <a:r>
              <a:rPr lang="en-US" sz="1200" dirty="0">
                <a:solidFill>
                  <a:schemeClr val="tx2">
                    <a:lumMod val="50000"/>
                    <a:lumOff val="50000"/>
                  </a:schemeClr>
                </a:solidFill>
              </a:rPr>
              <a:t> — but </a:t>
            </a:r>
            <a:r>
              <a:rPr lang="en-US" sz="1200" b="1" dirty="0">
                <a:solidFill>
                  <a:schemeClr val="tx2">
                    <a:lumMod val="50000"/>
                    <a:lumOff val="50000"/>
                  </a:schemeClr>
                </a:solidFill>
              </a:rPr>
              <a:t>not always</a:t>
            </a:r>
            <a:r>
              <a:rPr lang="en-US" sz="1200" dirty="0">
                <a:solidFill>
                  <a:schemeClr val="tx2">
                    <a:lumMod val="50000"/>
                    <a:lumOff val="50000"/>
                  </a:schemeClr>
                </a:solidFill>
              </a:rPr>
              <a:t>. It's an </a:t>
            </a:r>
            <a:r>
              <a:rPr lang="en-US" sz="1200" b="1" dirty="0">
                <a:solidFill>
                  <a:schemeClr val="tx2">
                    <a:lumMod val="50000"/>
                    <a:lumOff val="50000"/>
                  </a:schemeClr>
                </a:solidFill>
              </a:rPr>
              <a:t>indirect proxy</a:t>
            </a:r>
            <a:r>
              <a:rPr lang="en-US" sz="1200" dirty="0">
                <a:solidFill>
                  <a:schemeClr val="tx2">
                    <a:lumMod val="50000"/>
                    <a:lumOff val="50000"/>
                  </a:schemeClr>
                </a:solidFill>
              </a:rPr>
              <a:t> for occupancy, not a ground truth.</a:t>
            </a:r>
            <a:endParaRPr lang="nl-NL" sz="1200" dirty="0">
              <a:solidFill>
                <a:schemeClr val="tx2">
                  <a:lumMod val="50000"/>
                  <a:lumOff val="50000"/>
                </a:schemeClr>
              </a:solidFill>
            </a:endParaRPr>
          </a:p>
        </p:txBody>
      </p:sp>
      <p:sp>
        <p:nvSpPr>
          <p:cNvPr id="10" name="TextBox 9">
            <a:extLst>
              <a:ext uri="{FF2B5EF4-FFF2-40B4-BE49-F238E27FC236}">
                <a16:creationId xmlns:a16="http://schemas.microsoft.com/office/drawing/2014/main" id="{19D58312-F050-A2E3-69DE-433BC6D46313}"/>
              </a:ext>
            </a:extLst>
          </p:cNvPr>
          <p:cNvSpPr txBox="1"/>
          <p:nvPr/>
        </p:nvSpPr>
        <p:spPr>
          <a:xfrm>
            <a:off x="4922694" y="4605784"/>
            <a:ext cx="6569764" cy="2123658"/>
          </a:xfrm>
          <a:prstGeom prst="rect">
            <a:avLst/>
          </a:prstGeom>
          <a:noFill/>
        </p:spPr>
        <p:txBody>
          <a:bodyPr wrap="square">
            <a:spAutoFit/>
          </a:bodyPr>
          <a:lstStyle/>
          <a:p>
            <a:r>
              <a:rPr lang="en-US" sz="1200" b="0" i="0" dirty="0">
                <a:solidFill>
                  <a:srgbClr val="1F1F1F"/>
                </a:solidFill>
                <a:effectLst/>
              </a:rPr>
              <a:t>📈 Pearson correlation: 0.837 (p=1.77e-11) </a:t>
            </a:r>
          </a:p>
          <a:p>
            <a:r>
              <a:rPr lang="en-US" sz="1200" b="0" i="0" dirty="0">
                <a:solidFill>
                  <a:srgbClr val="1F1F1F"/>
                </a:solidFill>
                <a:effectLst/>
              </a:rPr>
              <a:t>📈 Spearman correlation: 0.803 (p=4.54e-10)</a:t>
            </a:r>
          </a:p>
          <a:p>
            <a:endParaRPr lang="en-US" sz="1200" dirty="0">
              <a:solidFill>
                <a:srgbClr val="1F1F1F"/>
              </a:solidFill>
            </a:endParaRPr>
          </a:p>
          <a:p>
            <a:endParaRPr lang="en-US" sz="1200" dirty="0">
              <a:solidFill>
                <a:srgbClr val="1F1F1F"/>
              </a:solidFill>
            </a:endParaRPr>
          </a:p>
          <a:p>
            <a:r>
              <a:rPr lang="en-US" sz="1200" b="1" dirty="0">
                <a:solidFill>
                  <a:srgbClr val="1F1F1F"/>
                </a:solidFill>
              </a:rPr>
              <a:t>Considerations:</a:t>
            </a:r>
          </a:p>
          <a:p>
            <a:pPr marL="171450" indent="-171450">
              <a:buFont typeface="Arial" panose="020B0604020202020204" pitchFamily="34" charset="0"/>
              <a:buChar char="•"/>
            </a:pPr>
            <a:r>
              <a:rPr lang="en-US" sz="1200" dirty="0">
                <a:solidFill>
                  <a:srgbClr val="1F1F1F"/>
                </a:solidFill>
              </a:rPr>
              <a:t>PIR ≠ seated presence: PIR sensors detect motion, not static presence. If someone sits still for a long time, it may underreport.</a:t>
            </a:r>
          </a:p>
          <a:p>
            <a:pPr marL="171450" indent="-171450">
              <a:buFont typeface="Arial" panose="020B0604020202020204" pitchFamily="34" charset="0"/>
              <a:buChar char="•"/>
            </a:pPr>
            <a:r>
              <a:rPr lang="en-US" sz="1200" dirty="0">
                <a:solidFill>
                  <a:srgbClr val="1F1F1F"/>
                </a:solidFill>
              </a:rPr>
              <a:t>Under-desk placement is good if there’s enough leg movement or occasional motion while seated.</a:t>
            </a:r>
          </a:p>
          <a:p>
            <a:pPr marL="171450" indent="-171450">
              <a:buFont typeface="Arial" panose="020B0604020202020204" pitchFamily="34" charset="0"/>
              <a:buChar char="•"/>
            </a:pPr>
            <a:r>
              <a:rPr lang="en-US" sz="1200" dirty="0">
                <a:solidFill>
                  <a:srgbClr val="1F1F1F"/>
                </a:solidFill>
              </a:rPr>
              <a:t>Activity bias: A single active person may trigger as much motion as two quieter ones.</a:t>
            </a:r>
          </a:p>
          <a:p>
            <a:endParaRPr lang="nl-NL" sz="1200" dirty="0"/>
          </a:p>
        </p:txBody>
      </p:sp>
      <p:pic>
        <p:nvPicPr>
          <p:cNvPr id="13" name="Picture 12">
            <a:extLst>
              <a:ext uri="{FF2B5EF4-FFF2-40B4-BE49-F238E27FC236}">
                <a16:creationId xmlns:a16="http://schemas.microsoft.com/office/drawing/2014/main" id="{4665F5A9-95AB-7159-FB7A-E44FD8A315C0}"/>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262174" y="4456409"/>
            <a:ext cx="4110001" cy="2451871"/>
          </a:xfrm>
          <a:prstGeom prst="rect">
            <a:avLst/>
          </a:prstGeom>
        </p:spPr>
      </p:pic>
      <p:sp>
        <p:nvSpPr>
          <p:cNvPr id="18" name="TextBox 17">
            <a:extLst>
              <a:ext uri="{FF2B5EF4-FFF2-40B4-BE49-F238E27FC236}">
                <a16:creationId xmlns:a16="http://schemas.microsoft.com/office/drawing/2014/main" id="{202BB2D1-1EEE-D3D1-DFB6-4E3C75D2C674}"/>
              </a:ext>
            </a:extLst>
          </p:cNvPr>
          <p:cNvSpPr txBox="1"/>
          <p:nvPr/>
        </p:nvSpPr>
        <p:spPr>
          <a:xfrm>
            <a:off x="815165" y="2210647"/>
            <a:ext cx="6569764" cy="646331"/>
          </a:xfrm>
          <a:prstGeom prst="rect">
            <a:avLst/>
          </a:prstGeom>
          <a:noFill/>
        </p:spPr>
        <p:txBody>
          <a:bodyPr wrap="square">
            <a:spAutoFit/>
          </a:bodyPr>
          <a:lstStyle/>
          <a:p>
            <a:pPr lvl="0"/>
            <a:r>
              <a:rPr lang="en-US" sz="1800" dirty="0">
                <a:solidFill>
                  <a:schemeClr val="tx2">
                    <a:lumMod val="25000"/>
                    <a:lumOff val="75000"/>
                  </a:schemeClr>
                </a:solidFill>
                <a:latin typeface="Arial"/>
                <a:cs typeface="Arial"/>
                <a:sym typeface="Arial"/>
              </a:rPr>
              <a:t>Aggregate PIR vs. </a:t>
            </a:r>
          </a:p>
          <a:p>
            <a:pPr lvl="0"/>
            <a:r>
              <a:rPr lang="en-US" sz="1800" spc="600" dirty="0">
                <a:solidFill>
                  <a:schemeClr val="tx2">
                    <a:lumMod val="25000"/>
                    <a:lumOff val="75000"/>
                  </a:schemeClr>
                </a:solidFill>
                <a:latin typeface="Arial"/>
                <a:cs typeface="Arial"/>
                <a:sym typeface="Arial"/>
              </a:rPr>
              <a:t>GROUND TRUTH</a:t>
            </a:r>
            <a:endParaRPr lang="en-US" sz="1050" b="1" spc="600" dirty="0">
              <a:solidFill>
                <a:schemeClr val="tx2">
                  <a:lumMod val="25000"/>
                  <a:lumOff val="75000"/>
                </a:schemeClr>
              </a:solidFill>
            </a:endParaRPr>
          </a:p>
        </p:txBody>
      </p:sp>
      <p:sp>
        <p:nvSpPr>
          <p:cNvPr id="28" name="TextBox 27">
            <a:extLst>
              <a:ext uri="{FF2B5EF4-FFF2-40B4-BE49-F238E27FC236}">
                <a16:creationId xmlns:a16="http://schemas.microsoft.com/office/drawing/2014/main" id="{5D2A7397-C232-D6FB-8D2C-FF43CE114BCB}"/>
              </a:ext>
            </a:extLst>
          </p:cNvPr>
          <p:cNvSpPr txBox="1"/>
          <p:nvPr/>
        </p:nvSpPr>
        <p:spPr>
          <a:xfrm>
            <a:off x="663270" y="913307"/>
            <a:ext cx="3776985" cy="523220"/>
          </a:xfrm>
          <a:prstGeom prst="rect">
            <a:avLst/>
          </a:prstGeom>
          <a:noFill/>
        </p:spPr>
        <p:txBody>
          <a:bodyPr wrap="square">
            <a:spAutoFit/>
          </a:bodyPr>
          <a:lstStyle/>
          <a:p>
            <a:r>
              <a:rPr lang="en-US" sz="1400" i="1" dirty="0">
                <a:solidFill>
                  <a:schemeClr val="bg2">
                    <a:lumMod val="75000"/>
                  </a:schemeClr>
                </a:solidFill>
              </a:rPr>
              <a:t>PIR Data = Count i.e. Sensor counts motions events between two transmissions</a:t>
            </a:r>
            <a:endParaRPr lang="nl-NL" sz="1400" i="1" dirty="0">
              <a:solidFill>
                <a:schemeClr val="bg2">
                  <a:lumMod val="75000"/>
                </a:schemeClr>
              </a:solidFill>
            </a:endParaRPr>
          </a:p>
        </p:txBody>
      </p:sp>
      <p:sp>
        <p:nvSpPr>
          <p:cNvPr id="31" name="TextBox 30">
            <a:extLst>
              <a:ext uri="{FF2B5EF4-FFF2-40B4-BE49-F238E27FC236}">
                <a16:creationId xmlns:a16="http://schemas.microsoft.com/office/drawing/2014/main" id="{553EBA69-72EA-4AAD-994B-01B905A2F992}"/>
              </a:ext>
            </a:extLst>
          </p:cNvPr>
          <p:cNvSpPr txBox="1"/>
          <p:nvPr/>
        </p:nvSpPr>
        <p:spPr>
          <a:xfrm>
            <a:off x="663270" y="4531353"/>
            <a:ext cx="3034087" cy="276999"/>
          </a:xfrm>
          <a:prstGeom prst="rect">
            <a:avLst/>
          </a:prstGeom>
          <a:noFill/>
        </p:spPr>
        <p:txBody>
          <a:bodyPr wrap="square">
            <a:spAutoFit/>
          </a:bodyPr>
          <a:lstStyle/>
          <a:p>
            <a:r>
              <a:rPr lang="en-US" sz="1200" dirty="0">
                <a:solidFill>
                  <a:schemeClr val="tx2">
                    <a:lumMod val="50000"/>
                    <a:lumOff val="50000"/>
                  </a:schemeClr>
                </a:solidFill>
              </a:rPr>
              <a:t>All PIR summed below and top (+Env)</a:t>
            </a:r>
            <a:endParaRPr lang="nl-NL" sz="1200" dirty="0">
              <a:solidFill>
                <a:schemeClr val="tx2">
                  <a:lumMod val="50000"/>
                  <a:lumOff val="50000"/>
                </a:schemeClr>
              </a:solidFill>
            </a:endParaRPr>
          </a:p>
        </p:txBody>
      </p:sp>
      <p:sp>
        <p:nvSpPr>
          <p:cNvPr id="32" name="TextBox 31">
            <a:extLst>
              <a:ext uri="{FF2B5EF4-FFF2-40B4-BE49-F238E27FC236}">
                <a16:creationId xmlns:a16="http://schemas.microsoft.com/office/drawing/2014/main" id="{383E3828-0879-3AD7-D604-C6F8102BD281}"/>
              </a:ext>
            </a:extLst>
          </p:cNvPr>
          <p:cNvSpPr txBox="1"/>
          <p:nvPr/>
        </p:nvSpPr>
        <p:spPr>
          <a:xfrm>
            <a:off x="10525933" y="4605784"/>
            <a:ext cx="3034087" cy="276999"/>
          </a:xfrm>
          <a:prstGeom prst="rect">
            <a:avLst/>
          </a:prstGeom>
          <a:noFill/>
        </p:spPr>
        <p:txBody>
          <a:bodyPr wrap="square">
            <a:spAutoFit/>
          </a:bodyPr>
          <a:lstStyle/>
          <a:p>
            <a:r>
              <a:rPr lang="en-US" sz="1200" dirty="0">
                <a:solidFill>
                  <a:schemeClr val="tx2">
                    <a:lumMod val="50000"/>
                    <a:lumOff val="50000"/>
                  </a:schemeClr>
                </a:solidFill>
              </a:rPr>
              <a:t>All PIR BELOW</a:t>
            </a:r>
            <a:endParaRPr lang="nl-NL" sz="1200" dirty="0">
              <a:solidFill>
                <a:schemeClr val="tx2">
                  <a:lumMod val="50000"/>
                  <a:lumOff val="50000"/>
                </a:schemeClr>
              </a:solidFill>
            </a:endParaRPr>
          </a:p>
        </p:txBody>
      </p:sp>
      <p:sp>
        <p:nvSpPr>
          <p:cNvPr id="2" name="Google Shape;423;p21">
            <a:extLst>
              <a:ext uri="{FF2B5EF4-FFF2-40B4-BE49-F238E27FC236}">
                <a16:creationId xmlns:a16="http://schemas.microsoft.com/office/drawing/2014/main" id="{D82B33E1-09CA-8AB7-BAD1-B9DBB2D1C8A2}"/>
              </a:ext>
            </a:extLst>
          </p:cNvPr>
          <p:cNvSpPr txBox="1"/>
          <p:nvPr/>
        </p:nvSpPr>
        <p:spPr>
          <a:xfrm>
            <a:off x="379614" y="487690"/>
            <a:ext cx="3776985" cy="424691"/>
          </a:xfrm>
          <a:prstGeom prst="rect">
            <a:avLst/>
          </a:prstGeom>
          <a:noFill/>
          <a:ln>
            <a:noFill/>
          </a:ln>
        </p:spPr>
        <p:txBody>
          <a:bodyPr spcFirstLastPara="1" wrap="square" lIns="91425" tIns="45700" rIns="91425" bIns="45700" anchor="t" anchorCtr="0">
            <a:spAutoFit/>
          </a:bodyPr>
          <a:lstStyle/>
          <a:p>
            <a:pPr lvl="0">
              <a:lnSpc>
                <a:spcPct val="90000"/>
              </a:lnSpc>
            </a:pPr>
            <a:r>
              <a:rPr lang="en-US" sz="2400" b="1" dirty="0">
                <a:solidFill>
                  <a:srgbClr val="4892DC"/>
                </a:solidFill>
                <a:latin typeface="Arial"/>
                <a:ea typeface="Arial"/>
                <a:cs typeface="Arial"/>
                <a:sym typeface="Arial"/>
              </a:rPr>
              <a:t>2</a:t>
            </a:r>
            <a:r>
              <a:rPr lang="en-US" sz="2400" b="1" i="0" u="none" strike="noStrike" cap="none" dirty="0">
                <a:solidFill>
                  <a:srgbClr val="4892DC"/>
                </a:solidFill>
                <a:latin typeface="Arial"/>
                <a:ea typeface="Arial"/>
                <a:cs typeface="Arial"/>
                <a:sym typeface="Arial"/>
              </a:rPr>
              <a:t>. </a:t>
            </a:r>
            <a:r>
              <a:rPr lang="en-US" sz="2400" b="1" dirty="0">
                <a:solidFill>
                  <a:srgbClr val="4892DC"/>
                </a:solidFill>
                <a:latin typeface="Arial"/>
                <a:ea typeface="Arial"/>
                <a:cs typeface="Arial"/>
                <a:sym typeface="Arial"/>
              </a:rPr>
              <a:t>PILOT </a:t>
            </a:r>
            <a:r>
              <a:rPr lang="en-US" sz="1400" dirty="0">
                <a:solidFill>
                  <a:srgbClr val="4892DC"/>
                </a:solidFill>
                <a:latin typeface="Arial"/>
                <a:ea typeface="Arial"/>
                <a:cs typeface="Arial"/>
                <a:sym typeface="Arial"/>
              </a:rPr>
              <a:t>TESTING [Workroom]</a:t>
            </a:r>
            <a:endParaRPr lang="en-US" u="none" strike="noStrike" cap="none" dirty="0">
              <a:solidFill>
                <a:srgbClr val="4892DC"/>
              </a:solidFill>
              <a:latin typeface="Arial"/>
              <a:ea typeface="Arial"/>
              <a:cs typeface="Arial"/>
              <a:sym typeface="Arial"/>
            </a:endParaRPr>
          </a:p>
        </p:txBody>
      </p:sp>
    </p:spTree>
    <p:extLst>
      <p:ext uri="{BB962C8B-B14F-4D97-AF65-F5344CB8AC3E}">
        <p14:creationId xmlns:p14="http://schemas.microsoft.com/office/powerpoint/2010/main" val="16479193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CAD9DFC-ED51-6D0A-E18E-6F8DED5FFABD}"/>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9DCA953-4AD3-A3E1-D92E-6D6DDB5BB8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4">
            <a:extLst>
              <a:ext uri="{FF2B5EF4-FFF2-40B4-BE49-F238E27FC236}">
                <a16:creationId xmlns:a16="http://schemas.microsoft.com/office/drawing/2014/main" id="{A8B1C4BC-5DC2-DBAD-FEF8-EA5C875EB443}"/>
              </a:ext>
            </a:extLst>
          </p:cNvPr>
          <p:cNvGraphicFramePr>
            <a:graphicFrameLocks noGrp="1"/>
          </p:cNvGraphicFramePr>
          <p:nvPr>
            <p:ph idx="1"/>
            <p:extLst>
              <p:ext uri="{D42A27DB-BD31-4B8C-83A1-F6EECF244321}">
                <p14:modId xmlns:p14="http://schemas.microsoft.com/office/powerpoint/2010/main" val="2501017987"/>
              </p:ext>
            </p:extLst>
          </p:nvPr>
        </p:nvGraphicFramePr>
        <p:xfrm>
          <a:off x="3556000" y="2114023"/>
          <a:ext cx="8074025" cy="3079700"/>
        </p:xfrm>
        <a:graphic>
          <a:graphicData uri="http://schemas.openxmlformats.org/drawingml/2006/table">
            <a:tbl>
              <a:tblPr/>
              <a:tblGrid>
                <a:gridCol w="2959900">
                  <a:extLst>
                    <a:ext uri="{9D8B030D-6E8A-4147-A177-3AD203B41FA5}">
                      <a16:colId xmlns:a16="http://schemas.microsoft.com/office/drawing/2014/main" val="2809629707"/>
                    </a:ext>
                  </a:extLst>
                </a:gridCol>
                <a:gridCol w="1599400">
                  <a:extLst>
                    <a:ext uri="{9D8B030D-6E8A-4147-A177-3AD203B41FA5}">
                      <a16:colId xmlns:a16="http://schemas.microsoft.com/office/drawing/2014/main" val="1387282522"/>
                    </a:ext>
                  </a:extLst>
                </a:gridCol>
                <a:gridCol w="3514725">
                  <a:extLst>
                    <a:ext uri="{9D8B030D-6E8A-4147-A177-3AD203B41FA5}">
                      <a16:colId xmlns:a16="http://schemas.microsoft.com/office/drawing/2014/main" val="3233256874"/>
                    </a:ext>
                  </a:extLst>
                </a:gridCol>
              </a:tblGrid>
              <a:tr h="197568">
                <a:tc>
                  <a:txBody>
                    <a:bodyPr/>
                    <a:lstStyle/>
                    <a:p>
                      <a:pPr algn="ctr" fontAlgn="ctr">
                        <a:buNone/>
                      </a:pPr>
                      <a:r>
                        <a:rPr lang="en-US" sz="1050" b="1" i="0" u="none" strike="noStrike">
                          <a:solidFill>
                            <a:schemeClr val="tx2">
                              <a:lumMod val="50000"/>
                              <a:lumOff val="50000"/>
                            </a:schemeClr>
                          </a:solidFill>
                          <a:effectLst/>
                          <a:latin typeface="Arial" panose="020B0604020202020204" pitchFamily="34" charset="0"/>
                        </a:rPr>
                        <a:t>Test Scenario</a:t>
                      </a:r>
                    </a:p>
                  </a:txBody>
                  <a:tcPr marL="71804" marR="71804" marT="35902" marB="35902" anchor="ctr">
                    <a:lnL w="6350" cap="flat" cmpd="sng" algn="ctr">
                      <a:no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en-US" sz="1050" b="1" i="0" u="none" strike="noStrike">
                          <a:solidFill>
                            <a:schemeClr val="tx2">
                              <a:lumMod val="50000"/>
                              <a:lumOff val="50000"/>
                            </a:schemeClr>
                          </a:solidFill>
                          <a:effectLst/>
                          <a:latin typeface="Arial" panose="020B0604020202020204" pitchFamily="34" charset="0"/>
                        </a:rPr>
                        <a:t>Configuration</a:t>
                      </a:r>
                    </a:p>
                  </a:txBody>
                  <a:tcPr marL="71804" marR="71804" marT="35902" marB="35902" anchor="ctr">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en-US" sz="1050" b="1" i="0" u="none" strike="noStrike" dirty="0">
                          <a:solidFill>
                            <a:schemeClr val="tx2">
                              <a:lumMod val="50000"/>
                              <a:lumOff val="50000"/>
                            </a:schemeClr>
                          </a:solidFill>
                          <a:effectLst/>
                          <a:latin typeface="Arial" panose="020B0604020202020204" pitchFamily="34" charset="0"/>
                        </a:rPr>
                        <a:t>Purpose</a:t>
                      </a:r>
                    </a:p>
                  </a:txBody>
                  <a:tcPr marL="71804" marR="71804" marT="35902" marB="35902" anchor="ctr">
                    <a:lnL w="6350" cap="flat" cmpd="sng" algn="ctr">
                      <a:solidFill>
                        <a:schemeClr val="bg2">
                          <a:lumMod val="9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2446470146"/>
                  </a:ext>
                </a:extLst>
              </a:tr>
              <a:tr h="333942">
                <a:tc>
                  <a:txBody>
                    <a:bodyPr/>
                    <a:lstStyle/>
                    <a:p>
                      <a:pPr algn="l" fontAlgn="ctr">
                        <a:buNone/>
                      </a:pPr>
                      <a:r>
                        <a:rPr lang="en-US" sz="1050" b="1" i="0" u="none" strike="noStrike" dirty="0">
                          <a:effectLst/>
                          <a:latin typeface="Arial" panose="020B0604020202020204" pitchFamily="34" charset="0"/>
                        </a:rPr>
                        <a:t>10, 20, 30 mins</a:t>
                      </a:r>
                    </a:p>
                  </a:txBody>
                  <a:tcPr marL="71804" marR="71804" marT="35902" marB="35902" anchor="ctr">
                    <a:lnL w="6350" cap="flat" cmpd="sng" algn="ctr">
                      <a:no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en-US" sz="1050" b="1" i="0" u="none" strike="noStrike" dirty="0">
                          <a:effectLst/>
                          <a:latin typeface="Arial" panose="020B0604020202020204" pitchFamily="34" charset="0"/>
                        </a:rPr>
                        <a:t>Entry and exit for each</a:t>
                      </a:r>
                    </a:p>
                  </a:txBody>
                  <a:tcPr marL="71804" marR="71804" marT="35902" marB="35902" anchor="ctr">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l" fontAlgn="ctr">
                        <a:buNone/>
                      </a:pPr>
                      <a:r>
                        <a:rPr lang="en-US" sz="1050" b="1" i="0" u="none" strike="noStrike" dirty="0">
                          <a:effectLst/>
                          <a:latin typeface="Arial" panose="020B0604020202020204" pitchFamily="34" charset="0"/>
                        </a:rPr>
                        <a:t>Simulate intermittent occupancy, PIR and co2 decay and build</a:t>
                      </a:r>
                    </a:p>
                  </a:txBody>
                  <a:tcPr marL="71804" marR="71804" marT="35902" marB="35902" anchor="ctr">
                    <a:lnL w="6350" cap="flat" cmpd="sng" algn="ctr">
                      <a:solidFill>
                        <a:schemeClr val="bg2">
                          <a:lumMod val="9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1412663134"/>
                  </a:ext>
                </a:extLst>
              </a:tr>
              <a:tr h="333942">
                <a:tc>
                  <a:txBody>
                    <a:bodyPr/>
                    <a:lstStyle/>
                    <a:p>
                      <a:pPr algn="l" fontAlgn="ctr">
                        <a:buNone/>
                      </a:pPr>
                      <a:r>
                        <a:rPr lang="en-US" sz="1050" b="1" i="0" u="none" strike="noStrike" dirty="0">
                          <a:effectLst/>
                          <a:latin typeface="Arial" panose="020B0604020202020204" pitchFamily="34" charset="0"/>
                        </a:rPr>
                        <a:t>1A</a:t>
                      </a:r>
                      <a:r>
                        <a:rPr lang="en-US" sz="1050" b="0" i="0" u="none" strike="noStrike" dirty="0">
                          <a:effectLst/>
                          <a:latin typeface="Arial" panose="020B0604020202020204" pitchFamily="34" charset="0"/>
                        </a:rPr>
                        <a:t> One person sits at A (2 seconds, 2 mins, 5, 10, 20, 30 min)</a:t>
                      </a:r>
                    </a:p>
                  </a:txBody>
                  <a:tcPr marL="71804" marR="71804" marT="35902" marB="35902" anchor="ctr">
                    <a:lnL w="6350" cap="flat" cmpd="sng" algn="ctr">
                      <a:no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en-US" sz="1050" b="0" i="0" u="none" strike="noStrike" dirty="0">
                          <a:effectLst/>
                          <a:latin typeface="Arial" panose="020B0604020202020204" pitchFamily="34" charset="0"/>
                        </a:rPr>
                        <a:t>Only seat A</a:t>
                      </a:r>
                    </a:p>
                  </a:txBody>
                  <a:tcPr marL="71804" marR="71804" marT="35902" marB="35902" anchor="ctr">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l" fontAlgn="ctr">
                        <a:buNone/>
                      </a:pPr>
                      <a:r>
                        <a:rPr lang="en-US" sz="1050" b="0" i="0" u="none" strike="noStrike" dirty="0">
                          <a:effectLst/>
                          <a:latin typeface="Arial" panose="020B0604020202020204" pitchFamily="34" charset="0"/>
                        </a:rPr>
                        <a:t>Establish baseline CO₂ rate from one occupant</a:t>
                      </a:r>
                    </a:p>
                  </a:txBody>
                  <a:tcPr marL="71804" marR="71804" marT="35902" marB="35902" anchor="ctr">
                    <a:lnL w="6350" cap="flat" cmpd="sng" algn="ctr">
                      <a:solidFill>
                        <a:schemeClr val="bg2">
                          <a:lumMod val="9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4154636998"/>
                  </a:ext>
                </a:extLst>
              </a:tr>
              <a:tr h="197568">
                <a:tc>
                  <a:txBody>
                    <a:bodyPr/>
                    <a:lstStyle/>
                    <a:p>
                      <a:pPr algn="l" fontAlgn="ctr">
                        <a:buNone/>
                      </a:pPr>
                      <a:r>
                        <a:rPr lang="en-US" sz="1050" b="1" i="0" u="none" strike="noStrike" dirty="0">
                          <a:effectLst/>
                          <a:latin typeface="Arial" panose="020B0604020202020204" pitchFamily="34" charset="0"/>
                        </a:rPr>
                        <a:t>1B</a:t>
                      </a:r>
                      <a:r>
                        <a:rPr lang="en-US" sz="1050" b="0" i="0" u="none" strike="noStrike" dirty="0">
                          <a:effectLst/>
                          <a:latin typeface="Arial" panose="020B0604020202020204" pitchFamily="34" charset="0"/>
                        </a:rPr>
                        <a:t> Repeat at seats B, C, and D (5, 10, 20, 30)</a:t>
                      </a:r>
                    </a:p>
                  </a:txBody>
                  <a:tcPr marL="71804" marR="71804" marT="35902" marB="35902" anchor="ctr">
                    <a:lnL w="6350" cap="flat" cmpd="sng" algn="ctr">
                      <a:no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en-US" sz="1050" b="0" i="0" u="none" strike="noStrike" dirty="0">
                          <a:effectLst/>
                          <a:latin typeface="Arial" panose="020B0604020202020204" pitchFamily="34" charset="0"/>
                        </a:rPr>
                        <a:t>One seat at a time</a:t>
                      </a:r>
                    </a:p>
                  </a:txBody>
                  <a:tcPr marL="71804" marR="71804" marT="35902" marB="35902" anchor="ctr">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l" fontAlgn="ctr">
                        <a:buNone/>
                      </a:pPr>
                      <a:r>
                        <a:rPr lang="en-US" sz="1050" b="0" i="0" u="none" strike="noStrike" dirty="0">
                          <a:effectLst/>
                          <a:latin typeface="Arial" panose="020B0604020202020204" pitchFamily="34" charset="0"/>
                        </a:rPr>
                        <a:t>Identify seat-specific PIR + CO₂ response</a:t>
                      </a:r>
                    </a:p>
                  </a:txBody>
                  <a:tcPr marL="71804" marR="71804" marT="35902" marB="35902" anchor="ctr">
                    <a:lnL w="6350" cap="flat" cmpd="sng" algn="ctr">
                      <a:solidFill>
                        <a:schemeClr val="bg2">
                          <a:lumMod val="9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1987292070"/>
                  </a:ext>
                </a:extLst>
              </a:tr>
              <a:tr h="270406">
                <a:tc>
                  <a:txBody>
                    <a:bodyPr/>
                    <a:lstStyle/>
                    <a:p>
                      <a:pPr algn="l" fontAlgn="ctr">
                        <a:buNone/>
                      </a:pPr>
                      <a:r>
                        <a:rPr lang="en-US" sz="1050" b="1" i="0" u="none" strike="noStrike" dirty="0">
                          <a:effectLst/>
                          <a:latin typeface="Arial" panose="020B0604020202020204" pitchFamily="34" charset="0"/>
                        </a:rPr>
                        <a:t>2A</a:t>
                      </a:r>
                      <a:r>
                        <a:rPr lang="en-US" sz="1050" b="0" i="0" u="none" strike="noStrike" dirty="0">
                          <a:effectLst/>
                          <a:latin typeface="Arial" panose="020B0604020202020204" pitchFamily="34" charset="0"/>
                        </a:rPr>
                        <a:t> Two people at A + C (30 min)</a:t>
                      </a:r>
                    </a:p>
                  </a:txBody>
                  <a:tcPr marL="71804" marR="71804" marT="35902" marB="35902" anchor="ctr">
                    <a:lnL w="6350" cap="flat" cmpd="sng" algn="ctr">
                      <a:no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en-US" sz="1050" b="0" i="0" u="none" strike="noStrike">
                          <a:effectLst/>
                          <a:latin typeface="Arial" panose="020B0604020202020204" pitchFamily="34" charset="0"/>
                        </a:rPr>
                        <a:t>Diagonal pair</a:t>
                      </a:r>
                    </a:p>
                  </a:txBody>
                  <a:tcPr marL="71804" marR="71804" marT="35902" marB="35902" anchor="ctr">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l" fontAlgn="ctr">
                        <a:buNone/>
                      </a:pPr>
                      <a:r>
                        <a:rPr lang="en-US" sz="1050" b="0" i="0" u="none" strike="noStrike" dirty="0">
                          <a:effectLst/>
                          <a:latin typeface="Arial" panose="020B0604020202020204" pitchFamily="34" charset="0"/>
                        </a:rPr>
                        <a:t>Test interaction of multiple sources + balance</a:t>
                      </a:r>
                    </a:p>
                  </a:txBody>
                  <a:tcPr marL="71804" marR="71804" marT="35902" marB="35902" anchor="ctr">
                    <a:lnL w="6350" cap="flat" cmpd="sng" algn="ctr">
                      <a:solidFill>
                        <a:schemeClr val="bg2">
                          <a:lumMod val="9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3592897880"/>
                  </a:ext>
                </a:extLst>
              </a:tr>
              <a:tr h="333942">
                <a:tc>
                  <a:txBody>
                    <a:bodyPr/>
                    <a:lstStyle/>
                    <a:p>
                      <a:pPr algn="l" fontAlgn="ctr">
                        <a:buNone/>
                      </a:pPr>
                      <a:r>
                        <a:rPr lang="en-US" sz="1050" b="1" i="0" u="none" strike="noStrike">
                          <a:effectLst/>
                          <a:latin typeface="Arial" panose="020B0604020202020204" pitchFamily="34" charset="0"/>
                        </a:rPr>
                        <a:t>2B</a:t>
                      </a:r>
                      <a:r>
                        <a:rPr lang="en-US" sz="1050" b="0" i="0" u="none" strike="noStrike">
                          <a:effectLst/>
                          <a:latin typeface="Arial" panose="020B0604020202020204" pitchFamily="34" charset="0"/>
                        </a:rPr>
                        <a:t> Two people at A + B or B + D</a:t>
                      </a:r>
                    </a:p>
                  </a:txBody>
                  <a:tcPr marL="71804" marR="71804" marT="35902" marB="35902" anchor="ctr">
                    <a:lnL w="6350" cap="flat" cmpd="sng" algn="ctr">
                      <a:no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en-US" sz="1050" b="0" i="0" u="none" strike="noStrike">
                          <a:effectLst/>
                          <a:latin typeface="Arial" panose="020B0604020202020204" pitchFamily="34" charset="0"/>
                        </a:rPr>
                        <a:t>Same side or L-shape</a:t>
                      </a:r>
                    </a:p>
                  </a:txBody>
                  <a:tcPr marL="71804" marR="71804" marT="35902" marB="35902" anchor="ctr">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l" fontAlgn="ctr">
                        <a:buNone/>
                      </a:pPr>
                      <a:r>
                        <a:rPr lang="en-US" sz="1050" b="0" i="0" u="none" strike="noStrike">
                          <a:effectLst/>
                          <a:latin typeface="Arial" panose="020B0604020202020204" pitchFamily="34" charset="0"/>
                        </a:rPr>
                        <a:t>See if placement symmetry affects CO₂ dispersion</a:t>
                      </a:r>
                    </a:p>
                  </a:txBody>
                  <a:tcPr marL="71804" marR="71804" marT="35902" marB="35902" anchor="ctr">
                    <a:lnL w="6350" cap="flat" cmpd="sng" algn="ctr">
                      <a:solidFill>
                        <a:schemeClr val="bg2">
                          <a:lumMod val="9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4277932561"/>
                  </a:ext>
                </a:extLst>
              </a:tr>
              <a:tr h="197568">
                <a:tc>
                  <a:txBody>
                    <a:bodyPr/>
                    <a:lstStyle/>
                    <a:p>
                      <a:pPr algn="l" fontAlgn="ctr">
                        <a:buNone/>
                      </a:pPr>
                      <a:r>
                        <a:rPr lang="fr-FR" sz="1050" b="1" i="0" u="none" strike="noStrike">
                          <a:effectLst/>
                          <a:latin typeface="Arial" panose="020B0604020202020204" pitchFamily="34" charset="0"/>
                        </a:rPr>
                        <a:t>3</a:t>
                      </a:r>
                      <a:r>
                        <a:rPr lang="fr-FR" sz="1050" b="0" i="0" u="none" strike="noStrike">
                          <a:effectLst/>
                          <a:latin typeface="Arial" panose="020B0604020202020204" pitchFamily="34" charset="0"/>
                        </a:rPr>
                        <a:t> Person enters, sits 3 seconds, exits</a:t>
                      </a:r>
                    </a:p>
                  </a:txBody>
                  <a:tcPr marL="71804" marR="71804" marT="35902" marB="35902" anchor="ctr">
                    <a:lnL w="6350" cap="flat" cmpd="sng" algn="ctr">
                      <a:no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en-US" sz="1050" b="0" i="0" u="none" strike="noStrike">
                          <a:effectLst/>
                          <a:latin typeface="Arial" panose="020B0604020202020204" pitchFamily="34" charset="0"/>
                        </a:rPr>
                        <a:t>One seat, random or A</a:t>
                      </a:r>
                    </a:p>
                  </a:txBody>
                  <a:tcPr marL="71804" marR="71804" marT="35902" marB="35902" anchor="ctr">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l" fontAlgn="ctr">
                        <a:buNone/>
                      </a:pPr>
                      <a:r>
                        <a:rPr lang="en-US" sz="1050" b="0" i="0" u="none" strike="noStrike" dirty="0">
                          <a:effectLst/>
                          <a:latin typeface="Arial" panose="020B0604020202020204" pitchFamily="34" charset="0"/>
                        </a:rPr>
                        <a:t>Test PIR + CO₂ sensitivity to brief entry</a:t>
                      </a:r>
                    </a:p>
                  </a:txBody>
                  <a:tcPr marL="71804" marR="71804" marT="35902" marB="35902" anchor="ctr">
                    <a:lnL w="6350" cap="flat" cmpd="sng" algn="ctr">
                      <a:solidFill>
                        <a:schemeClr val="bg2">
                          <a:lumMod val="9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1529245059"/>
                  </a:ext>
                </a:extLst>
              </a:tr>
              <a:tr h="270406">
                <a:tc>
                  <a:txBody>
                    <a:bodyPr/>
                    <a:lstStyle/>
                    <a:p>
                      <a:pPr algn="l" fontAlgn="ctr">
                        <a:buNone/>
                      </a:pPr>
                      <a:r>
                        <a:rPr lang="en-US" sz="1050" b="1" i="0" u="none" strike="noStrike">
                          <a:effectLst/>
                          <a:latin typeface="Arial" panose="020B0604020202020204" pitchFamily="34" charset="0"/>
                        </a:rPr>
                        <a:t>4</a:t>
                      </a:r>
                      <a:r>
                        <a:rPr lang="en-US" sz="1050" b="0" i="0" u="none" strike="noStrike">
                          <a:effectLst/>
                          <a:latin typeface="Arial" panose="020B0604020202020204" pitchFamily="34" charset="0"/>
                        </a:rPr>
                        <a:t> Room occupied (2–3 persons) + door open</a:t>
                      </a:r>
                    </a:p>
                  </a:txBody>
                  <a:tcPr marL="71804" marR="71804" marT="35902" marB="35902" anchor="ctr">
                    <a:lnL w="6350" cap="flat" cmpd="sng" algn="ctr">
                      <a:no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en-US" sz="1050" b="0" i="0" u="none" strike="noStrike" dirty="0">
                          <a:effectLst/>
                          <a:latin typeface="Arial" panose="020B0604020202020204" pitchFamily="34" charset="0"/>
                        </a:rPr>
                        <a:t>Natural activity</a:t>
                      </a:r>
                    </a:p>
                  </a:txBody>
                  <a:tcPr marL="71804" marR="71804" marT="35902" marB="35902" anchor="ctr">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l" fontAlgn="ctr">
                        <a:buNone/>
                      </a:pPr>
                      <a:r>
                        <a:rPr lang="en-US" sz="1050" b="0" i="0" u="none" strike="noStrike">
                          <a:effectLst/>
                          <a:latin typeface="Arial" panose="020B0604020202020204" pitchFamily="34" charset="0"/>
                        </a:rPr>
                        <a:t>Assess ventilation effect on sensor response</a:t>
                      </a:r>
                    </a:p>
                  </a:txBody>
                  <a:tcPr marL="71804" marR="71804" marT="35902" marB="35902" anchor="ctr">
                    <a:lnL w="6350" cap="flat" cmpd="sng" algn="ctr">
                      <a:solidFill>
                        <a:schemeClr val="bg2">
                          <a:lumMod val="9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3831662747"/>
                  </a:ext>
                </a:extLst>
              </a:tr>
              <a:tr h="333942">
                <a:tc>
                  <a:txBody>
                    <a:bodyPr/>
                    <a:lstStyle/>
                    <a:p>
                      <a:pPr algn="l" fontAlgn="ctr">
                        <a:buNone/>
                      </a:pPr>
                      <a:r>
                        <a:rPr lang="en-US" sz="1050" b="1" i="0" u="none" strike="noStrike">
                          <a:effectLst/>
                          <a:latin typeface="Arial" panose="020B0604020202020204" pitchFamily="34" charset="0"/>
                        </a:rPr>
                        <a:t>5</a:t>
                      </a:r>
                      <a:r>
                        <a:rPr lang="en-US" sz="1050" b="0" i="0" u="none" strike="noStrike">
                          <a:effectLst/>
                          <a:latin typeface="Arial" panose="020B0604020202020204" pitchFamily="34" charset="0"/>
                        </a:rPr>
                        <a:t> Full occupancy (4 persons, 30 min)</a:t>
                      </a:r>
                    </a:p>
                  </a:txBody>
                  <a:tcPr marL="71804" marR="71804" marT="35902" marB="35902" anchor="ctr">
                    <a:lnL w="6350" cap="flat" cmpd="sng" algn="ctr">
                      <a:no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fontAlgn="ctr">
                        <a:buNone/>
                      </a:pPr>
                      <a:r>
                        <a:rPr lang="en-US" sz="1050" b="0" i="0" u="none" strike="noStrike">
                          <a:effectLst/>
                          <a:latin typeface="Arial" panose="020B0604020202020204" pitchFamily="34" charset="0"/>
                        </a:rPr>
                        <a:t>All seats</a:t>
                      </a:r>
                    </a:p>
                  </a:txBody>
                  <a:tcPr marL="71804" marR="71804" marT="35902" marB="35902" anchor="ctr">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l" fontAlgn="ctr">
                        <a:buNone/>
                      </a:pPr>
                      <a:r>
                        <a:rPr lang="en-US" sz="1050" b="0" i="0" u="none" strike="noStrike" dirty="0">
                          <a:effectLst/>
                          <a:latin typeface="Arial" panose="020B0604020202020204" pitchFamily="34" charset="0"/>
                        </a:rPr>
                        <a:t>Max-load response + peak CO₂ reading accuracy</a:t>
                      </a:r>
                    </a:p>
                  </a:txBody>
                  <a:tcPr marL="71804" marR="71804" marT="35902" marB="35902" anchor="ctr">
                    <a:lnL w="6350" cap="flat" cmpd="sng" algn="ctr">
                      <a:solidFill>
                        <a:schemeClr val="bg2">
                          <a:lumMod val="9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4041150431"/>
                  </a:ext>
                </a:extLst>
              </a:tr>
              <a:tr h="333942">
                <a:tc>
                  <a:txBody>
                    <a:bodyPr/>
                    <a:lstStyle/>
                    <a:p>
                      <a:pPr algn="l" fontAlgn="ctr">
                        <a:buNone/>
                      </a:pPr>
                      <a:r>
                        <a:rPr lang="en-US" sz="1050" b="1" i="0" u="none" strike="noStrike">
                          <a:effectLst/>
                          <a:latin typeface="Arial" panose="020B0604020202020204" pitchFamily="34" charset="0"/>
                        </a:rPr>
                        <a:t>6</a:t>
                      </a:r>
                      <a:r>
                        <a:rPr lang="en-US" sz="1050" b="0" i="0" u="none" strike="noStrike">
                          <a:effectLst/>
                          <a:latin typeface="Arial" panose="020B0604020202020204" pitchFamily="34" charset="0"/>
                        </a:rPr>
                        <a:t> Vary durations (10, 20, 40 min)</a:t>
                      </a:r>
                    </a:p>
                  </a:txBody>
                  <a:tcPr marL="71804" marR="71804" marT="35902" marB="35902" anchor="ctr">
                    <a:lnL w="6350" cap="flat" cmpd="sng" algn="ctr">
                      <a:no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fontAlgn="ctr">
                        <a:buNone/>
                      </a:pPr>
                      <a:r>
                        <a:rPr lang="en-US" sz="1050" b="0" i="0" u="none" strike="noStrike" dirty="0">
                          <a:effectLst/>
                          <a:latin typeface="Arial" panose="020B0604020202020204" pitchFamily="34" charset="0"/>
                        </a:rPr>
                        <a:t>Repeat with 1–4 occupants</a:t>
                      </a:r>
                    </a:p>
                  </a:txBody>
                  <a:tcPr marL="71804" marR="71804" marT="35902" marB="35902" anchor="ctr">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l" fontAlgn="ctr">
                        <a:buNone/>
                      </a:pPr>
                      <a:r>
                        <a:rPr lang="en-US" sz="1050" b="0" i="0" u="none" strike="noStrike" dirty="0">
                          <a:effectLst/>
                          <a:latin typeface="Arial" panose="020B0604020202020204" pitchFamily="34" charset="0"/>
                        </a:rPr>
                        <a:t>Validate response speed and slope in ∆CO₂/min</a:t>
                      </a:r>
                    </a:p>
                  </a:txBody>
                  <a:tcPr marL="71804" marR="71804" marT="35902" marB="35902" anchor="ctr">
                    <a:lnL w="6350" cap="flat" cmpd="sng" algn="ctr">
                      <a:solidFill>
                        <a:schemeClr val="bg2">
                          <a:lumMod val="9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noFill/>
                      <a:prstDash val="solid"/>
                      <a:round/>
                      <a:headEnd type="none" w="med" len="med"/>
                      <a:tailEnd type="none" w="med" len="med"/>
                    </a:lnB>
                    <a:noFill/>
                  </a:tcPr>
                </a:tc>
                <a:extLst>
                  <a:ext uri="{0D108BD9-81ED-4DB2-BD59-A6C34878D82A}">
                    <a16:rowId xmlns:a16="http://schemas.microsoft.com/office/drawing/2014/main" val="4118735670"/>
                  </a:ext>
                </a:extLst>
              </a:tr>
            </a:tbl>
          </a:graphicData>
        </a:graphic>
      </p:graphicFrame>
      <p:graphicFrame>
        <p:nvGraphicFramePr>
          <p:cNvPr id="6" name="Table 5">
            <a:extLst>
              <a:ext uri="{FF2B5EF4-FFF2-40B4-BE49-F238E27FC236}">
                <a16:creationId xmlns:a16="http://schemas.microsoft.com/office/drawing/2014/main" id="{E17A6C7A-8B4B-0607-47A3-CDBDEAFBD86A}"/>
              </a:ext>
            </a:extLst>
          </p:cNvPr>
          <p:cNvGraphicFramePr>
            <a:graphicFrameLocks noGrp="1"/>
          </p:cNvGraphicFramePr>
          <p:nvPr/>
        </p:nvGraphicFramePr>
        <p:xfrm>
          <a:off x="2517664" y="5167312"/>
          <a:ext cx="8836136" cy="754380"/>
        </p:xfrm>
        <a:graphic>
          <a:graphicData uri="http://schemas.openxmlformats.org/drawingml/2006/table">
            <a:tbl>
              <a:tblPr/>
              <a:tblGrid>
                <a:gridCol w="1104517">
                  <a:extLst>
                    <a:ext uri="{9D8B030D-6E8A-4147-A177-3AD203B41FA5}">
                      <a16:colId xmlns:a16="http://schemas.microsoft.com/office/drawing/2014/main" val="4259552105"/>
                    </a:ext>
                  </a:extLst>
                </a:gridCol>
                <a:gridCol w="1104517">
                  <a:extLst>
                    <a:ext uri="{9D8B030D-6E8A-4147-A177-3AD203B41FA5}">
                      <a16:colId xmlns:a16="http://schemas.microsoft.com/office/drawing/2014/main" val="2037132447"/>
                    </a:ext>
                  </a:extLst>
                </a:gridCol>
                <a:gridCol w="1104517">
                  <a:extLst>
                    <a:ext uri="{9D8B030D-6E8A-4147-A177-3AD203B41FA5}">
                      <a16:colId xmlns:a16="http://schemas.microsoft.com/office/drawing/2014/main" val="3652568480"/>
                    </a:ext>
                  </a:extLst>
                </a:gridCol>
                <a:gridCol w="1104517">
                  <a:extLst>
                    <a:ext uri="{9D8B030D-6E8A-4147-A177-3AD203B41FA5}">
                      <a16:colId xmlns:a16="http://schemas.microsoft.com/office/drawing/2014/main" val="3328504812"/>
                    </a:ext>
                  </a:extLst>
                </a:gridCol>
                <a:gridCol w="1104517">
                  <a:extLst>
                    <a:ext uri="{9D8B030D-6E8A-4147-A177-3AD203B41FA5}">
                      <a16:colId xmlns:a16="http://schemas.microsoft.com/office/drawing/2014/main" val="69661246"/>
                    </a:ext>
                  </a:extLst>
                </a:gridCol>
                <a:gridCol w="1104517">
                  <a:extLst>
                    <a:ext uri="{9D8B030D-6E8A-4147-A177-3AD203B41FA5}">
                      <a16:colId xmlns:a16="http://schemas.microsoft.com/office/drawing/2014/main" val="2717157369"/>
                    </a:ext>
                  </a:extLst>
                </a:gridCol>
                <a:gridCol w="1104517">
                  <a:extLst>
                    <a:ext uri="{9D8B030D-6E8A-4147-A177-3AD203B41FA5}">
                      <a16:colId xmlns:a16="http://schemas.microsoft.com/office/drawing/2014/main" val="4260078874"/>
                    </a:ext>
                  </a:extLst>
                </a:gridCol>
                <a:gridCol w="1104517">
                  <a:extLst>
                    <a:ext uri="{9D8B030D-6E8A-4147-A177-3AD203B41FA5}">
                      <a16:colId xmlns:a16="http://schemas.microsoft.com/office/drawing/2014/main" val="1945264999"/>
                    </a:ext>
                  </a:extLst>
                </a:gridCol>
              </a:tblGrid>
              <a:tr h="180710">
                <a:tc>
                  <a:txBody>
                    <a:bodyPr/>
                    <a:lstStyle/>
                    <a:p>
                      <a:pPr algn="ctr">
                        <a:buNone/>
                      </a:pPr>
                      <a:r>
                        <a:rPr lang="en-US" sz="1050" dirty="0">
                          <a:solidFill>
                            <a:schemeClr val="tx2">
                              <a:lumMod val="50000"/>
                              <a:lumOff val="50000"/>
                            </a:schemeClr>
                          </a:solidFill>
                        </a:rPr>
                        <a:t>Scenario</a:t>
                      </a:r>
                    </a:p>
                  </a:txBody>
                  <a:tcPr anchor="ctr">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a:buNone/>
                      </a:pPr>
                      <a:r>
                        <a:rPr lang="en-US" sz="1050" dirty="0">
                          <a:solidFill>
                            <a:schemeClr val="tx2">
                              <a:lumMod val="50000"/>
                              <a:lumOff val="50000"/>
                            </a:schemeClr>
                          </a:solidFill>
                        </a:rPr>
                        <a:t>Seat(s) Used</a:t>
                      </a:r>
                    </a:p>
                  </a:txBody>
                  <a:tcPr anchor="ctr">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a:buNone/>
                      </a:pPr>
                      <a:r>
                        <a:rPr lang="en-US" sz="1050">
                          <a:solidFill>
                            <a:schemeClr val="tx2">
                              <a:lumMod val="50000"/>
                              <a:lumOff val="50000"/>
                            </a:schemeClr>
                          </a:solidFill>
                        </a:rPr>
                        <a:t># People</a:t>
                      </a:r>
                    </a:p>
                  </a:txBody>
                  <a:tcPr anchor="ctr">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a:buNone/>
                      </a:pPr>
                      <a:r>
                        <a:rPr lang="en-US" sz="1050">
                          <a:solidFill>
                            <a:schemeClr val="tx2">
                              <a:lumMod val="50000"/>
                              <a:lumOff val="50000"/>
                            </a:schemeClr>
                          </a:solidFill>
                        </a:rPr>
                        <a:t>Time (min)</a:t>
                      </a:r>
                    </a:p>
                  </a:txBody>
                  <a:tcPr anchor="ctr">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a:buNone/>
                      </a:pPr>
                      <a:r>
                        <a:rPr lang="en-US" sz="1050">
                          <a:solidFill>
                            <a:schemeClr val="tx2">
                              <a:lumMod val="50000"/>
                              <a:lumOff val="50000"/>
                            </a:schemeClr>
                          </a:solidFill>
                        </a:rPr>
                        <a:t>Avg CO₂ (ppm)</a:t>
                      </a:r>
                    </a:p>
                  </a:txBody>
                  <a:tcPr anchor="ctr">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a:buNone/>
                      </a:pPr>
                      <a:r>
                        <a:rPr lang="en-US" sz="1050">
                          <a:solidFill>
                            <a:schemeClr val="tx2">
                              <a:lumMod val="50000"/>
                              <a:lumOff val="50000"/>
                            </a:schemeClr>
                          </a:solidFill>
                        </a:rPr>
                        <a:t>∆CO₂/min</a:t>
                      </a:r>
                    </a:p>
                  </a:txBody>
                  <a:tcPr anchor="ctr">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a:buNone/>
                      </a:pPr>
                      <a:r>
                        <a:rPr lang="en-US" sz="1050">
                          <a:solidFill>
                            <a:schemeClr val="tx2">
                              <a:lumMod val="50000"/>
                              <a:lumOff val="50000"/>
                            </a:schemeClr>
                          </a:solidFill>
                        </a:rPr>
                        <a:t>PIR Triggered?</a:t>
                      </a:r>
                    </a:p>
                  </a:txBody>
                  <a:tcPr anchor="ctr">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a:buNone/>
                      </a:pPr>
                      <a:r>
                        <a:rPr lang="en-US" sz="1050" dirty="0">
                          <a:solidFill>
                            <a:schemeClr val="tx2">
                              <a:lumMod val="50000"/>
                              <a:lumOff val="50000"/>
                            </a:schemeClr>
                          </a:solidFill>
                        </a:rPr>
                        <a:t>Accuracy vs GT</a:t>
                      </a:r>
                    </a:p>
                  </a:txBody>
                  <a:tcPr anchor="ctr">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4006431587"/>
                  </a:ext>
                </a:extLst>
              </a:tr>
              <a:tr h="180710">
                <a:tc>
                  <a:txBody>
                    <a:bodyPr/>
                    <a:lstStyle/>
                    <a:p>
                      <a:pPr algn="ctr">
                        <a:buNone/>
                      </a:pPr>
                      <a:r>
                        <a:rPr lang="en-US" sz="1050">
                          <a:solidFill>
                            <a:schemeClr val="tx1"/>
                          </a:solidFill>
                        </a:rPr>
                        <a:t>1A</a:t>
                      </a:r>
                    </a:p>
                  </a:txBody>
                  <a:tcPr anchor="ctr">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a:buNone/>
                      </a:pPr>
                      <a:r>
                        <a:rPr lang="en-US" sz="1050">
                          <a:solidFill>
                            <a:schemeClr val="tx1"/>
                          </a:solidFill>
                        </a:rPr>
                        <a:t>A</a:t>
                      </a:r>
                    </a:p>
                  </a:txBody>
                  <a:tcPr anchor="ctr">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a:buNone/>
                      </a:pPr>
                      <a:r>
                        <a:rPr lang="en-US" sz="1050" dirty="0">
                          <a:solidFill>
                            <a:schemeClr val="tx1"/>
                          </a:solidFill>
                        </a:rPr>
                        <a:t>1</a:t>
                      </a:r>
                    </a:p>
                  </a:txBody>
                  <a:tcPr anchor="ctr">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a:buNone/>
                      </a:pPr>
                      <a:r>
                        <a:rPr lang="en-US" sz="1050" dirty="0">
                          <a:solidFill>
                            <a:schemeClr val="tx1"/>
                          </a:solidFill>
                        </a:rPr>
                        <a:t>30</a:t>
                      </a:r>
                    </a:p>
                  </a:txBody>
                  <a:tcPr anchor="ctr">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a:buNone/>
                      </a:pPr>
                      <a:endParaRPr lang="en-US" sz="1050" dirty="0">
                        <a:solidFill>
                          <a:schemeClr val="tx1"/>
                        </a:solidFill>
                      </a:endParaRPr>
                    </a:p>
                  </a:txBody>
                  <a:tcPr anchor="ctr">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a:buNone/>
                      </a:pPr>
                      <a:endParaRPr lang="en-US" sz="1050" dirty="0">
                        <a:solidFill>
                          <a:schemeClr val="tx1"/>
                        </a:solidFill>
                      </a:endParaRPr>
                    </a:p>
                  </a:txBody>
                  <a:tcPr anchor="ctr">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a:buNone/>
                      </a:pPr>
                      <a:r>
                        <a:rPr lang="en-US" sz="1050" dirty="0">
                          <a:solidFill>
                            <a:schemeClr val="tx1"/>
                          </a:solidFill>
                        </a:rPr>
                        <a:t>Y/N</a:t>
                      </a:r>
                    </a:p>
                  </a:txBody>
                  <a:tcPr anchor="ctr">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a:buNone/>
                      </a:pPr>
                      <a:r>
                        <a:rPr lang="en-US" sz="1050" dirty="0">
                          <a:solidFill>
                            <a:schemeClr val="tx1"/>
                          </a:solidFill>
                        </a:rPr>
                        <a:t>%</a:t>
                      </a:r>
                    </a:p>
                  </a:txBody>
                  <a:tcPr anchor="ctr">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2716429484"/>
                  </a:ext>
                </a:extLst>
              </a:tr>
              <a:tr h="180710">
                <a:tc>
                  <a:txBody>
                    <a:bodyPr/>
                    <a:lstStyle/>
                    <a:p>
                      <a:pPr algn="ctr">
                        <a:buNone/>
                      </a:pPr>
                      <a:r>
                        <a:rPr lang="en-US" sz="1050">
                          <a:solidFill>
                            <a:schemeClr val="tx1"/>
                          </a:solidFill>
                        </a:rPr>
                        <a:t>...</a:t>
                      </a:r>
                    </a:p>
                  </a:txBody>
                  <a:tcPr anchor="ctr">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a:buNone/>
                      </a:pPr>
                      <a:r>
                        <a:rPr lang="en-US" sz="1050">
                          <a:solidFill>
                            <a:schemeClr val="tx1"/>
                          </a:solidFill>
                        </a:rPr>
                        <a:t>...</a:t>
                      </a:r>
                    </a:p>
                  </a:txBody>
                  <a:tcPr anchor="ctr">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a:buNone/>
                      </a:pPr>
                      <a:r>
                        <a:rPr lang="en-US" sz="1050">
                          <a:solidFill>
                            <a:schemeClr val="tx1"/>
                          </a:solidFill>
                        </a:rPr>
                        <a:t>...</a:t>
                      </a:r>
                    </a:p>
                  </a:txBody>
                  <a:tcPr anchor="ctr">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a:buNone/>
                      </a:pPr>
                      <a:r>
                        <a:rPr lang="en-US" sz="1050">
                          <a:solidFill>
                            <a:schemeClr val="tx1"/>
                          </a:solidFill>
                        </a:rPr>
                        <a:t>...</a:t>
                      </a:r>
                    </a:p>
                  </a:txBody>
                  <a:tcPr anchor="ctr">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a:buNone/>
                      </a:pPr>
                      <a:r>
                        <a:rPr lang="en-US" sz="1050">
                          <a:solidFill>
                            <a:schemeClr val="tx1"/>
                          </a:solidFill>
                        </a:rPr>
                        <a:t>...</a:t>
                      </a:r>
                    </a:p>
                  </a:txBody>
                  <a:tcPr anchor="ctr">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a:buNone/>
                      </a:pPr>
                      <a:r>
                        <a:rPr lang="en-US" sz="1050">
                          <a:solidFill>
                            <a:schemeClr val="tx1"/>
                          </a:solidFill>
                        </a:rPr>
                        <a:t>...</a:t>
                      </a:r>
                    </a:p>
                  </a:txBody>
                  <a:tcPr anchor="ctr">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a:buNone/>
                      </a:pPr>
                      <a:r>
                        <a:rPr lang="en-US" sz="1050" dirty="0">
                          <a:solidFill>
                            <a:schemeClr val="tx1"/>
                          </a:solidFill>
                        </a:rPr>
                        <a:t>...</a:t>
                      </a:r>
                    </a:p>
                  </a:txBody>
                  <a:tcPr anchor="ctr">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ctr">
                        <a:buNone/>
                      </a:pPr>
                      <a:r>
                        <a:rPr lang="en-US" sz="1050" dirty="0">
                          <a:solidFill>
                            <a:schemeClr val="tx1"/>
                          </a:solidFill>
                        </a:rPr>
                        <a:t>...</a:t>
                      </a:r>
                    </a:p>
                  </a:txBody>
                  <a:tcPr anchor="ctr">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285550858"/>
                  </a:ext>
                </a:extLst>
              </a:tr>
            </a:tbl>
          </a:graphicData>
        </a:graphic>
      </p:graphicFrame>
      <p:pic>
        <p:nvPicPr>
          <p:cNvPr id="7" name="Picture 6" descr="A drawing of a table and chairs&#10;&#10;AI-generated content may be incorrect.">
            <a:extLst>
              <a:ext uri="{FF2B5EF4-FFF2-40B4-BE49-F238E27FC236}">
                <a16:creationId xmlns:a16="http://schemas.microsoft.com/office/drawing/2014/main" id="{782A796E-A769-7398-EDA0-8FFBC340886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6733" y="2199244"/>
            <a:ext cx="2247765" cy="2459511"/>
          </a:xfrm>
          <a:prstGeom prst="rect">
            <a:avLst/>
          </a:prstGeom>
        </p:spPr>
      </p:pic>
      <p:sp>
        <p:nvSpPr>
          <p:cNvPr id="9" name="TextBox 8">
            <a:extLst>
              <a:ext uri="{FF2B5EF4-FFF2-40B4-BE49-F238E27FC236}">
                <a16:creationId xmlns:a16="http://schemas.microsoft.com/office/drawing/2014/main" id="{ED2D2059-B741-07D2-F309-C8F7D3E76CED}"/>
              </a:ext>
            </a:extLst>
          </p:cNvPr>
          <p:cNvSpPr txBox="1"/>
          <p:nvPr/>
        </p:nvSpPr>
        <p:spPr>
          <a:xfrm>
            <a:off x="636733" y="4770978"/>
            <a:ext cx="6096000" cy="276999"/>
          </a:xfrm>
          <a:prstGeom prst="rect">
            <a:avLst/>
          </a:prstGeom>
          <a:noFill/>
        </p:spPr>
        <p:txBody>
          <a:bodyPr wrap="square">
            <a:spAutoFit/>
          </a:bodyPr>
          <a:lstStyle/>
          <a:p>
            <a:r>
              <a:rPr lang="en-US" sz="1200" dirty="0">
                <a:solidFill>
                  <a:srgbClr val="4892DC"/>
                </a:solidFill>
                <a:latin typeface="Arial"/>
                <a:ea typeface="+mn-ea"/>
                <a:cs typeface="Arial"/>
                <a:sym typeface="Arial"/>
              </a:rPr>
              <a:t>16 July (10 mins) </a:t>
            </a:r>
            <a:endParaRPr lang="nl-NL" sz="1200" dirty="0"/>
          </a:p>
        </p:txBody>
      </p:sp>
      <p:sp>
        <p:nvSpPr>
          <p:cNvPr id="3" name="Rectangle 2">
            <a:extLst>
              <a:ext uri="{FF2B5EF4-FFF2-40B4-BE49-F238E27FC236}">
                <a16:creationId xmlns:a16="http://schemas.microsoft.com/office/drawing/2014/main" id="{FE3686A0-6E51-A569-4ADE-860CA274E624}"/>
              </a:ext>
            </a:extLst>
          </p:cNvPr>
          <p:cNvSpPr/>
          <p:nvPr/>
        </p:nvSpPr>
        <p:spPr>
          <a:xfrm>
            <a:off x="1637329" y="2542239"/>
            <a:ext cx="123286" cy="106921"/>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 name="Rectangle 3">
            <a:extLst>
              <a:ext uri="{FF2B5EF4-FFF2-40B4-BE49-F238E27FC236}">
                <a16:creationId xmlns:a16="http://schemas.microsoft.com/office/drawing/2014/main" id="{B1AF4666-64A4-02F9-893E-4C7E20FB2AAD}"/>
              </a:ext>
            </a:extLst>
          </p:cNvPr>
          <p:cNvSpPr/>
          <p:nvPr/>
        </p:nvSpPr>
        <p:spPr>
          <a:xfrm rot="16200000">
            <a:off x="776557" y="3546952"/>
            <a:ext cx="123286" cy="106921"/>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8" name="Rectangle 7">
            <a:extLst>
              <a:ext uri="{FF2B5EF4-FFF2-40B4-BE49-F238E27FC236}">
                <a16:creationId xmlns:a16="http://schemas.microsoft.com/office/drawing/2014/main" id="{1050D1D4-D92E-32DD-E2CE-3B9A82EF3963}"/>
              </a:ext>
            </a:extLst>
          </p:cNvPr>
          <p:cNvSpPr/>
          <p:nvPr/>
        </p:nvSpPr>
        <p:spPr>
          <a:xfrm rot="5400000">
            <a:off x="2630100" y="3063277"/>
            <a:ext cx="123286" cy="106921"/>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1" name="TextBox 10">
            <a:extLst>
              <a:ext uri="{FF2B5EF4-FFF2-40B4-BE49-F238E27FC236}">
                <a16:creationId xmlns:a16="http://schemas.microsoft.com/office/drawing/2014/main" id="{C5DA73FE-7B9C-4224-1CDE-27BBC5D2BC74}"/>
              </a:ext>
            </a:extLst>
          </p:cNvPr>
          <p:cNvSpPr txBox="1"/>
          <p:nvPr/>
        </p:nvSpPr>
        <p:spPr>
          <a:xfrm>
            <a:off x="1037602" y="2945054"/>
            <a:ext cx="202446" cy="400110"/>
          </a:xfrm>
          <a:prstGeom prst="rect">
            <a:avLst/>
          </a:prstGeom>
          <a:noFill/>
        </p:spPr>
        <p:txBody>
          <a:bodyPr wrap="square" rtlCol="0">
            <a:spAutoFit/>
          </a:bodyPr>
          <a:lstStyle/>
          <a:p>
            <a:r>
              <a:rPr lang="nl-NL" sz="2000" b="1" dirty="0">
                <a:solidFill>
                  <a:schemeClr val="tx2">
                    <a:lumMod val="50000"/>
                    <a:lumOff val="50000"/>
                  </a:schemeClr>
                </a:solidFill>
              </a:rPr>
              <a:t>A</a:t>
            </a:r>
            <a:endParaRPr lang="nl-NL" sz="1100" b="1" dirty="0">
              <a:solidFill>
                <a:schemeClr val="tx2">
                  <a:lumMod val="50000"/>
                  <a:lumOff val="50000"/>
                </a:schemeClr>
              </a:solidFill>
            </a:endParaRPr>
          </a:p>
        </p:txBody>
      </p:sp>
      <p:sp>
        <p:nvSpPr>
          <p:cNvPr id="12" name="TextBox 11">
            <a:extLst>
              <a:ext uri="{FF2B5EF4-FFF2-40B4-BE49-F238E27FC236}">
                <a16:creationId xmlns:a16="http://schemas.microsoft.com/office/drawing/2014/main" id="{9668A073-E3F6-20C8-B71C-7C774A3347D6}"/>
              </a:ext>
            </a:extLst>
          </p:cNvPr>
          <p:cNvSpPr txBox="1"/>
          <p:nvPr/>
        </p:nvSpPr>
        <p:spPr>
          <a:xfrm>
            <a:off x="2006037" y="2945054"/>
            <a:ext cx="309914" cy="400110"/>
          </a:xfrm>
          <a:prstGeom prst="rect">
            <a:avLst/>
          </a:prstGeom>
          <a:noFill/>
        </p:spPr>
        <p:txBody>
          <a:bodyPr wrap="square" rtlCol="0">
            <a:spAutoFit/>
          </a:bodyPr>
          <a:lstStyle/>
          <a:p>
            <a:r>
              <a:rPr lang="nl-NL" sz="2000" b="1" dirty="0">
                <a:solidFill>
                  <a:schemeClr val="tx2">
                    <a:lumMod val="50000"/>
                    <a:lumOff val="50000"/>
                  </a:schemeClr>
                </a:solidFill>
              </a:rPr>
              <a:t>C</a:t>
            </a:r>
            <a:endParaRPr lang="nl-NL" sz="1100" b="1" dirty="0">
              <a:solidFill>
                <a:schemeClr val="tx2">
                  <a:lumMod val="50000"/>
                  <a:lumOff val="50000"/>
                </a:schemeClr>
              </a:solidFill>
            </a:endParaRPr>
          </a:p>
        </p:txBody>
      </p:sp>
      <p:sp>
        <p:nvSpPr>
          <p:cNvPr id="13" name="TextBox 12">
            <a:extLst>
              <a:ext uri="{FF2B5EF4-FFF2-40B4-BE49-F238E27FC236}">
                <a16:creationId xmlns:a16="http://schemas.microsoft.com/office/drawing/2014/main" id="{9B505A34-07F6-3A42-92EF-C846230867EB}"/>
              </a:ext>
            </a:extLst>
          </p:cNvPr>
          <p:cNvSpPr txBox="1"/>
          <p:nvPr/>
        </p:nvSpPr>
        <p:spPr>
          <a:xfrm>
            <a:off x="1037601" y="3947533"/>
            <a:ext cx="202446" cy="400110"/>
          </a:xfrm>
          <a:prstGeom prst="rect">
            <a:avLst/>
          </a:prstGeom>
          <a:noFill/>
        </p:spPr>
        <p:txBody>
          <a:bodyPr wrap="square" rtlCol="0">
            <a:spAutoFit/>
          </a:bodyPr>
          <a:lstStyle/>
          <a:p>
            <a:r>
              <a:rPr lang="nl-NL" sz="2000" b="1" dirty="0">
                <a:solidFill>
                  <a:schemeClr val="tx2">
                    <a:lumMod val="50000"/>
                    <a:lumOff val="50000"/>
                  </a:schemeClr>
                </a:solidFill>
              </a:rPr>
              <a:t>B</a:t>
            </a:r>
            <a:endParaRPr lang="nl-NL" sz="1100" b="1" dirty="0">
              <a:solidFill>
                <a:schemeClr val="tx2">
                  <a:lumMod val="50000"/>
                  <a:lumOff val="50000"/>
                </a:schemeClr>
              </a:solidFill>
            </a:endParaRPr>
          </a:p>
        </p:txBody>
      </p:sp>
      <p:sp>
        <p:nvSpPr>
          <p:cNvPr id="14" name="TextBox 13">
            <a:extLst>
              <a:ext uri="{FF2B5EF4-FFF2-40B4-BE49-F238E27FC236}">
                <a16:creationId xmlns:a16="http://schemas.microsoft.com/office/drawing/2014/main" id="{F77129F6-1F98-314D-3BF5-C8CE334E59A8}"/>
              </a:ext>
            </a:extLst>
          </p:cNvPr>
          <p:cNvSpPr txBox="1"/>
          <p:nvPr/>
        </p:nvSpPr>
        <p:spPr>
          <a:xfrm>
            <a:off x="2068734" y="3947532"/>
            <a:ext cx="202446" cy="400110"/>
          </a:xfrm>
          <a:prstGeom prst="rect">
            <a:avLst/>
          </a:prstGeom>
          <a:noFill/>
        </p:spPr>
        <p:txBody>
          <a:bodyPr wrap="square" rtlCol="0">
            <a:spAutoFit/>
          </a:bodyPr>
          <a:lstStyle/>
          <a:p>
            <a:r>
              <a:rPr lang="nl-NL" sz="2000" b="1" dirty="0">
                <a:solidFill>
                  <a:schemeClr val="tx2">
                    <a:lumMod val="50000"/>
                    <a:lumOff val="50000"/>
                  </a:schemeClr>
                </a:solidFill>
              </a:rPr>
              <a:t>D</a:t>
            </a:r>
            <a:endParaRPr lang="nl-NL" sz="1100" b="1" dirty="0">
              <a:solidFill>
                <a:schemeClr val="tx2">
                  <a:lumMod val="50000"/>
                  <a:lumOff val="50000"/>
                </a:schemeClr>
              </a:solidFill>
            </a:endParaRPr>
          </a:p>
        </p:txBody>
      </p:sp>
      <p:sp>
        <p:nvSpPr>
          <p:cNvPr id="16" name="Title 15">
            <a:extLst>
              <a:ext uri="{FF2B5EF4-FFF2-40B4-BE49-F238E27FC236}">
                <a16:creationId xmlns:a16="http://schemas.microsoft.com/office/drawing/2014/main" id="{A1ECC730-6B20-BE37-1163-5401E9F77364}"/>
              </a:ext>
            </a:extLst>
          </p:cNvPr>
          <p:cNvSpPr>
            <a:spLocks noGrp="1"/>
          </p:cNvSpPr>
          <p:nvPr>
            <p:ph type="title"/>
          </p:nvPr>
        </p:nvSpPr>
        <p:spPr/>
        <p:txBody>
          <a:bodyPr/>
          <a:lstStyle/>
          <a:p>
            <a:endParaRPr lang="it-IT" dirty="0"/>
          </a:p>
        </p:txBody>
      </p:sp>
      <p:sp>
        <p:nvSpPr>
          <p:cNvPr id="17" name="Google Shape;423;p21">
            <a:extLst>
              <a:ext uri="{FF2B5EF4-FFF2-40B4-BE49-F238E27FC236}">
                <a16:creationId xmlns:a16="http://schemas.microsoft.com/office/drawing/2014/main" id="{85CE1256-5DBD-CE04-8ECD-D0AFDF641FCA}"/>
              </a:ext>
            </a:extLst>
          </p:cNvPr>
          <p:cNvSpPr txBox="1"/>
          <p:nvPr/>
        </p:nvSpPr>
        <p:spPr>
          <a:xfrm>
            <a:off x="379614" y="487690"/>
            <a:ext cx="4060039" cy="424691"/>
          </a:xfrm>
          <a:prstGeom prst="rect">
            <a:avLst/>
          </a:prstGeom>
          <a:noFill/>
          <a:ln>
            <a:noFill/>
          </a:ln>
        </p:spPr>
        <p:txBody>
          <a:bodyPr spcFirstLastPara="1" wrap="square" lIns="91425" tIns="45700" rIns="91425" bIns="45700" anchor="t" anchorCtr="0">
            <a:spAutoFit/>
          </a:bodyPr>
          <a:lstStyle/>
          <a:p>
            <a:pPr lvl="0">
              <a:lnSpc>
                <a:spcPct val="90000"/>
              </a:lnSpc>
            </a:pPr>
            <a:r>
              <a:rPr lang="en-US" sz="2400" b="1" dirty="0">
                <a:solidFill>
                  <a:srgbClr val="4892DC"/>
                </a:solidFill>
                <a:latin typeface="Arial"/>
                <a:ea typeface="Arial"/>
                <a:cs typeface="Arial"/>
                <a:sym typeface="Arial"/>
              </a:rPr>
              <a:t>2</a:t>
            </a:r>
            <a:r>
              <a:rPr lang="en-US" sz="2400" b="1" i="0" u="none" strike="noStrike" cap="none" dirty="0">
                <a:solidFill>
                  <a:srgbClr val="4892DC"/>
                </a:solidFill>
                <a:latin typeface="Arial"/>
                <a:ea typeface="Arial"/>
                <a:cs typeface="Arial"/>
                <a:sym typeface="Arial"/>
              </a:rPr>
              <a:t>. </a:t>
            </a:r>
            <a:r>
              <a:rPr lang="en-US" sz="2400" b="1" dirty="0">
                <a:solidFill>
                  <a:srgbClr val="4892DC"/>
                </a:solidFill>
                <a:latin typeface="Arial"/>
                <a:ea typeface="Arial"/>
                <a:cs typeface="Arial"/>
                <a:sym typeface="Arial"/>
              </a:rPr>
              <a:t>PILOT </a:t>
            </a:r>
            <a:r>
              <a:rPr lang="en-US" sz="1400" dirty="0">
                <a:solidFill>
                  <a:srgbClr val="4892DC"/>
                </a:solidFill>
                <a:latin typeface="Arial"/>
                <a:ea typeface="Arial"/>
                <a:cs typeface="Arial"/>
                <a:sym typeface="Arial"/>
              </a:rPr>
              <a:t>TESTING [Workroom]</a:t>
            </a:r>
            <a:endParaRPr lang="en-US" u="none" strike="noStrike" cap="none" dirty="0">
              <a:solidFill>
                <a:srgbClr val="4892DC"/>
              </a:solidFill>
              <a:latin typeface="Arial"/>
              <a:ea typeface="Arial"/>
              <a:cs typeface="Arial"/>
              <a:sym typeface="Arial"/>
            </a:endParaRPr>
          </a:p>
        </p:txBody>
      </p:sp>
    </p:spTree>
    <p:extLst>
      <p:ext uri="{BB962C8B-B14F-4D97-AF65-F5344CB8AC3E}">
        <p14:creationId xmlns:p14="http://schemas.microsoft.com/office/powerpoint/2010/main" val="42586203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74">
          <a:extLst>
            <a:ext uri="{FF2B5EF4-FFF2-40B4-BE49-F238E27FC236}">
              <a16:creationId xmlns:a16="http://schemas.microsoft.com/office/drawing/2014/main" id="{9D38D0CB-4729-3B32-8C4C-B81B6D7CA046}"/>
            </a:ext>
          </a:extLst>
        </p:cNvPr>
        <p:cNvGrpSpPr/>
        <p:nvPr/>
      </p:nvGrpSpPr>
      <p:grpSpPr>
        <a:xfrm>
          <a:off x="0" y="0"/>
          <a:ext cx="0" cy="0"/>
          <a:chOff x="0" y="0"/>
          <a:chExt cx="0" cy="0"/>
        </a:xfrm>
      </p:grpSpPr>
      <p:pic>
        <p:nvPicPr>
          <p:cNvPr id="12" name="Picture 11">
            <a:extLst>
              <a:ext uri="{FF2B5EF4-FFF2-40B4-BE49-F238E27FC236}">
                <a16:creationId xmlns:a16="http://schemas.microsoft.com/office/drawing/2014/main" id="{7B7CE2A9-E1C1-3E6D-94D0-89E27F54DF39}"/>
              </a:ext>
            </a:extLst>
          </p:cNvPr>
          <p:cNvPicPr>
            <a:picLocks noChangeAspect="1"/>
          </p:cNvPicPr>
          <p:nvPr/>
        </p:nvPicPr>
        <p:blipFill>
          <a:blip r:embed="rId3">
            <a:extLst>
              <a:ext uri="{28A0092B-C50C-407E-A947-70E740481C1C}">
                <a14:useLocalDpi xmlns:a14="http://schemas.microsoft.com/office/drawing/2010/main" val="0"/>
              </a:ext>
            </a:extLst>
          </a:blip>
          <a:srcRect t="3550" b="3550"/>
          <a:stretch/>
        </p:blipFill>
        <p:spPr>
          <a:xfrm>
            <a:off x="4859312" y="425840"/>
            <a:ext cx="6841608" cy="5320305"/>
          </a:xfrm>
          <a:prstGeom prst="rect">
            <a:avLst/>
          </a:prstGeom>
        </p:spPr>
      </p:pic>
      <p:pic>
        <p:nvPicPr>
          <p:cNvPr id="31" name="Picture 30" descr="A desk with computers and a computer&#10;&#10;AI-generated content may be incorrect.">
            <a:extLst>
              <a:ext uri="{FF2B5EF4-FFF2-40B4-BE49-F238E27FC236}">
                <a16:creationId xmlns:a16="http://schemas.microsoft.com/office/drawing/2014/main" id="{F639A3C0-217F-132E-8688-94660F6C844C}"/>
              </a:ext>
            </a:extLst>
          </p:cNvPr>
          <p:cNvPicPr>
            <a:picLocks noChangeAspect="1"/>
          </p:cNvPicPr>
          <p:nvPr/>
        </p:nvPicPr>
        <p:blipFill>
          <a:blip r:embed="rId4">
            <a:extLst>
              <a:ext uri="{28A0092B-C50C-407E-A947-70E740481C1C}">
                <a14:useLocalDpi xmlns:a14="http://schemas.microsoft.com/office/drawing/2010/main" val="0"/>
              </a:ext>
            </a:extLst>
          </a:blip>
          <a:srcRect l="30438" t="66411" r="19526" b="4868"/>
          <a:stretch>
            <a:fillRect/>
          </a:stretch>
        </p:blipFill>
        <p:spPr>
          <a:xfrm>
            <a:off x="5178127" y="4815028"/>
            <a:ext cx="2085235" cy="897690"/>
          </a:xfrm>
          <a:prstGeom prst="rect">
            <a:avLst/>
          </a:prstGeom>
        </p:spPr>
      </p:pic>
      <p:sp>
        <p:nvSpPr>
          <p:cNvPr id="46" name="Google Shape;423;p21">
            <a:extLst>
              <a:ext uri="{FF2B5EF4-FFF2-40B4-BE49-F238E27FC236}">
                <a16:creationId xmlns:a16="http://schemas.microsoft.com/office/drawing/2014/main" id="{FB92D6B1-56B4-AABF-F718-6A84569A84ED}"/>
              </a:ext>
            </a:extLst>
          </p:cNvPr>
          <p:cNvSpPr txBox="1"/>
          <p:nvPr/>
        </p:nvSpPr>
        <p:spPr>
          <a:xfrm>
            <a:off x="1608997" y="3948640"/>
            <a:ext cx="3899600" cy="424691"/>
          </a:xfrm>
          <a:prstGeom prst="rect">
            <a:avLst/>
          </a:prstGeom>
          <a:solidFill>
            <a:schemeClr val="bg1"/>
          </a:solidFill>
          <a:ln>
            <a:noFill/>
          </a:ln>
        </p:spPr>
        <p:txBody>
          <a:bodyPr spcFirstLastPara="1" wrap="square" lIns="91425" tIns="45700" rIns="91425" bIns="45700" anchor="t" anchorCtr="0">
            <a:spAutoFit/>
          </a:bodyPr>
          <a:lstStyle/>
          <a:p>
            <a:pPr lvl="0">
              <a:lnSpc>
                <a:spcPct val="90000"/>
              </a:lnSpc>
            </a:pPr>
            <a:r>
              <a:rPr lang="en-US" sz="2400" b="1" i="0" u="none" strike="noStrike" cap="none" dirty="0">
                <a:solidFill>
                  <a:srgbClr val="4892DC"/>
                </a:solidFill>
                <a:latin typeface="Arial"/>
                <a:ea typeface="Arial"/>
                <a:cs typeface="Arial"/>
                <a:sym typeface="Arial"/>
              </a:rPr>
              <a:t>3. CASE STUDY</a:t>
            </a:r>
            <a:r>
              <a:rPr lang="en-US" sz="2400" b="1" dirty="0">
                <a:solidFill>
                  <a:srgbClr val="4892DC"/>
                </a:solidFill>
                <a:latin typeface="Arial"/>
                <a:ea typeface="Arial"/>
                <a:cs typeface="Arial"/>
                <a:sym typeface="Arial"/>
              </a:rPr>
              <a:t> </a:t>
            </a:r>
            <a:r>
              <a:rPr lang="en-US" sz="1400" dirty="0">
                <a:solidFill>
                  <a:srgbClr val="4892DC"/>
                </a:solidFill>
                <a:latin typeface="Arial"/>
                <a:ea typeface="Arial"/>
                <a:cs typeface="Arial"/>
                <a:sym typeface="Arial"/>
              </a:rPr>
              <a:t>Workroom</a:t>
            </a:r>
            <a:endParaRPr lang="en-US" u="none" strike="noStrike" cap="none" dirty="0">
              <a:solidFill>
                <a:srgbClr val="4892DC"/>
              </a:solidFill>
              <a:latin typeface="Arial"/>
              <a:ea typeface="Arial"/>
              <a:cs typeface="Arial"/>
              <a:sym typeface="Arial"/>
            </a:endParaRPr>
          </a:p>
        </p:txBody>
      </p:sp>
      <p:sp>
        <p:nvSpPr>
          <p:cNvPr id="53" name="Rectangle 3">
            <a:extLst>
              <a:ext uri="{FF2B5EF4-FFF2-40B4-BE49-F238E27FC236}">
                <a16:creationId xmlns:a16="http://schemas.microsoft.com/office/drawing/2014/main" id="{AC7875FD-C3DD-CFF0-0E91-515A33645770}"/>
              </a:ext>
            </a:extLst>
          </p:cNvPr>
          <p:cNvSpPr>
            <a:spLocks noChangeArrowheads="1"/>
          </p:cNvSpPr>
          <p:nvPr/>
        </p:nvSpPr>
        <p:spPr bwMode="auto">
          <a:xfrm>
            <a:off x="877129" y="636834"/>
            <a:ext cx="3408588"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r>
              <a:rPr lang="it-IT" sz="1200" dirty="0">
                <a:solidFill>
                  <a:schemeClr val="tx2">
                    <a:lumMod val="50000"/>
                    <a:lumOff val="50000"/>
                  </a:schemeClr>
                </a:solidFill>
              </a:rPr>
              <a:t>To replicate a </a:t>
            </a:r>
            <a:r>
              <a:rPr lang="it-IT" sz="1200" dirty="0" err="1">
                <a:solidFill>
                  <a:schemeClr val="tx2">
                    <a:lumMod val="50000"/>
                    <a:lumOff val="50000"/>
                  </a:schemeClr>
                </a:solidFill>
              </a:rPr>
              <a:t>sensor</a:t>
            </a:r>
            <a:r>
              <a:rPr lang="it-IT" sz="1200" dirty="0">
                <a:solidFill>
                  <a:schemeClr val="tx2">
                    <a:lumMod val="50000"/>
                    <a:lumOff val="50000"/>
                  </a:schemeClr>
                </a:solidFill>
              </a:rPr>
              <a:t>-fusion workflow for </a:t>
            </a:r>
            <a:r>
              <a:rPr lang="it-IT" sz="1200" dirty="0" err="1">
                <a:solidFill>
                  <a:schemeClr val="tx2">
                    <a:lumMod val="50000"/>
                    <a:lumOff val="50000"/>
                  </a:schemeClr>
                </a:solidFill>
              </a:rPr>
              <a:t>estimating</a:t>
            </a:r>
            <a:r>
              <a:rPr lang="it-IT" sz="1200" dirty="0">
                <a:solidFill>
                  <a:schemeClr val="tx2">
                    <a:lumMod val="50000"/>
                    <a:lumOff val="50000"/>
                  </a:schemeClr>
                </a:solidFill>
              </a:rPr>
              <a:t> room </a:t>
            </a:r>
            <a:r>
              <a:rPr lang="it-IT" sz="1200" dirty="0" err="1">
                <a:solidFill>
                  <a:schemeClr val="tx2">
                    <a:lumMod val="50000"/>
                    <a:lumOff val="50000"/>
                  </a:schemeClr>
                </a:solidFill>
              </a:rPr>
              <a:t>occupancy</a:t>
            </a:r>
            <a:r>
              <a:rPr lang="it-IT" sz="1200" dirty="0">
                <a:solidFill>
                  <a:schemeClr val="tx2">
                    <a:lumMod val="50000"/>
                    <a:lumOff val="50000"/>
                  </a:schemeClr>
                </a:solidFill>
              </a:rPr>
              <a:t> </a:t>
            </a:r>
            <a:r>
              <a:rPr lang="it-IT" sz="1200" dirty="0" err="1">
                <a:solidFill>
                  <a:schemeClr val="tx2">
                    <a:lumMod val="50000"/>
                    <a:lumOff val="50000"/>
                  </a:schemeClr>
                </a:solidFill>
              </a:rPr>
              <a:t>using</a:t>
            </a:r>
            <a:r>
              <a:rPr lang="it-IT" sz="1200" dirty="0">
                <a:solidFill>
                  <a:schemeClr val="tx2">
                    <a:lumMod val="50000"/>
                    <a:lumOff val="50000"/>
                  </a:schemeClr>
                </a:solidFill>
              </a:rPr>
              <a:t> </a:t>
            </a:r>
            <a:r>
              <a:rPr lang="it-IT" sz="1200" dirty="0" err="1">
                <a:solidFill>
                  <a:schemeClr val="tx2">
                    <a:lumMod val="50000"/>
                    <a:lumOff val="50000"/>
                  </a:schemeClr>
                </a:solidFill>
              </a:rPr>
              <a:t>environmental</a:t>
            </a:r>
            <a:r>
              <a:rPr lang="it-IT" sz="1200" dirty="0">
                <a:solidFill>
                  <a:schemeClr val="tx2">
                    <a:lumMod val="50000"/>
                    <a:lumOff val="50000"/>
                  </a:schemeClr>
                </a:solidFill>
              </a:rPr>
              <a:t> and desk-</a:t>
            </a:r>
            <a:r>
              <a:rPr lang="it-IT" sz="1200" dirty="0" err="1">
                <a:solidFill>
                  <a:schemeClr val="tx2">
                    <a:lumMod val="50000"/>
                    <a:lumOff val="50000"/>
                  </a:schemeClr>
                </a:solidFill>
              </a:rPr>
              <a:t>level</a:t>
            </a:r>
            <a:r>
              <a:rPr lang="it-IT" sz="1200" dirty="0">
                <a:solidFill>
                  <a:schemeClr val="tx2">
                    <a:lumMod val="50000"/>
                    <a:lumOff val="50000"/>
                  </a:schemeClr>
                </a:solidFill>
              </a:rPr>
              <a:t> </a:t>
            </a:r>
            <a:r>
              <a:rPr lang="it-IT" sz="1200" dirty="0" err="1">
                <a:solidFill>
                  <a:schemeClr val="tx2">
                    <a:lumMod val="50000"/>
                    <a:lumOff val="50000"/>
                  </a:schemeClr>
                </a:solidFill>
              </a:rPr>
              <a:t>sensor</a:t>
            </a:r>
            <a:r>
              <a:rPr lang="it-IT" sz="1200" dirty="0">
                <a:solidFill>
                  <a:schemeClr val="tx2">
                    <a:lumMod val="50000"/>
                    <a:lumOff val="50000"/>
                  </a:schemeClr>
                </a:solidFill>
              </a:rPr>
              <a:t> data </a:t>
            </a:r>
            <a:r>
              <a:rPr lang="it-IT" sz="1200" dirty="0" err="1">
                <a:solidFill>
                  <a:schemeClr val="tx2">
                    <a:lumMod val="50000"/>
                    <a:lumOff val="50000"/>
                  </a:schemeClr>
                </a:solidFill>
              </a:rPr>
              <a:t>collected</a:t>
            </a:r>
            <a:r>
              <a:rPr lang="it-IT" sz="1200" dirty="0">
                <a:solidFill>
                  <a:schemeClr val="tx2">
                    <a:lumMod val="50000"/>
                    <a:lumOff val="50000"/>
                  </a:schemeClr>
                </a:solidFill>
              </a:rPr>
              <a:t> in a </a:t>
            </a:r>
            <a:r>
              <a:rPr lang="it-IT" sz="1200" dirty="0" err="1">
                <a:solidFill>
                  <a:schemeClr val="tx2">
                    <a:lumMod val="50000"/>
                    <a:lumOff val="50000"/>
                  </a:schemeClr>
                </a:solidFill>
              </a:rPr>
              <a:t>real</a:t>
            </a:r>
            <a:r>
              <a:rPr lang="it-IT" sz="1200" dirty="0">
                <a:solidFill>
                  <a:schemeClr val="tx2">
                    <a:lumMod val="50000"/>
                    <a:lumOff val="50000"/>
                  </a:schemeClr>
                </a:solidFill>
              </a:rPr>
              <a:t> office </a:t>
            </a:r>
            <a:r>
              <a:rPr lang="it-IT" sz="1200" dirty="0" err="1">
                <a:solidFill>
                  <a:schemeClr val="tx2">
                    <a:lumMod val="50000"/>
                    <a:lumOff val="50000"/>
                  </a:schemeClr>
                </a:solidFill>
              </a:rPr>
              <a:t>environment</a:t>
            </a:r>
            <a:r>
              <a:rPr lang="it-IT" sz="1200" dirty="0">
                <a:solidFill>
                  <a:schemeClr val="tx2">
                    <a:lumMod val="50000"/>
                    <a:lumOff val="50000"/>
                  </a:schemeClr>
                </a:solidFill>
              </a:rPr>
              <a:t>, the </a:t>
            </a:r>
            <a:r>
              <a:rPr lang="it-IT" sz="1200" dirty="0" err="1">
                <a:solidFill>
                  <a:schemeClr val="tx2">
                    <a:lumMod val="50000"/>
                    <a:lumOff val="50000"/>
                  </a:schemeClr>
                </a:solidFill>
              </a:rPr>
              <a:t>workroom</a:t>
            </a:r>
            <a:r>
              <a:rPr lang="it-IT" sz="1200" dirty="0">
                <a:solidFill>
                  <a:schemeClr val="tx2">
                    <a:lumMod val="50000"/>
                    <a:lumOff val="50000"/>
                  </a:schemeClr>
                </a:solidFill>
              </a:rPr>
              <a:t>. </a:t>
            </a:r>
          </a:p>
          <a:p>
            <a:pPr algn="just"/>
            <a:endParaRPr lang="it-IT" sz="1200" dirty="0">
              <a:solidFill>
                <a:schemeClr val="tx2">
                  <a:lumMod val="50000"/>
                  <a:lumOff val="50000"/>
                </a:schemeClr>
              </a:solidFill>
            </a:endParaRPr>
          </a:p>
          <a:p>
            <a:pPr algn="just"/>
            <a:r>
              <a:rPr lang="it-IT" sz="1200" dirty="0">
                <a:solidFill>
                  <a:schemeClr val="tx2">
                    <a:lumMod val="50000"/>
                    <a:lumOff val="50000"/>
                  </a:schemeClr>
                </a:solidFill>
              </a:rPr>
              <a:t>The goal </a:t>
            </a:r>
            <a:r>
              <a:rPr lang="it-IT" sz="1200" dirty="0" err="1">
                <a:solidFill>
                  <a:schemeClr val="tx2">
                    <a:lumMod val="50000"/>
                    <a:lumOff val="50000"/>
                  </a:schemeClr>
                </a:solidFill>
              </a:rPr>
              <a:t>is</a:t>
            </a:r>
            <a:r>
              <a:rPr lang="it-IT" sz="1200" dirty="0">
                <a:solidFill>
                  <a:schemeClr val="tx2">
                    <a:lumMod val="50000"/>
                    <a:lumOff val="50000"/>
                  </a:schemeClr>
                </a:solidFill>
              </a:rPr>
              <a:t> to </a:t>
            </a:r>
            <a:r>
              <a:rPr lang="it-IT" sz="1200" dirty="0" err="1">
                <a:solidFill>
                  <a:schemeClr val="tx2">
                    <a:lumMod val="50000"/>
                    <a:lumOff val="50000"/>
                  </a:schemeClr>
                </a:solidFill>
              </a:rPr>
              <a:t>process</a:t>
            </a:r>
            <a:r>
              <a:rPr lang="it-IT" sz="1200" dirty="0">
                <a:solidFill>
                  <a:schemeClr val="tx2">
                    <a:lumMod val="50000"/>
                    <a:lumOff val="50000"/>
                  </a:schemeClr>
                </a:solidFill>
              </a:rPr>
              <a:t> </a:t>
            </a:r>
            <a:r>
              <a:rPr lang="it-IT" sz="1200" dirty="0" err="1">
                <a:solidFill>
                  <a:schemeClr val="tx2">
                    <a:lumMod val="50000"/>
                    <a:lumOff val="50000"/>
                  </a:schemeClr>
                </a:solidFill>
              </a:rPr>
              <a:t>raw</a:t>
            </a:r>
            <a:r>
              <a:rPr lang="it-IT" sz="1200" dirty="0">
                <a:solidFill>
                  <a:schemeClr val="tx2">
                    <a:lumMod val="50000"/>
                    <a:lumOff val="50000"/>
                  </a:schemeClr>
                </a:solidFill>
              </a:rPr>
              <a:t> time-</a:t>
            </a:r>
            <a:r>
              <a:rPr lang="it-IT" sz="1200" dirty="0" err="1">
                <a:solidFill>
                  <a:schemeClr val="tx2">
                    <a:lumMod val="50000"/>
                    <a:lumOff val="50000"/>
                  </a:schemeClr>
                </a:solidFill>
              </a:rPr>
              <a:t>series</a:t>
            </a:r>
            <a:r>
              <a:rPr lang="it-IT" sz="1200" dirty="0">
                <a:solidFill>
                  <a:schemeClr val="tx2">
                    <a:lumMod val="50000"/>
                    <a:lumOff val="50000"/>
                  </a:schemeClr>
                </a:solidFill>
              </a:rPr>
              <a:t> data, </a:t>
            </a:r>
            <a:r>
              <a:rPr lang="it-IT" sz="1200" dirty="0" err="1">
                <a:solidFill>
                  <a:schemeClr val="tx2">
                    <a:lumMod val="50000"/>
                    <a:lumOff val="50000"/>
                  </a:schemeClr>
                </a:solidFill>
              </a:rPr>
              <a:t>align</a:t>
            </a:r>
            <a:r>
              <a:rPr lang="it-IT" sz="1200" dirty="0">
                <a:solidFill>
                  <a:schemeClr val="tx2">
                    <a:lumMod val="50000"/>
                    <a:lumOff val="50000"/>
                  </a:schemeClr>
                </a:solidFill>
              </a:rPr>
              <a:t> </a:t>
            </a:r>
            <a:r>
              <a:rPr lang="it-IT" sz="1200" dirty="0" err="1">
                <a:solidFill>
                  <a:schemeClr val="tx2">
                    <a:lumMod val="50000"/>
                    <a:lumOff val="50000"/>
                  </a:schemeClr>
                </a:solidFill>
              </a:rPr>
              <a:t>it</a:t>
            </a:r>
            <a:r>
              <a:rPr lang="it-IT" sz="1200" dirty="0">
                <a:solidFill>
                  <a:schemeClr val="tx2">
                    <a:lumMod val="50000"/>
                    <a:lumOff val="50000"/>
                  </a:schemeClr>
                </a:solidFill>
              </a:rPr>
              <a:t> with </a:t>
            </a:r>
            <a:r>
              <a:rPr lang="it-IT" sz="1200" dirty="0" err="1">
                <a:solidFill>
                  <a:schemeClr val="tx2">
                    <a:lumMod val="50000"/>
                    <a:lumOff val="50000"/>
                  </a:schemeClr>
                </a:solidFill>
              </a:rPr>
              <a:t>manually</a:t>
            </a:r>
            <a:r>
              <a:rPr lang="it-IT" sz="1200" dirty="0">
                <a:solidFill>
                  <a:schemeClr val="tx2">
                    <a:lumMod val="50000"/>
                    <a:lumOff val="50000"/>
                  </a:schemeClr>
                </a:solidFill>
              </a:rPr>
              <a:t> </a:t>
            </a:r>
            <a:r>
              <a:rPr lang="it-IT" sz="1200" dirty="0" err="1">
                <a:solidFill>
                  <a:schemeClr val="tx2">
                    <a:lumMod val="50000"/>
                    <a:lumOff val="50000"/>
                  </a:schemeClr>
                </a:solidFill>
              </a:rPr>
              <a:t>reported</a:t>
            </a:r>
            <a:r>
              <a:rPr lang="it-IT" sz="1200" dirty="0">
                <a:solidFill>
                  <a:schemeClr val="tx2">
                    <a:lumMod val="50000"/>
                    <a:lumOff val="50000"/>
                  </a:schemeClr>
                </a:solidFill>
              </a:rPr>
              <a:t> </a:t>
            </a:r>
            <a:r>
              <a:rPr lang="it-IT" sz="1200" dirty="0" err="1">
                <a:solidFill>
                  <a:schemeClr val="tx2">
                    <a:lumMod val="50000"/>
                    <a:lumOff val="50000"/>
                  </a:schemeClr>
                </a:solidFill>
              </a:rPr>
              <a:t>occupancy</a:t>
            </a:r>
            <a:r>
              <a:rPr lang="it-IT" sz="1200" dirty="0">
                <a:solidFill>
                  <a:schemeClr val="tx2">
                    <a:lumMod val="50000"/>
                    <a:lumOff val="50000"/>
                  </a:schemeClr>
                </a:solidFill>
              </a:rPr>
              <a:t> </a:t>
            </a:r>
            <a:r>
              <a:rPr lang="it-IT" sz="1200" dirty="0" err="1">
                <a:solidFill>
                  <a:schemeClr val="tx2">
                    <a:lumMod val="50000"/>
                    <a:lumOff val="50000"/>
                  </a:schemeClr>
                </a:solidFill>
              </a:rPr>
              <a:t>counts</a:t>
            </a:r>
            <a:r>
              <a:rPr lang="it-IT" sz="1200" dirty="0">
                <a:solidFill>
                  <a:schemeClr val="tx2">
                    <a:lumMod val="50000"/>
                    <a:lumOff val="50000"/>
                  </a:schemeClr>
                </a:solidFill>
              </a:rPr>
              <a:t> (</a:t>
            </a:r>
            <a:r>
              <a:rPr lang="it-IT" sz="1200" b="1" dirty="0" err="1">
                <a:solidFill>
                  <a:schemeClr val="tx2">
                    <a:lumMod val="50000"/>
                    <a:lumOff val="50000"/>
                  </a:schemeClr>
                </a:solidFill>
              </a:rPr>
              <a:t>below</a:t>
            </a:r>
            <a:r>
              <a:rPr lang="it-IT" sz="1200" b="1" dirty="0">
                <a:solidFill>
                  <a:schemeClr val="tx2">
                    <a:lumMod val="50000"/>
                    <a:lumOff val="50000"/>
                  </a:schemeClr>
                </a:solidFill>
              </a:rPr>
              <a:t> survey</a:t>
            </a:r>
            <a:r>
              <a:rPr lang="it-IT" sz="1200" dirty="0">
                <a:solidFill>
                  <a:schemeClr val="tx2">
                    <a:lumMod val="50000"/>
                    <a:lumOff val="50000"/>
                  </a:schemeClr>
                </a:solidFill>
              </a:rPr>
              <a:t>), </a:t>
            </a:r>
            <a:r>
              <a:rPr lang="it-IT" sz="1200" dirty="0" err="1">
                <a:solidFill>
                  <a:schemeClr val="tx2">
                    <a:lumMod val="50000"/>
                    <a:lumOff val="50000"/>
                  </a:schemeClr>
                </a:solidFill>
              </a:rPr>
              <a:t>engineer</a:t>
            </a:r>
            <a:r>
              <a:rPr lang="it-IT" sz="1200" dirty="0">
                <a:solidFill>
                  <a:schemeClr val="tx2">
                    <a:lumMod val="50000"/>
                    <a:lumOff val="50000"/>
                  </a:schemeClr>
                </a:solidFill>
              </a:rPr>
              <a:t> </a:t>
            </a:r>
            <a:r>
              <a:rPr lang="it-IT" sz="1200" dirty="0" err="1">
                <a:solidFill>
                  <a:schemeClr val="tx2">
                    <a:lumMod val="50000"/>
                    <a:lumOff val="50000"/>
                  </a:schemeClr>
                </a:solidFill>
              </a:rPr>
              <a:t>meaningful</a:t>
            </a:r>
            <a:r>
              <a:rPr lang="it-IT" sz="1200" dirty="0">
                <a:solidFill>
                  <a:schemeClr val="tx2">
                    <a:lumMod val="50000"/>
                    <a:lumOff val="50000"/>
                  </a:schemeClr>
                </a:solidFill>
              </a:rPr>
              <a:t> features, and </a:t>
            </a:r>
            <a:r>
              <a:rPr lang="it-IT" sz="1200" dirty="0" err="1">
                <a:solidFill>
                  <a:schemeClr val="tx2">
                    <a:lumMod val="50000"/>
                    <a:lumOff val="50000"/>
                  </a:schemeClr>
                </a:solidFill>
              </a:rPr>
              <a:t>train</a:t>
            </a:r>
            <a:r>
              <a:rPr lang="it-IT" sz="1200" dirty="0">
                <a:solidFill>
                  <a:schemeClr val="tx2">
                    <a:lumMod val="50000"/>
                    <a:lumOff val="50000"/>
                  </a:schemeClr>
                </a:solidFill>
              </a:rPr>
              <a:t> machine-learning models to </a:t>
            </a:r>
            <a:r>
              <a:rPr lang="it-IT" sz="1200" dirty="0" err="1">
                <a:solidFill>
                  <a:schemeClr val="tx2">
                    <a:lumMod val="50000"/>
                    <a:lumOff val="50000"/>
                  </a:schemeClr>
                </a:solidFill>
              </a:rPr>
              <a:t>predict</a:t>
            </a:r>
            <a:r>
              <a:rPr lang="it-IT" sz="1200" dirty="0">
                <a:solidFill>
                  <a:schemeClr val="tx2">
                    <a:lumMod val="50000"/>
                    <a:lumOff val="50000"/>
                  </a:schemeClr>
                </a:solidFill>
              </a:rPr>
              <a:t> </a:t>
            </a:r>
            <a:r>
              <a:rPr lang="it-IT" sz="1200" dirty="0" err="1">
                <a:solidFill>
                  <a:schemeClr val="tx2">
                    <a:lumMod val="50000"/>
                    <a:lumOff val="50000"/>
                  </a:schemeClr>
                </a:solidFill>
              </a:rPr>
              <a:t>how</a:t>
            </a:r>
            <a:r>
              <a:rPr lang="it-IT" sz="1200" dirty="0">
                <a:solidFill>
                  <a:schemeClr val="tx2">
                    <a:lumMod val="50000"/>
                    <a:lumOff val="50000"/>
                  </a:schemeClr>
                </a:solidFill>
              </a:rPr>
              <a:t> </a:t>
            </a:r>
            <a:r>
              <a:rPr lang="it-IT" sz="1200" dirty="0" err="1">
                <a:solidFill>
                  <a:schemeClr val="tx2">
                    <a:lumMod val="50000"/>
                    <a:lumOff val="50000"/>
                  </a:schemeClr>
                </a:solidFill>
              </a:rPr>
              <a:t>many</a:t>
            </a:r>
            <a:r>
              <a:rPr lang="it-IT" sz="1200" dirty="0">
                <a:solidFill>
                  <a:schemeClr val="tx2">
                    <a:lumMod val="50000"/>
                    <a:lumOff val="50000"/>
                  </a:schemeClr>
                </a:solidFill>
              </a:rPr>
              <a:t> people </a:t>
            </a:r>
            <a:r>
              <a:rPr lang="it-IT" sz="1200" dirty="0" err="1">
                <a:solidFill>
                  <a:schemeClr val="tx2">
                    <a:lumMod val="50000"/>
                    <a:lumOff val="50000"/>
                  </a:schemeClr>
                </a:solidFill>
              </a:rPr>
              <a:t>were</a:t>
            </a:r>
            <a:r>
              <a:rPr lang="it-IT" sz="1200" dirty="0">
                <a:solidFill>
                  <a:schemeClr val="tx2">
                    <a:lumMod val="50000"/>
                    <a:lumOff val="50000"/>
                  </a:schemeClr>
                </a:solidFill>
              </a:rPr>
              <a:t> </a:t>
            </a:r>
            <a:r>
              <a:rPr lang="it-IT" sz="1200" dirty="0" err="1">
                <a:solidFill>
                  <a:schemeClr val="tx2">
                    <a:lumMod val="50000"/>
                    <a:lumOff val="50000"/>
                  </a:schemeClr>
                </a:solidFill>
              </a:rPr>
              <a:t>present</a:t>
            </a:r>
            <a:r>
              <a:rPr lang="it-IT" sz="1200" dirty="0">
                <a:solidFill>
                  <a:schemeClr val="tx2">
                    <a:lumMod val="50000"/>
                    <a:lumOff val="50000"/>
                  </a:schemeClr>
                </a:solidFill>
              </a:rPr>
              <a:t> in the room.</a:t>
            </a:r>
          </a:p>
        </p:txBody>
      </p:sp>
    </p:spTree>
    <p:extLst>
      <p:ext uri="{BB962C8B-B14F-4D97-AF65-F5344CB8AC3E}">
        <p14:creationId xmlns:p14="http://schemas.microsoft.com/office/powerpoint/2010/main" val="15522167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74">
          <a:extLst>
            <a:ext uri="{FF2B5EF4-FFF2-40B4-BE49-F238E27FC236}">
              <a16:creationId xmlns:a16="http://schemas.microsoft.com/office/drawing/2014/main" id="{2E8A745C-0C4D-9368-3218-A5EB857C8409}"/>
            </a:ext>
          </a:extLst>
        </p:cNvPr>
        <p:cNvGrpSpPr/>
        <p:nvPr/>
      </p:nvGrpSpPr>
      <p:grpSpPr>
        <a:xfrm>
          <a:off x="0" y="0"/>
          <a:ext cx="0" cy="0"/>
          <a:chOff x="0" y="0"/>
          <a:chExt cx="0" cy="0"/>
        </a:xfrm>
      </p:grpSpPr>
      <p:sp>
        <p:nvSpPr>
          <p:cNvPr id="45" name="Google Shape;423;p21">
            <a:extLst>
              <a:ext uri="{FF2B5EF4-FFF2-40B4-BE49-F238E27FC236}">
                <a16:creationId xmlns:a16="http://schemas.microsoft.com/office/drawing/2014/main" id="{4D804E0C-5B8D-E321-C9DA-618EE567C027}"/>
              </a:ext>
            </a:extLst>
          </p:cNvPr>
          <p:cNvSpPr txBox="1"/>
          <p:nvPr/>
        </p:nvSpPr>
        <p:spPr>
          <a:xfrm>
            <a:off x="383834" y="367154"/>
            <a:ext cx="3104967" cy="618591"/>
          </a:xfrm>
          <a:prstGeom prst="rect">
            <a:avLst/>
          </a:prstGeom>
          <a:solidFill>
            <a:schemeClr val="bg1"/>
          </a:solidFill>
          <a:ln>
            <a:noFill/>
          </a:ln>
        </p:spPr>
        <p:txBody>
          <a:bodyPr spcFirstLastPara="1" wrap="square" lIns="91425" tIns="45700" rIns="91425" bIns="45700" anchor="t" anchorCtr="0">
            <a:spAutoFit/>
          </a:bodyPr>
          <a:lstStyle/>
          <a:p>
            <a:pPr lvl="0">
              <a:lnSpc>
                <a:spcPct val="90000"/>
              </a:lnSpc>
            </a:pPr>
            <a:r>
              <a:rPr lang="en-US" sz="2400" b="1" dirty="0">
                <a:solidFill>
                  <a:srgbClr val="4892DC"/>
                </a:solidFill>
                <a:latin typeface="Arial"/>
                <a:ea typeface="Arial"/>
                <a:cs typeface="Arial"/>
                <a:sym typeface="Arial"/>
              </a:rPr>
              <a:t>3</a:t>
            </a:r>
            <a:r>
              <a:rPr lang="en-US" sz="2400" b="1" i="0" u="none" strike="noStrike" cap="none" dirty="0">
                <a:solidFill>
                  <a:srgbClr val="4892DC"/>
                </a:solidFill>
                <a:latin typeface="Arial"/>
                <a:ea typeface="Arial"/>
                <a:cs typeface="Arial"/>
                <a:sym typeface="Arial"/>
              </a:rPr>
              <a:t>. CASE STUDY</a:t>
            </a:r>
            <a:r>
              <a:rPr lang="en-US" sz="2400" b="1" dirty="0">
                <a:solidFill>
                  <a:srgbClr val="4892DC"/>
                </a:solidFill>
                <a:latin typeface="Arial"/>
                <a:ea typeface="Arial"/>
                <a:cs typeface="Arial"/>
                <a:sym typeface="Arial"/>
              </a:rPr>
              <a:t> </a:t>
            </a:r>
            <a:r>
              <a:rPr lang="en-US" sz="1400" dirty="0">
                <a:solidFill>
                  <a:srgbClr val="4892DC"/>
                </a:solidFill>
                <a:latin typeface="Arial"/>
                <a:ea typeface="Arial"/>
                <a:cs typeface="Arial"/>
                <a:sym typeface="Arial"/>
              </a:rPr>
              <a:t>OBJECTIVES</a:t>
            </a:r>
            <a:endParaRPr lang="en-US" u="none" strike="noStrike" cap="none" dirty="0">
              <a:solidFill>
                <a:srgbClr val="4892DC"/>
              </a:solidFill>
              <a:latin typeface="Arial"/>
              <a:ea typeface="Arial"/>
              <a:cs typeface="Arial"/>
              <a:sym typeface="Arial"/>
            </a:endParaRPr>
          </a:p>
        </p:txBody>
      </p:sp>
      <p:pic>
        <p:nvPicPr>
          <p:cNvPr id="385" name="Picture 384">
            <a:extLst>
              <a:ext uri="{FF2B5EF4-FFF2-40B4-BE49-F238E27FC236}">
                <a16:creationId xmlns:a16="http://schemas.microsoft.com/office/drawing/2014/main" id="{F0DD7BEE-6BF6-2448-EC63-EA301E2CB77C}"/>
              </a:ext>
            </a:extLst>
          </p:cNvPr>
          <p:cNvPicPr>
            <a:picLocks noChangeAspect="1"/>
          </p:cNvPicPr>
          <p:nvPr/>
        </p:nvPicPr>
        <p:blipFill>
          <a:blip r:embed="rId3">
            <a:extLst>
              <a:ext uri="{28A0092B-C50C-407E-A947-70E740481C1C}">
                <a14:useLocalDpi xmlns:a14="http://schemas.microsoft.com/office/drawing/2010/main" val="0"/>
              </a:ext>
            </a:extLst>
          </a:blip>
          <a:srcRect t="3550" b="3550"/>
          <a:stretch/>
        </p:blipFill>
        <p:spPr>
          <a:xfrm>
            <a:off x="5172133" y="527450"/>
            <a:ext cx="6841608" cy="5320305"/>
          </a:xfrm>
          <a:prstGeom prst="rect">
            <a:avLst/>
          </a:prstGeom>
        </p:spPr>
      </p:pic>
      <p:sp>
        <p:nvSpPr>
          <p:cNvPr id="24" name="Rectangle 3">
            <a:extLst>
              <a:ext uri="{FF2B5EF4-FFF2-40B4-BE49-F238E27FC236}">
                <a16:creationId xmlns:a16="http://schemas.microsoft.com/office/drawing/2014/main" id="{CB7CD98D-C969-E7F3-B6B8-CA1BE353C447}"/>
              </a:ext>
            </a:extLst>
          </p:cNvPr>
          <p:cNvSpPr>
            <a:spLocks noChangeArrowheads="1"/>
          </p:cNvSpPr>
          <p:nvPr/>
        </p:nvSpPr>
        <p:spPr bwMode="auto">
          <a:xfrm>
            <a:off x="456487" y="1010245"/>
            <a:ext cx="4548650" cy="58785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it-IT" altLang="it-IT"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it-IT" altLang="it-IT" sz="1100" b="1" i="0" u="none" strike="noStrike" cap="none" normalizeH="0" baseline="0" dirty="0" err="1">
                <a:ln>
                  <a:noFill/>
                </a:ln>
                <a:solidFill>
                  <a:schemeClr val="tx1"/>
                </a:solidFill>
                <a:effectLst/>
              </a:rPr>
              <a:t>Understand</a:t>
            </a:r>
            <a:r>
              <a:rPr kumimoji="0" lang="it-IT" altLang="it-IT" sz="1100" b="1" i="0" u="none" strike="noStrike" cap="none" normalizeH="0" baseline="0" dirty="0">
                <a:ln>
                  <a:noFill/>
                </a:ln>
                <a:solidFill>
                  <a:schemeClr val="tx1"/>
                </a:solidFill>
                <a:effectLst/>
              </a:rPr>
              <a:t> the dataset </a:t>
            </a:r>
            <a:r>
              <a:rPr kumimoji="0" lang="it-IT" altLang="it-IT" sz="1100" b="1" i="0" u="none" strike="noStrike" cap="none" normalizeH="0" baseline="0" dirty="0" err="1">
                <a:ln>
                  <a:noFill/>
                </a:ln>
                <a:solidFill>
                  <a:schemeClr val="tx1"/>
                </a:solidFill>
                <a:effectLst/>
              </a:rPr>
              <a:t>structure</a:t>
            </a:r>
            <a:br>
              <a:rPr kumimoji="0" lang="it-IT" altLang="it-IT" sz="1100" b="0" i="0" u="none" strike="noStrike" cap="none" normalizeH="0" baseline="0" dirty="0">
                <a:ln>
                  <a:noFill/>
                </a:ln>
                <a:solidFill>
                  <a:schemeClr val="tx1"/>
                </a:solidFill>
                <a:effectLst/>
              </a:rPr>
            </a:br>
            <a:r>
              <a:rPr kumimoji="0" lang="it-IT" altLang="it-IT" sz="1100" b="0" i="0" u="none" strike="noStrike" cap="none" normalizeH="0" baseline="0" dirty="0" err="1">
                <a:ln>
                  <a:noFill/>
                </a:ln>
                <a:solidFill>
                  <a:schemeClr val="tx1"/>
                </a:solidFill>
                <a:effectLst/>
              </a:rPr>
              <a:t>Identify</a:t>
            </a:r>
            <a:r>
              <a:rPr kumimoji="0" lang="it-IT" altLang="it-IT" sz="1100" b="0" i="0" u="none" strike="noStrike" cap="none" normalizeH="0" baseline="0" dirty="0">
                <a:ln>
                  <a:noFill/>
                </a:ln>
                <a:solidFill>
                  <a:schemeClr val="tx1"/>
                </a:solidFill>
                <a:effectLst/>
              </a:rPr>
              <a:t> the </a:t>
            </a:r>
            <a:r>
              <a:rPr kumimoji="0" lang="it-IT" altLang="it-IT" sz="1100" b="0" i="0" u="none" strike="noStrike" cap="none" normalizeH="0" baseline="0" dirty="0" err="1">
                <a:ln>
                  <a:noFill/>
                </a:ln>
                <a:solidFill>
                  <a:schemeClr val="tx1"/>
                </a:solidFill>
                <a:effectLst/>
              </a:rPr>
              <a:t>different</a:t>
            </a:r>
            <a:r>
              <a:rPr kumimoji="0" lang="it-IT" altLang="it-IT" sz="1100" b="0" i="0" u="none" strike="noStrike" cap="none" normalizeH="0" baseline="0" dirty="0">
                <a:ln>
                  <a:noFill/>
                </a:ln>
                <a:solidFill>
                  <a:schemeClr val="tx1"/>
                </a:solidFill>
                <a:effectLst/>
              </a:rPr>
              <a:t> data sources, </a:t>
            </a:r>
            <a:r>
              <a:rPr kumimoji="0" lang="it-IT" altLang="it-IT" sz="1100" b="0" i="0" u="none" strike="noStrike" cap="none" normalizeH="0" baseline="0" dirty="0" err="1">
                <a:ln>
                  <a:noFill/>
                </a:ln>
                <a:solidFill>
                  <a:schemeClr val="tx1"/>
                </a:solidFill>
                <a:effectLst/>
              </a:rPr>
              <a:t>including</a:t>
            </a:r>
            <a:r>
              <a:rPr kumimoji="0" lang="it-IT" altLang="it-IT" sz="1100" b="0" i="0" u="none" strike="noStrike" cap="none" normalizeH="0" baseline="0" dirty="0">
                <a:ln>
                  <a:noFill/>
                </a:ln>
                <a:solidFill>
                  <a:schemeClr val="tx1"/>
                </a:solidFill>
                <a:effectLst/>
              </a:rPr>
              <a:t> WR desk </a:t>
            </a:r>
            <a:r>
              <a:rPr kumimoji="0" lang="it-IT" altLang="it-IT" sz="1100" b="0" i="0" u="none" strike="noStrike" cap="none" normalizeH="0" baseline="0" dirty="0" err="1">
                <a:ln>
                  <a:noFill/>
                </a:ln>
                <a:solidFill>
                  <a:schemeClr val="tx1"/>
                </a:solidFill>
                <a:effectLst/>
              </a:rPr>
              <a:t>sensors</a:t>
            </a:r>
            <a:r>
              <a:rPr kumimoji="0" lang="it-IT" altLang="it-IT" sz="1100" b="0" i="0" u="none" strike="noStrike" cap="none" normalizeH="0" baseline="0" dirty="0">
                <a:ln>
                  <a:noFill/>
                </a:ln>
                <a:solidFill>
                  <a:schemeClr val="tx1"/>
                </a:solidFill>
                <a:effectLst/>
              </a:rPr>
              <a:t>, IEQ room </a:t>
            </a:r>
            <a:r>
              <a:rPr kumimoji="0" lang="it-IT" altLang="it-IT" sz="1100" b="0" i="0" u="none" strike="noStrike" cap="none" normalizeH="0" baseline="0" dirty="0" err="1">
                <a:ln>
                  <a:noFill/>
                </a:ln>
                <a:solidFill>
                  <a:schemeClr val="tx1"/>
                </a:solidFill>
                <a:effectLst/>
              </a:rPr>
              <a:t>sensors</a:t>
            </a:r>
            <a:r>
              <a:rPr kumimoji="0" lang="it-IT" altLang="it-IT" sz="1100" b="0" i="0" u="none" strike="noStrike" cap="none" normalizeH="0" baseline="0" dirty="0">
                <a:ln>
                  <a:noFill/>
                </a:ln>
                <a:solidFill>
                  <a:schemeClr val="tx1"/>
                </a:solidFill>
                <a:effectLst/>
              </a:rPr>
              <a:t>, and </a:t>
            </a:r>
            <a:r>
              <a:rPr kumimoji="0" lang="it-IT" altLang="it-IT" sz="1100" b="0" i="0" u="none" strike="noStrike" cap="none" normalizeH="0" baseline="0" dirty="0" err="1">
                <a:ln>
                  <a:noFill/>
                </a:ln>
                <a:solidFill>
                  <a:schemeClr val="tx1"/>
                </a:solidFill>
                <a:effectLst/>
              </a:rPr>
              <a:t>manual</a:t>
            </a:r>
            <a:r>
              <a:rPr kumimoji="0" lang="it-IT" altLang="it-IT" sz="1100" b="0" i="0" u="none" strike="noStrike" cap="none" normalizeH="0" baseline="0" dirty="0">
                <a:ln>
                  <a:noFill/>
                </a:ln>
                <a:solidFill>
                  <a:schemeClr val="tx1"/>
                </a:solidFill>
                <a:effectLst/>
              </a:rPr>
              <a:t> </a:t>
            </a:r>
            <a:r>
              <a:rPr kumimoji="0" lang="it-IT" altLang="it-IT" sz="1100" b="0" i="0" u="none" strike="noStrike" cap="none" normalizeH="0" baseline="0" dirty="0" err="1">
                <a:ln>
                  <a:noFill/>
                </a:ln>
                <a:solidFill>
                  <a:schemeClr val="tx1"/>
                </a:solidFill>
                <a:effectLst/>
              </a:rPr>
              <a:t>occupancy</a:t>
            </a:r>
            <a:r>
              <a:rPr kumimoji="0" lang="it-IT" altLang="it-IT" sz="1100" b="0" i="0" u="none" strike="noStrike" cap="none" normalizeH="0" baseline="0" dirty="0">
                <a:ln>
                  <a:noFill/>
                </a:ln>
                <a:solidFill>
                  <a:schemeClr val="tx1"/>
                </a:solidFill>
                <a:effectLst/>
              </a:rPr>
              <a:t> </a:t>
            </a:r>
            <a:r>
              <a:rPr kumimoji="0" lang="it-IT" altLang="it-IT" sz="1100" b="0" i="0" u="none" strike="noStrike" cap="none" normalizeH="0" baseline="0" dirty="0" err="1">
                <a:ln>
                  <a:noFill/>
                </a:ln>
                <a:solidFill>
                  <a:schemeClr val="tx1"/>
                </a:solidFill>
                <a:effectLst/>
              </a:rPr>
              <a:t>responses</a:t>
            </a:r>
            <a:r>
              <a:rPr kumimoji="0" lang="it-IT" altLang="it-IT" sz="1100" b="0" i="0" u="none" strike="noStrike" cap="none" normalizeH="0" baseline="0" dirty="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FontTx/>
              <a:buAutoNum type="arabicPeriod"/>
              <a:tabLst/>
            </a:pPr>
            <a:endParaRPr kumimoji="0" lang="it-IT" altLang="it-IT"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it-IT" altLang="it-IT" sz="1100" b="1" i="0" u="none" strike="noStrike" cap="none" normalizeH="0" baseline="0" dirty="0" err="1">
                <a:ln>
                  <a:noFill/>
                </a:ln>
                <a:solidFill>
                  <a:schemeClr val="tx1"/>
                </a:solidFill>
                <a:effectLst/>
              </a:rPr>
              <a:t>Clean</a:t>
            </a:r>
            <a:r>
              <a:rPr kumimoji="0" lang="it-IT" altLang="it-IT" sz="1100" b="1" i="0" u="none" strike="noStrike" cap="none" normalizeH="0" baseline="0" dirty="0">
                <a:ln>
                  <a:noFill/>
                </a:ln>
                <a:solidFill>
                  <a:schemeClr val="tx1"/>
                </a:solidFill>
                <a:effectLst/>
              </a:rPr>
              <a:t> and </a:t>
            </a:r>
            <a:r>
              <a:rPr kumimoji="0" lang="it-IT" altLang="it-IT" sz="1100" b="1" i="0" u="none" strike="noStrike" cap="none" normalizeH="0" baseline="0" dirty="0" err="1">
                <a:ln>
                  <a:noFill/>
                </a:ln>
                <a:solidFill>
                  <a:schemeClr val="tx1"/>
                </a:solidFill>
                <a:effectLst/>
              </a:rPr>
              <a:t>prepare</a:t>
            </a:r>
            <a:r>
              <a:rPr kumimoji="0" lang="it-IT" altLang="it-IT" sz="1100" b="1" i="0" u="none" strike="noStrike" cap="none" normalizeH="0" baseline="0" dirty="0">
                <a:ln>
                  <a:noFill/>
                </a:ln>
                <a:solidFill>
                  <a:schemeClr val="tx1"/>
                </a:solidFill>
                <a:effectLst/>
              </a:rPr>
              <a:t> </a:t>
            </a:r>
            <a:r>
              <a:rPr kumimoji="0" lang="it-IT" altLang="it-IT" sz="1100" b="1" i="0" u="none" strike="noStrike" cap="none" normalizeH="0" baseline="0" dirty="0" err="1">
                <a:ln>
                  <a:noFill/>
                </a:ln>
                <a:solidFill>
                  <a:schemeClr val="tx1"/>
                </a:solidFill>
                <a:effectLst/>
              </a:rPr>
              <a:t>irregular</a:t>
            </a:r>
            <a:r>
              <a:rPr kumimoji="0" lang="it-IT" altLang="it-IT" sz="1100" b="1" i="0" u="none" strike="noStrike" cap="none" normalizeH="0" baseline="0" dirty="0">
                <a:ln>
                  <a:noFill/>
                </a:ln>
                <a:solidFill>
                  <a:schemeClr val="tx1"/>
                </a:solidFill>
                <a:effectLst/>
              </a:rPr>
              <a:t> time-</a:t>
            </a:r>
            <a:r>
              <a:rPr kumimoji="0" lang="it-IT" altLang="it-IT" sz="1100" b="1" i="0" u="none" strike="noStrike" cap="none" normalizeH="0" baseline="0" dirty="0" err="1">
                <a:ln>
                  <a:noFill/>
                </a:ln>
                <a:solidFill>
                  <a:schemeClr val="tx1"/>
                </a:solidFill>
                <a:effectLst/>
              </a:rPr>
              <a:t>series</a:t>
            </a:r>
            <a:r>
              <a:rPr kumimoji="0" lang="it-IT" altLang="it-IT" sz="1100" b="1" i="0" u="none" strike="noStrike" cap="none" normalizeH="0" baseline="0" dirty="0">
                <a:ln>
                  <a:noFill/>
                </a:ln>
                <a:solidFill>
                  <a:schemeClr val="tx1"/>
                </a:solidFill>
                <a:effectLst/>
              </a:rPr>
              <a:t> data</a:t>
            </a:r>
            <a:br>
              <a:rPr kumimoji="0" lang="it-IT" altLang="it-IT" sz="1100" b="0" i="0" u="none" strike="noStrike" cap="none" normalizeH="0" baseline="0" dirty="0">
                <a:ln>
                  <a:noFill/>
                </a:ln>
                <a:solidFill>
                  <a:schemeClr val="tx1"/>
                </a:solidFill>
                <a:effectLst/>
              </a:rPr>
            </a:br>
            <a:r>
              <a:rPr kumimoji="0" lang="it-IT" altLang="it-IT" sz="1100" b="0" i="0" u="none" strike="noStrike" cap="none" normalizeH="0" baseline="0" dirty="0" err="1">
                <a:ln>
                  <a:noFill/>
                </a:ln>
                <a:solidFill>
                  <a:schemeClr val="tx1"/>
                </a:solidFill>
                <a:effectLst/>
              </a:rPr>
              <a:t>Detect</a:t>
            </a:r>
            <a:r>
              <a:rPr kumimoji="0" lang="it-IT" altLang="it-IT" sz="1100" b="0" i="0" u="none" strike="noStrike" cap="none" normalizeH="0" baseline="0" dirty="0">
                <a:ln>
                  <a:noFill/>
                </a:ln>
                <a:solidFill>
                  <a:schemeClr val="tx1"/>
                </a:solidFill>
                <a:effectLst/>
              </a:rPr>
              <a:t> </a:t>
            </a:r>
            <a:r>
              <a:rPr kumimoji="0" lang="it-IT" altLang="it-IT" sz="1100" b="0" i="0" u="none" strike="noStrike" cap="none" normalizeH="0" baseline="0" dirty="0" err="1">
                <a:ln>
                  <a:noFill/>
                </a:ln>
                <a:solidFill>
                  <a:schemeClr val="tx1"/>
                </a:solidFill>
                <a:effectLst/>
              </a:rPr>
              <a:t>timestamp</a:t>
            </a:r>
            <a:r>
              <a:rPr kumimoji="0" lang="it-IT" altLang="it-IT" sz="1100" b="0" i="0" u="none" strike="noStrike" cap="none" normalizeH="0" baseline="0" dirty="0">
                <a:ln>
                  <a:noFill/>
                </a:ln>
                <a:solidFill>
                  <a:schemeClr val="tx1"/>
                </a:solidFill>
                <a:effectLst/>
              </a:rPr>
              <a:t> </a:t>
            </a:r>
            <a:r>
              <a:rPr kumimoji="0" lang="it-IT" altLang="it-IT" sz="1100" b="0" i="0" u="none" strike="noStrike" cap="none" normalizeH="0" baseline="0" dirty="0" err="1">
                <a:ln>
                  <a:noFill/>
                </a:ln>
                <a:solidFill>
                  <a:schemeClr val="tx1"/>
                </a:solidFill>
                <a:effectLst/>
              </a:rPr>
              <a:t>issues</a:t>
            </a:r>
            <a:r>
              <a:rPr kumimoji="0" lang="it-IT" altLang="it-IT" sz="1100" b="0" i="0" u="none" strike="noStrike" cap="none" normalizeH="0" baseline="0" dirty="0">
                <a:ln>
                  <a:noFill/>
                </a:ln>
                <a:solidFill>
                  <a:schemeClr val="tx1"/>
                </a:solidFill>
                <a:effectLst/>
              </a:rPr>
              <a:t>, </a:t>
            </a:r>
            <a:r>
              <a:rPr kumimoji="0" lang="it-IT" altLang="it-IT" sz="1100" b="0" i="0" u="none" strike="noStrike" cap="none" normalizeH="0" baseline="0" dirty="0" err="1">
                <a:ln>
                  <a:noFill/>
                </a:ln>
                <a:solidFill>
                  <a:schemeClr val="tx1"/>
                </a:solidFill>
                <a:effectLst/>
              </a:rPr>
              <a:t>temporal</a:t>
            </a:r>
            <a:r>
              <a:rPr kumimoji="0" lang="it-IT" altLang="it-IT" sz="1100" b="0" i="0" u="none" strike="noStrike" cap="none" normalizeH="0" baseline="0" dirty="0">
                <a:ln>
                  <a:noFill/>
                </a:ln>
                <a:solidFill>
                  <a:schemeClr val="tx1"/>
                </a:solidFill>
                <a:effectLst/>
              </a:rPr>
              <a:t> gaps, </a:t>
            </a:r>
            <a:r>
              <a:rPr kumimoji="0" lang="it-IT" altLang="it-IT" sz="1100" b="0" i="0" u="none" strike="noStrike" cap="none" normalizeH="0" baseline="0" dirty="0" err="1">
                <a:ln>
                  <a:noFill/>
                </a:ln>
                <a:solidFill>
                  <a:schemeClr val="tx1"/>
                </a:solidFill>
                <a:effectLst/>
              </a:rPr>
              <a:t>missing</a:t>
            </a:r>
            <a:r>
              <a:rPr kumimoji="0" lang="it-IT" altLang="it-IT" sz="1100" b="0" i="0" u="none" strike="noStrike" cap="none" normalizeH="0" baseline="0" dirty="0">
                <a:ln>
                  <a:noFill/>
                </a:ln>
                <a:solidFill>
                  <a:schemeClr val="tx1"/>
                </a:solidFill>
                <a:effectLst/>
              </a:rPr>
              <a:t> </a:t>
            </a:r>
            <a:r>
              <a:rPr kumimoji="0" lang="it-IT" altLang="it-IT" sz="1100" b="0" i="0" u="none" strike="noStrike" cap="none" normalizeH="0" baseline="0" dirty="0" err="1">
                <a:ln>
                  <a:noFill/>
                </a:ln>
                <a:solidFill>
                  <a:schemeClr val="tx1"/>
                </a:solidFill>
                <a:effectLst/>
              </a:rPr>
              <a:t>values</a:t>
            </a:r>
            <a:r>
              <a:rPr kumimoji="0" lang="it-IT" altLang="it-IT" sz="1100" b="0" i="0" u="none" strike="noStrike" cap="none" normalizeH="0" baseline="0" dirty="0">
                <a:ln>
                  <a:noFill/>
                </a:ln>
                <a:solidFill>
                  <a:schemeClr val="tx1"/>
                </a:solidFill>
                <a:effectLst/>
              </a:rPr>
              <a:t>, and </a:t>
            </a:r>
            <a:r>
              <a:rPr kumimoji="0" lang="it-IT" altLang="it-IT" sz="1100" b="0" i="0" u="none" strike="noStrike" cap="none" normalizeH="0" baseline="0" dirty="0" err="1">
                <a:ln>
                  <a:noFill/>
                </a:ln>
                <a:solidFill>
                  <a:schemeClr val="tx1"/>
                </a:solidFill>
                <a:effectLst/>
              </a:rPr>
              <a:t>changes</a:t>
            </a:r>
            <a:r>
              <a:rPr kumimoji="0" lang="it-IT" altLang="it-IT" sz="1100" b="0" i="0" u="none" strike="noStrike" cap="none" normalizeH="0" baseline="0" dirty="0">
                <a:ln>
                  <a:noFill/>
                </a:ln>
                <a:solidFill>
                  <a:schemeClr val="tx1"/>
                </a:solidFill>
                <a:effectLst/>
              </a:rPr>
              <a:t> in data </a:t>
            </a:r>
            <a:r>
              <a:rPr kumimoji="0" lang="it-IT" altLang="it-IT" sz="1100" b="0" i="0" u="none" strike="noStrike" cap="none" normalizeH="0" baseline="0" dirty="0" err="1">
                <a:ln>
                  <a:noFill/>
                </a:ln>
                <a:solidFill>
                  <a:schemeClr val="tx1"/>
                </a:solidFill>
                <a:effectLst/>
              </a:rPr>
              <a:t>collection</a:t>
            </a:r>
            <a:r>
              <a:rPr kumimoji="0" lang="it-IT" altLang="it-IT" sz="1100" b="0" i="0" u="none" strike="noStrike" cap="none" normalizeH="0" baseline="0" dirty="0">
                <a:ln>
                  <a:noFill/>
                </a:ln>
                <a:solidFill>
                  <a:schemeClr val="tx1"/>
                </a:solidFill>
                <a:effectLst/>
              </a:rPr>
              <a:t> frequency. </a:t>
            </a:r>
            <a:br>
              <a:rPr kumimoji="0" lang="it-IT" altLang="it-IT" sz="1100" b="0" i="0" u="none" strike="noStrike" cap="none" normalizeH="0" baseline="0" dirty="0">
                <a:ln>
                  <a:noFill/>
                </a:ln>
                <a:solidFill>
                  <a:schemeClr val="tx1"/>
                </a:solidFill>
                <a:effectLst/>
              </a:rPr>
            </a:br>
            <a:endParaRPr kumimoji="0" lang="it-IT" altLang="it-IT"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it-IT" altLang="it-IT" sz="1100" b="1" i="0" u="none" strike="noStrike" cap="none" normalizeH="0" baseline="0" dirty="0">
                <a:ln>
                  <a:noFill/>
                </a:ln>
                <a:solidFill>
                  <a:schemeClr val="tx1"/>
                </a:solidFill>
                <a:effectLst/>
              </a:rPr>
              <a:t>Merge multiple </a:t>
            </a:r>
            <a:r>
              <a:rPr kumimoji="0" lang="it-IT" altLang="it-IT" sz="1100" b="1" i="0" u="none" strike="noStrike" cap="none" normalizeH="0" baseline="0" dirty="0" err="1">
                <a:ln>
                  <a:noFill/>
                </a:ln>
                <a:solidFill>
                  <a:schemeClr val="tx1"/>
                </a:solidFill>
                <a:effectLst/>
              </a:rPr>
              <a:t>sensor</a:t>
            </a:r>
            <a:r>
              <a:rPr kumimoji="0" lang="it-IT" altLang="it-IT" sz="1100" b="1" i="0" u="none" strike="noStrike" cap="none" normalizeH="0" baseline="0" dirty="0">
                <a:ln>
                  <a:noFill/>
                </a:ln>
                <a:solidFill>
                  <a:schemeClr val="tx1"/>
                </a:solidFill>
                <a:effectLst/>
              </a:rPr>
              <a:t> streams</a:t>
            </a:r>
            <a:br>
              <a:rPr kumimoji="0" lang="it-IT" altLang="it-IT" sz="1100" b="0" i="0" u="none" strike="noStrike" cap="none" normalizeH="0" baseline="0" dirty="0">
                <a:ln>
                  <a:noFill/>
                </a:ln>
                <a:solidFill>
                  <a:schemeClr val="tx1"/>
                </a:solidFill>
                <a:effectLst/>
              </a:rPr>
            </a:br>
            <a:r>
              <a:rPr kumimoji="0" lang="it-IT" altLang="it-IT" sz="1100" b="0" i="0" u="none" strike="noStrike" cap="none" normalizeH="0" baseline="0" dirty="0" err="1">
                <a:ln>
                  <a:noFill/>
                </a:ln>
                <a:solidFill>
                  <a:schemeClr val="tx1"/>
                </a:solidFill>
                <a:effectLst/>
              </a:rPr>
              <a:t>Align</a:t>
            </a:r>
            <a:r>
              <a:rPr kumimoji="0" lang="it-IT" altLang="it-IT" sz="1100" b="0" i="0" u="none" strike="noStrike" cap="none" normalizeH="0" baseline="0" dirty="0">
                <a:ln>
                  <a:noFill/>
                </a:ln>
                <a:solidFill>
                  <a:schemeClr val="tx1"/>
                </a:solidFill>
                <a:effectLst/>
              </a:rPr>
              <a:t> </a:t>
            </a:r>
            <a:r>
              <a:rPr kumimoji="0" lang="it-IT" altLang="it-IT" sz="1100" b="0" i="0" u="none" strike="noStrike" cap="none" normalizeH="0" baseline="0" dirty="0" err="1">
                <a:ln>
                  <a:noFill/>
                </a:ln>
                <a:solidFill>
                  <a:schemeClr val="tx1"/>
                </a:solidFill>
                <a:effectLst/>
              </a:rPr>
              <a:t>sensor</a:t>
            </a:r>
            <a:r>
              <a:rPr kumimoji="0" lang="it-IT" altLang="it-IT" sz="1100" b="0" i="0" u="none" strike="noStrike" cap="none" normalizeH="0" baseline="0" dirty="0">
                <a:ln>
                  <a:noFill/>
                </a:ln>
                <a:solidFill>
                  <a:schemeClr val="tx1"/>
                </a:solidFill>
                <a:effectLst/>
              </a:rPr>
              <a:t> data from </a:t>
            </a:r>
            <a:r>
              <a:rPr kumimoji="0" lang="it-IT" altLang="it-IT" sz="1100" b="0" i="0" u="none" strike="noStrike" cap="none" normalizeH="0" baseline="0" dirty="0" err="1">
                <a:ln>
                  <a:noFill/>
                </a:ln>
                <a:solidFill>
                  <a:schemeClr val="tx1"/>
                </a:solidFill>
                <a:effectLst/>
              </a:rPr>
              <a:t>different</a:t>
            </a:r>
            <a:r>
              <a:rPr kumimoji="0" lang="it-IT" altLang="it-IT" sz="1100" b="0" i="0" u="none" strike="noStrike" cap="none" normalizeH="0" baseline="0" dirty="0">
                <a:ln>
                  <a:noFill/>
                </a:ln>
                <a:solidFill>
                  <a:schemeClr val="tx1"/>
                </a:solidFill>
                <a:effectLst/>
              </a:rPr>
              <a:t> devices </a:t>
            </a:r>
            <a:r>
              <a:rPr kumimoji="0" lang="it-IT" altLang="it-IT" sz="1100" b="0" i="0" u="none" strike="noStrike" cap="none" normalizeH="0" baseline="0" dirty="0" err="1">
                <a:ln>
                  <a:noFill/>
                </a:ln>
                <a:solidFill>
                  <a:schemeClr val="tx1"/>
                </a:solidFill>
                <a:effectLst/>
              </a:rPr>
              <a:t>using</a:t>
            </a:r>
            <a:r>
              <a:rPr kumimoji="0" lang="it-IT" altLang="it-IT" sz="1100" b="0" i="0" u="none" strike="noStrike" cap="none" normalizeH="0" baseline="0" dirty="0">
                <a:ln>
                  <a:noFill/>
                </a:ln>
                <a:solidFill>
                  <a:schemeClr val="tx1"/>
                </a:solidFill>
                <a:effectLst/>
              </a:rPr>
              <a:t> </a:t>
            </a:r>
            <a:r>
              <a:rPr kumimoji="0" lang="it-IT" altLang="it-IT" sz="1100" b="0" i="0" u="none" strike="noStrike" cap="none" normalizeH="0" baseline="0" dirty="0" err="1">
                <a:ln>
                  <a:noFill/>
                </a:ln>
                <a:solidFill>
                  <a:schemeClr val="tx1"/>
                </a:solidFill>
                <a:effectLst/>
              </a:rPr>
              <a:t>timestamp-based</a:t>
            </a:r>
            <a:r>
              <a:rPr kumimoji="0" lang="it-IT" altLang="it-IT" sz="1100" b="0" i="0" u="none" strike="noStrike" cap="none" normalizeH="0" baseline="0" dirty="0">
                <a:ln>
                  <a:noFill/>
                </a:ln>
                <a:solidFill>
                  <a:schemeClr val="tx1"/>
                </a:solidFill>
                <a:effectLst/>
              </a:rPr>
              <a:t> </a:t>
            </a:r>
            <a:r>
              <a:rPr kumimoji="0" lang="it-IT" altLang="it-IT" sz="1100" b="0" i="0" u="none" strike="noStrike" cap="none" normalizeH="0" baseline="0" dirty="0" err="1">
                <a:ln>
                  <a:noFill/>
                </a:ln>
                <a:solidFill>
                  <a:schemeClr val="tx1"/>
                </a:solidFill>
                <a:effectLst/>
              </a:rPr>
              <a:t>merging</a:t>
            </a:r>
            <a:r>
              <a:rPr kumimoji="0" lang="it-IT" altLang="it-IT" sz="1100" b="0" i="0" u="none" strike="noStrike" cap="none" normalizeH="0" baseline="0" dirty="0">
                <a:ln>
                  <a:noFill/>
                </a:ln>
                <a:solidFill>
                  <a:schemeClr val="tx1"/>
                </a:solidFill>
                <a:effectLst/>
              </a:rPr>
              <a:t> or </a:t>
            </a:r>
            <a:r>
              <a:rPr kumimoji="0" lang="it-IT" altLang="it-IT" sz="1100" b="0" i="0" u="none" strike="noStrike" cap="none" normalizeH="0" baseline="0" dirty="0" err="1">
                <a:ln>
                  <a:noFill/>
                </a:ln>
                <a:solidFill>
                  <a:schemeClr val="tx1"/>
                </a:solidFill>
                <a:effectLst/>
              </a:rPr>
              <a:t>resampling</a:t>
            </a:r>
            <a:r>
              <a:rPr kumimoji="0" lang="it-IT" altLang="it-IT" sz="1100" b="0" i="0" u="none" strike="noStrike" cap="none" normalizeH="0" baseline="0" dirty="0">
                <a:ln>
                  <a:noFill/>
                </a:ln>
                <a:solidFill>
                  <a:schemeClr val="tx1"/>
                </a:solidFill>
                <a:effectLst/>
              </a:rPr>
              <a:t>. </a:t>
            </a:r>
            <a:br>
              <a:rPr kumimoji="0" lang="it-IT" altLang="it-IT" sz="1100" b="0" i="0" u="none" strike="noStrike" cap="none" normalizeH="0" baseline="0" dirty="0">
                <a:ln>
                  <a:noFill/>
                </a:ln>
                <a:solidFill>
                  <a:schemeClr val="tx1"/>
                </a:solidFill>
                <a:effectLst/>
              </a:rPr>
            </a:br>
            <a:endParaRPr kumimoji="0" lang="it-IT" altLang="it-IT"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it-IT" altLang="it-IT" sz="1100" b="1" i="0" u="none" strike="noStrike" cap="none" normalizeH="0" baseline="0" dirty="0">
                <a:ln>
                  <a:noFill/>
                </a:ln>
                <a:solidFill>
                  <a:schemeClr val="tx1"/>
                </a:solidFill>
                <a:effectLst/>
              </a:rPr>
              <a:t>Create </a:t>
            </a:r>
            <a:r>
              <a:rPr kumimoji="0" lang="it-IT" altLang="it-IT" sz="1100" b="1" i="0" u="none" strike="noStrike" cap="none" normalizeH="0" baseline="0" dirty="0" err="1">
                <a:ln>
                  <a:noFill/>
                </a:ln>
                <a:solidFill>
                  <a:schemeClr val="tx1"/>
                </a:solidFill>
                <a:effectLst/>
              </a:rPr>
              <a:t>occupancy</a:t>
            </a:r>
            <a:r>
              <a:rPr kumimoji="0" lang="it-IT" altLang="it-IT" sz="1100" b="1" i="0" u="none" strike="noStrike" cap="none" normalizeH="0" baseline="0" dirty="0">
                <a:ln>
                  <a:noFill/>
                </a:ln>
                <a:solidFill>
                  <a:schemeClr val="tx1"/>
                </a:solidFill>
                <a:effectLst/>
              </a:rPr>
              <a:t> ground-truth labels</a:t>
            </a:r>
            <a:br>
              <a:rPr kumimoji="0" lang="it-IT" altLang="it-IT" sz="1100" b="0" i="0" u="none" strike="noStrike" cap="none" normalizeH="0" baseline="0" dirty="0">
                <a:ln>
                  <a:noFill/>
                </a:ln>
                <a:solidFill>
                  <a:schemeClr val="tx1"/>
                </a:solidFill>
                <a:effectLst/>
              </a:rPr>
            </a:br>
            <a:r>
              <a:rPr kumimoji="0" lang="it-IT" altLang="it-IT" sz="1100" b="0" i="0" u="none" strike="noStrike" cap="none" normalizeH="0" baseline="0" dirty="0">
                <a:ln>
                  <a:noFill/>
                </a:ln>
                <a:solidFill>
                  <a:schemeClr val="tx1"/>
                </a:solidFill>
                <a:effectLst/>
              </a:rPr>
              <a:t>Match </a:t>
            </a:r>
            <a:r>
              <a:rPr kumimoji="0" lang="it-IT" altLang="it-IT" sz="1100" b="0" i="0" u="none" strike="noStrike" cap="none" normalizeH="0" baseline="0" dirty="0" err="1">
                <a:ln>
                  <a:noFill/>
                </a:ln>
                <a:solidFill>
                  <a:schemeClr val="tx1"/>
                </a:solidFill>
                <a:effectLst/>
              </a:rPr>
              <a:t>sensor</a:t>
            </a:r>
            <a:r>
              <a:rPr kumimoji="0" lang="it-IT" altLang="it-IT" sz="1100" b="0" i="0" u="none" strike="noStrike" cap="none" normalizeH="0" baseline="0" dirty="0">
                <a:ln>
                  <a:noFill/>
                </a:ln>
                <a:solidFill>
                  <a:schemeClr val="tx1"/>
                </a:solidFill>
                <a:effectLst/>
              </a:rPr>
              <a:t> readings with the </a:t>
            </a:r>
            <a:r>
              <a:rPr kumimoji="0" lang="it-IT" altLang="it-IT" sz="1100" b="0" i="0" u="none" strike="noStrike" cap="none" normalizeH="0" baseline="0" dirty="0" err="1">
                <a:ln>
                  <a:noFill/>
                </a:ln>
                <a:solidFill>
                  <a:schemeClr val="tx1"/>
                </a:solidFill>
                <a:effectLst/>
              </a:rPr>
              <a:t>closest</a:t>
            </a:r>
            <a:r>
              <a:rPr kumimoji="0" lang="it-IT" altLang="it-IT" sz="1100" b="0" i="0" u="none" strike="noStrike" cap="none" normalizeH="0" baseline="0" dirty="0">
                <a:ln>
                  <a:noFill/>
                </a:ln>
                <a:solidFill>
                  <a:schemeClr val="tx1"/>
                </a:solidFill>
                <a:effectLst/>
              </a:rPr>
              <a:t> </a:t>
            </a:r>
            <a:r>
              <a:rPr kumimoji="0" lang="it-IT" altLang="it-IT" sz="1100" b="0" i="0" u="none" strike="noStrike" cap="none" normalizeH="0" baseline="0" dirty="0" err="1">
                <a:ln>
                  <a:noFill/>
                </a:ln>
                <a:solidFill>
                  <a:schemeClr val="tx1"/>
                </a:solidFill>
                <a:effectLst/>
              </a:rPr>
              <a:t>valid</a:t>
            </a:r>
            <a:r>
              <a:rPr kumimoji="0" lang="it-IT" altLang="it-IT" sz="1100" b="0" i="0" u="none" strike="noStrike" cap="none" normalizeH="0" baseline="0" dirty="0">
                <a:ln>
                  <a:noFill/>
                </a:ln>
                <a:solidFill>
                  <a:schemeClr val="tx1"/>
                </a:solidFill>
                <a:effectLst/>
              </a:rPr>
              <a:t> </a:t>
            </a:r>
            <a:r>
              <a:rPr kumimoji="0" lang="it-IT" altLang="it-IT" sz="1100" b="0" i="0" u="none" strike="noStrike" cap="none" normalizeH="0" baseline="0" dirty="0" err="1">
                <a:ln>
                  <a:noFill/>
                </a:ln>
                <a:solidFill>
                  <a:schemeClr val="tx1"/>
                </a:solidFill>
                <a:effectLst/>
              </a:rPr>
              <a:t>manual</a:t>
            </a:r>
            <a:r>
              <a:rPr kumimoji="0" lang="it-IT" altLang="it-IT" sz="1100" b="0" i="0" u="none" strike="noStrike" cap="none" normalizeH="0" baseline="0" dirty="0">
                <a:ln>
                  <a:noFill/>
                </a:ln>
                <a:solidFill>
                  <a:schemeClr val="tx1"/>
                </a:solidFill>
                <a:effectLst/>
              </a:rPr>
              <a:t> </a:t>
            </a:r>
            <a:r>
              <a:rPr kumimoji="0" lang="it-IT" altLang="it-IT" sz="1100" b="0" i="0" u="none" strike="noStrike" cap="none" normalizeH="0" baseline="0" dirty="0" err="1">
                <a:ln>
                  <a:noFill/>
                </a:ln>
                <a:solidFill>
                  <a:schemeClr val="tx1"/>
                </a:solidFill>
                <a:effectLst/>
              </a:rPr>
              <a:t>occupancy</a:t>
            </a:r>
            <a:r>
              <a:rPr kumimoji="0" lang="it-IT" altLang="it-IT" sz="1100" b="0" i="0" u="none" strike="noStrike" cap="none" normalizeH="0" baseline="0" dirty="0">
                <a:ln>
                  <a:noFill/>
                </a:ln>
                <a:solidFill>
                  <a:schemeClr val="tx1"/>
                </a:solidFill>
                <a:effectLst/>
              </a:rPr>
              <a:t> </a:t>
            </a:r>
            <a:r>
              <a:rPr kumimoji="0" lang="it-IT" altLang="it-IT" sz="1100" b="0" i="0" u="none" strike="noStrike" cap="none" normalizeH="0" baseline="0" dirty="0" err="1">
                <a:ln>
                  <a:noFill/>
                </a:ln>
                <a:solidFill>
                  <a:schemeClr val="tx1"/>
                </a:solidFill>
                <a:effectLst/>
              </a:rPr>
              <a:t>response</a:t>
            </a:r>
            <a:r>
              <a:rPr kumimoji="0" lang="it-IT" altLang="it-IT" sz="1100" b="0" i="0" u="none" strike="noStrike" cap="none" normalizeH="0" baseline="0" dirty="0">
                <a:ln>
                  <a:noFill/>
                </a:ln>
                <a:solidFill>
                  <a:schemeClr val="tx1"/>
                </a:solidFill>
                <a:effectLst/>
              </a:rPr>
              <a:t> </a:t>
            </a:r>
            <a:r>
              <a:rPr kumimoji="0" lang="it-IT" altLang="it-IT" sz="1100" b="0" i="0" u="none" strike="noStrike" cap="none" normalizeH="0" baseline="0" dirty="0" err="1">
                <a:ln>
                  <a:noFill/>
                </a:ln>
                <a:solidFill>
                  <a:schemeClr val="tx1"/>
                </a:solidFill>
                <a:effectLst/>
              </a:rPr>
              <a:t>without</a:t>
            </a:r>
            <a:r>
              <a:rPr kumimoji="0" lang="it-IT" altLang="it-IT" sz="1100" b="0" i="0" u="none" strike="noStrike" cap="none" normalizeH="0" baseline="0" dirty="0">
                <a:ln>
                  <a:noFill/>
                </a:ln>
                <a:solidFill>
                  <a:schemeClr val="tx1"/>
                </a:solidFill>
                <a:effectLst/>
              </a:rPr>
              <a:t> </a:t>
            </a:r>
            <a:r>
              <a:rPr kumimoji="0" lang="it-IT" altLang="it-IT" sz="1100" b="0" i="0" u="none" strike="noStrike" cap="none" normalizeH="0" baseline="0" dirty="0" err="1">
                <a:ln>
                  <a:noFill/>
                </a:ln>
                <a:solidFill>
                  <a:schemeClr val="tx1"/>
                </a:solidFill>
                <a:effectLst/>
              </a:rPr>
              <a:t>using</a:t>
            </a:r>
            <a:r>
              <a:rPr kumimoji="0" lang="it-IT" altLang="it-IT" sz="1100" b="0" i="0" u="none" strike="noStrike" cap="none" normalizeH="0" baseline="0" dirty="0">
                <a:ln>
                  <a:noFill/>
                </a:ln>
                <a:solidFill>
                  <a:schemeClr val="tx1"/>
                </a:solidFill>
                <a:effectLst/>
              </a:rPr>
              <a:t> future information. </a:t>
            </a:r>
            <a:br>
              <a:rPr kumimoji="0" lang="it-IT" altLang="it-IT" sz="1100" b="0" i="0" u="none" strike="noStrike" cap="none" normalizeH="0" baseline="0" dirty="0">
                <a:ln>
                  <a:noFill/>
                </a:ln>
                <a:solidFill>
                  <a:schemeClr val="tx1"/>
                </a:solidFill>
                <a:effectLst/>
              </a:rPr>
            </a:br>
            <a:endParaRPr kumimoji="0" lang="it-IT" altLang="it-IT"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it-IT" altLang="it-IT" sz="1100" b="1" i="0" u="none" strike="noStrike" cap="none" normalizeH="0" baseline="0" dirty="0">
                <a:ln>
                  <a:noFill/>
                </a:ln>
                <a:solidFill>
                  <a:schemeClr val="tx1"/>
                </a:solidFill>
                <a:effectLst/>
              </a:rPr>
              <a:t>Engineer </a:t>
            </a:r>
            <a:r>
              <a:rPr kumimoji="0" lang="it-IT" altLang="it-IT" sz="1100" b="1" i="0" u="none" strike="noStrike" cap="none" normalizeH="0" baseline="0" dirty="0" err="1">
                <a:ln>
                  <a:noFill/>
                </a:ln>
                <a:solidFill>
                  <a:schemeClr val="tx1"/>
                </a:solidFill>
                <a:effectLst/>
              </a:rPr>
              <a:t>occupancy-relevant</a:t>
            </a:r>
            <a:r>
              <a:rPr kumimoji="0" lang="it-IT" altLang="it-IT" sz="1100" b="1" i="0" u="none" strike="noStrike" cap="none" normalizeH="0" baseline="0" dirty="0">
                <a:ln>
                  <a:noFill/>
                </a:ln>
                <a:solidFill>
                  <a:schemeClr val="tx1"/>
                </a:solidFill>
                <a:effectLst/>
              </a:rPr>
              <a:t> features</a:t>
            </a:r>
            <a:br>
              <a:rPr kumimoji="0" lang="it-IT" altLang="it-IT" sz="1100" b="0" i="0" u="none" strike="noStrike" cap="none" normalizeH="0" baseline="0" dirty="0">
                <a:ln>
                  <a:noFill/>
                </a:ln>
                <a:solidFill>
                  <a:schemeClr val="tx1"/>
                </a:solidFill>
                <a:effectLst/>
              </a:rPr>
            </a:br>
            <a:r>
              <a:rPr kumimoji="0" lang="it-IT" altLang="it-IT" sz="1100" b="0" i="0" u="none" strike="noStrike" cap="none" normalizeH="0" baseline="0" dirty="0">
                <a:ln>
                  <a:noFill/>
                </a:ln>
                <a:solidFill>
                  <a:schemeClr val="tx1"/>
                </a:solidFill>
                <a:effectLst/>
              </a:rPr>
              <a:t>Generate features from PIR, CO₂, lux, temperature, </a:t>
            </a:r>
            <a:r>
              <a:rPr kumimoji="0" lang="it-IT" altLang="it-IT" sz="1100" b="0" i="0" u="none" strike="noStrike" cap="none" normalizeH="0" baseline="0" dirty="0" err="1">
                <a:ln>
                  <a:noFill/>
                </a:ln>
                <a:solidFill>
                  <a:schemeClr val="tx1"/>
                </a:solidFill>
                <a:effectLst/>
              </a:rPr>
              <a:t>humidity</a:t>
            </a:r>
            <a:r>
              <a:rPr kumimoji="0" lang="it-IT" altLang="it-IT" sz="1100" b="0" i="0" u="none" strike="noStrike" cap="none" normalizeH="0" baseline="0" dirty="0">
                <a:ln>
                  <a:noFill/>
                </a:ln>
                <a:solidFill>
                  <a:schemeClr val="tx1"/>
                </a:solidFill>
                <a:effectLst/>
              </a:rPr>
              <a:t>, and time-of-day </a:t>
            </a:r>
            <a:r>
              <a:rPr kumimoji="0" lang="it-IT" altLang="it-IT" sz="1100" b="0" i="0" u="none" strike="noStrike" cap="none" normalizeH="0" baseline="0" dirty="0" err="1">
                <a:ln>
                  <a:noFill/>
                </a:ln>
                <a:solidFill>
                  <a:schemeClr val="tx1"/>
                </a:solidFill>
                <a:effectLst/>
              </a:rPr>
              <a:t>variables</a:t>
            </a:r>
            <a:r>
              <a:rPr kumimoji="0" lang="it-IT" altLang="it-IT" sz="1100" b="0" i="0" u="none" strike="noStrike" cap="none" normalizeH="0" baseline="0" dirty="0">
                <a:ln>
                  <a:noFill/>
                </a:ln>
                <a:solidFill>
                  <a:schemeClr val="tx1"/>
                </a:solidFill>
                <a:effectLst/>
              </a:rPr>
              <a:t>. </a:t>
            </a:r>
            <a:br>
              <a:rPr kumimoji="0" lang="it-IT" altLang="it-IT" sz="1100" b="0" i="0" u="none" strike="noStrike" cap="none" normalizeH="0" baseline="0" dirty="0">
                <a:ln>
                  <a:noFill/>
                </a:ln>
                <a:solidFill>
                  <a:schemeClr val="tx1"/>
                </a:solidFill>
                <a:effectLst/>
              </a:rPr>
            </a:br>
            <a:endParaRPr kumimoji="0" lang="it-IT" altLang="it-IT"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AutoNum type="arabicPeriod" startAt="6"/>
              <a:tabLst/>
            </a:pPr>
            <a:r>
              <a:rPr kumimoji="0" lang="it-IT" altLang="it-IT" sz="1100" b="1" i="0" u="none" strike="noStrike" cap="none" normalizeH="0" baseline="0" dirty="0">
                <a:ln>
                  <a:noFill/>
                </a:ln>
                <a:solidFill>
                  <a:schemeClr val="tx1"/>
                </a:solidFill>
                <a:effectLst/>
              </a:rPr>
              <a:t>Train and compare machine-learning models</a:t>
            </a:r>
            <a:br>
              <a:rPr kumimoji="0" lang="it-IT" altLang="it-IT" sz="1100" b="0" i="0" u="none" strike="noStrike" cap="none" normalizeH="0" baseline="0" dirty="0">
                <a:ln>
                  <a:noFill/>
                </a:ln>
                <a:solidFill>
                  <a:schemeClr val="tx1"/>
                </a:solidFill>
                <a:effectLst/>
              </a:rPr>
            </a:br>
            <a:r>
              <a:rPr kumimoji="0" lang="it-IT" altLang="it-IT" sz="1100" b="0" i="0" u="none" strike="noStrike" cap="none" normalizeH="0" baseline="0" dirty="0">
                <a:ln>
                  <a:noFill/>
                </a:ln>
                <a:solidFill>
                  <a:schemeClr val="tx1"/>
                </a:solidFill>
                <a:effectLst/>
              </a:rPr>
              <a:t>Test </a:t>
            </a:r>
            <a:r>
              <a:rPr kumimoji="0" lang="it-IT" altLang="it-IT" sz="1100" b="0" i="0" u="none" strike="noStrike" cap="none" normalizeH="0" baseline="0" dirty="0" err="1">
                <a:ln>
                  <a:noFill/>
                </a:ln>
                <a:solidFill>
                  <a:schemeClr val="tx1"/>
                </a:solidFill>
                <a:effectLst/>
              </a:rPr>
              <a:t>different</a:t>
            </a:r>
            <a:r>
              <a:rPr kumimoji="0" lang="it-IT" altLang="it-IT" sz="1100" b="0" i="0" u="none" strike="noStrike" cap="none" normalizeH="0" baseline="0" dirty="0">
                <a:ln>
                  <a:noFill/>
                </a:ln>
                <a:solidFill>
                  <a:schemeClr val="tx1"/>
                </a:solidFill>
                <a:effectLst/>
              </a:rPr>
              <a:t> models </a:t>
            </a:r>
            <a:r>
              <a:rPr kumimoji="0" lang="it-IT" altLang="it-IT" sz="1100" b="0" i="0" u="none" strike="noStrike" cap="none" normalizeH="0" baseline="0" dirty="0" err="1">
                <a:ln>
                  <a:noFill/>
                </a:ln>
                <a:solidFill>
                  <a:schemeClr val="tx1"/>
                </a:solidFill>
                <a:effectLst/>
              </a:rPr>
              <a:t>such</a:t>
            </a:r>
            <a:r>
              <a:rPr kumimoji="0" lang="it-IT" altLang="it-IT" sz="1100" b="0" i="0" u="none" strike="noStrike" cap="none" normalizeH="0" baseline="0" dirty="0">
                <a:ln>
                  <a:noFill/>
                </a:ln>
                <a:solidFill>
                  <a:schemeClr val="tx1"/>
                </a:solidFill>
                <a:effectLst/>
              </a:rPr>
              <a:t> </a:t>
            </a:r>
            <a:r>
              <a:rPr kumimoji="0" lang="it-IT" altLang="it-IT" sz="1100" b="0" i="0" u="none" strike="noStrike" cap="none" normalizeH="0" baseline="0" dirty="0" err="1">
                <a:ln>
                  <a:noFill/>
                </a:ln>
                <a:solidFill>
                  <a:schemeClr val="tx1"/>
                </a:solidFill>
                <a:effectLst/>
              </a:rPr>
              <a:t>as</a:t>
            </a:r>
            <a:r>
              <a:rPr kumimoji="0" lang="it-IT" altLang="it-IT" sz="1100" b="0" i="0" u="none" strike="noStrike" cap="none" normalizeH="0" baseline="0" dirty="0">
                <a:ln>
                  <a:noFill/>
                </a:ln>
                <a:solidFill>
                  <a:schemeClr val="tx1"/>
                </a:solidFill>
                <a:effectLst/>
              </a:rPr>
              <a:t> Poisson </a:t>
            </a:r>
            <a:r>
              <a:rPr kumimoji="0" lang="it-IT" altLang="it-IT" sz="1100" b="0" i="0" u="none" strike="noStrike" cap="none" normalizeH="0" baseline="0" dirty="0" err="1">
                <a:ln>
                  <a:noFill/>
                </a:ln>
                <a:solidFill>
                  <a:schemeClr val="tx1"/>
                </a:solidFill>
                <a:effectLst/>
              </a:rPr>
              <a:t>regression</a:t>
            </a:r>
            <a:r>
              <a:rPr kumimoji="0" lang="it-IT" altLang="it-IT" sz="1100" b="0" i="0" u="none" strike="noStrike" cap="none" normalizeH="0" baseline="0" dirty="0">
                <a:ln>
                  <a:noFill/>
                </a:ln>
                <a:solidFill>
                  <a:schemeClr val="tx1"/>
                </a:solidFill>
                <a:effectLst/>
              </a:rPr>
              <a:t>, Random Forest, and </a:t>
            </a:r>
            <a:r>
              <a:rPr kumimoji="0" lang="it-IT" altLang="it-IT" sz="1100" b="0" i="0" u="none" strike="noStrike" cap="none" normalizeH="0" baseline="0" dirty="0" err="1">
                <a:ln>
                  <a:noFill/>
                </a:ln>
                <a:solidFill>
                  <a:schemeClr val="tx1"/>
                </a:solidFill>
                <a:effectLst/>
              </a:rPr>
              <a:t>HistGradientBoosting</a:t>
            </a:r>
            <a:r>
              <a:rPr kumimoji="0" lang="it-IT" altLang="it-IT" sz="1100" b="0" i="0" u="none" strike="noStrike" cap="none" normalizeH="0" baseline="0" dirty="0">
                <a:ln>
                  <a:noFill/>
                </a:ln>
                <a:solidFill>
                  <a:schemeClr val="tx1"/>
                </a:solidFill>
                <a:effectLst/>
              </a:rPr>
              <a:t>. </a:t>
            </a:r>
            <a:br>
              <a:rPr kumimoji="0" lang="it-IT" altLang="it-IT" sz="1100" b="0" i="0" u="none" strike="noStrike" cap="none" normalizeH="0" baseline="0" dirty="0">
                <a:ln>
                  <a:noFill/>
                </a:ln>
                <a:solidFill>
                  <a:schemeClr val="tx1"/>
                </a:solidFill>
                <a:effectLst/>
              </a:rPr>
            </a:br>
            <a:endParaRPr kumimoji="0" lang="it-IT" altLang="it-IT"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AutoNum type="arabicPeriod" startAt="7"/>
              <a:tabLst/>
            </a:pPr>
            <a:r>
              <a:rPr kumimoji="0" lang="it-IT" altLang="it-IT" sz="1100" b="1" i="0" u="none" strike="noStrike" cap="none" normalizeH="0" baseline="0" dirty="0" err="1">
                <a:ln>
                  <a:noFill/>
                </a:ln>
                <a:solidFill>
                  <a:schemeClr val="tx1"/>
                </a:solidFill>
                <a:effectLst/>
              </a:rPr>
              <a:t>Evaluate</a:t>
            </a:r>
            <a:r>
              <a:rPr kumimoji="0" lang="it-IT" altLang="it-IT" sz="1100" b="1" i="0" u="none" strike="noStrike" cap="none" normalizeH="0" baseline="0" dirty="0">
                <a:ln>
                  <a:noFill/>
                </a:ln>
                <a:solidFill>
                  <a:schemeClr val="tx1"/>
                </a:solidFill>
                <a:effectLst/>
              </a:rPr>
              <a:t> model performance</a:t>
            </a:r>
            <a:br>
              <a:rPr kumimoji="0" lang="it-IT" altLang="it-IT" sz="1100" b="0" i="0" u="none" strike="noStrike" cap="none" normalizeH="0" baseline="0" dirty="0">
                <a:ln>
                  <a:noFill/>
                </a:ln>
                <a:solidFill>
                  <a:schemeClr val="tx1"/>
                </a:solidFill>
                <a:effectLst/>
              </a:rPr>
            </a:br>
            <a:r>
              <a:rPr kumimoji="0" lang="it-IT" altLang="it-IT" sz="1100" b="0" i="0" u="none" strike="noStrike" cap="none" normalizeH="0" baseline="0" dirty="0">
                <a:ln>
                  <a:noFill/>
                </a:ln>
                <a:solidFill>
                  <a:schemeClr val="tx1"/>
                </a:solidFill>
                <a:effectLst/>
              </a:rPr>
              <a:t>Use time-</a:t>
            </a:r>
            <a:r>
              <a:rPr kumimoji="0" lang="it-IT" altLang="it-IT" sz="1100" b="0" i="0" u="none" strike="noStrike" cap="none" normalizeH="0" baseline="0" dirty="0" err="1">
                <a:ln>
                  <a:noFill/>
                </a:ln>
                <a:solidFill>
                  <a:schemeClr val="tx1"/>
                </a:solidFill>
                <a:effectLst/>
              </a:rPr>
              <a:t>series</a:t>
            </a:r>
            <a:r>
              <a:rPr kumimoji="0" lang="it-IT" altLang="it-IT" sz="1100" b="0" i="0" u="none" strike="noStrike" cap="none" normalizeH="0" baseline="0" dirty="0">
                <a:ln>
                  <a:noFill/>
                </a:ln>
                <a:solidFill>
                  <a:schemeClr val="tx1"/>
                </a:solidFill>
                <a:effectLst/>
              </a:rPr>
              <a:t> cross-</a:t>
            </a:r>
            <a:r>
              <a:rPr kumimoji="0" lang="it-IT" altLang="it-IT" sz="1100" b="0" i="0" u="none" strike="noStrike" cap="none" normalizeH="0" baseline="0" dirty="0" err="1">
                <a:ln>
                  <a:noFill/>
                </a:ln>
                <a:solidFill>
                  <a:schemeClr val="tx1"/>
                </a:solidFill>
                <a:effectLst/>
              </a:rPr>
              <a:t>validation</a:t>
            </a:r>
            <a:r>
              <a:rPr kumimoji="0" lang="it-IT" altLang="it-IT" sz="1100" b="0" i="0" u="none" strike="noStrike" cap="none" normalizeH="0" baseline="0" dirty="0">
                <a:ln>
                  <a:noFill/>
                </a:ln>
                <a:solidFill>
                  <a:schemeClr val="tx1"/>
                </a:solidFill>
                <a:effectLst/>
              </a:rPr>
              <a:t> and report </a:t>
            </a:r>
            <a:r>
              <a:rPr kumimoji="0" lang="it-IT" altLang="it-IT" sz="1100" b="0" i="0" u="none" strike="noStrike" cap="none" normalizeH="0" baseline="0" dirty="0" err="1">
                <a:ln>
                  <a:noFill/>
                </a:ln>
                <a:solidFill>
                  <a:schemeClr val="tx1"/>
                </a:solidFill>
                <a:effectLst/>
              </a:rPr>
              <a:t>metrics</a:t>
            </a:r>
            <a:r>
              <a:rPr kumimoji="0" lang="it-IT" altLang="it-IT" sz="1100" b="0" i="0" u="none" strike="noStrike" cap="none" normalizeH="0" baseline="0" dirty="0">
                <a:ln>
                  <a:noFill/>
                </a:ln>
                <a:solidFill>
                  <a:schemeClr val="tx1"/>
                </a:solidFill>
                <a:effectLst/>
              </a:rPr>
              <a:t> </a:t>
            </a:r>
            <a:r>
              <a:rPr kumimoji="0" lang="it-IT" altLang="it-IT" sz="1100" b="0" i="0" u="none" strike="noStrike" cap="none" normalizeH="0" baseline="0" dirty="0" err="1">
                <a:ln>
                  <a:noFill/>
                </a:ln>
                <a:solidFill>
                  <a:schemeClr val="tx1"/>
                </a:solidFill>
                <a:effectLst/>
              </a:rPr>
              <a:t>such</a:t>
            </a:r>
            <a:r>
              <a:rPr kumimoji="0" lang="it-IT" altLang="it-IT" sz="1100" b="0" i="0" u="none" strike="noStrike" cap="none" normalizeH="0" baseline="0" dirty="0">
                <a:ln>
                  <a:noFill/>
                </a:ln>
                <a:solidFill>
                  <a:schemeClr val="tx1"/>
                </a:solidFill>
                <a:effectLst/>
              </a:rPr>
              <a:t> </a:t>
            </a:r>
            <a:r>
              <a:rPr kumimoji="0" lang="it-IT" altLang="it-IT" sz="1100" b="0" i="0" u="none" strike="noStrike" cap="none" normalizeH="0" baseline="0" dirty="0" err="1">
                <a:ln>
                  <a:noFill/>
                </a:ln>
                <a:solidFill>
                  <a:schemeClr val="tx1"/>
                </a:solidFill>
                <a:effectLst/>
              </a:rPr>
              <a:t>as</a:t>
            </a:r>
            <a:r>
              <a:rPr kumimoji="0" lang="it-IT" altLang="it-IT" sz="1100" b="0" i="0" u="none" strike="noStrike" cap="none" normalizeH="0" baseline="0" dirty="0">
                <a:ln>
                  <a:noFill/>
                </a:ln>
                <a:solidFill>
                  <a:schemeClr val="tx1"/>
                </a:solidFill>
                <a:effectLst/>
              </a:rPr>
              <a:t> MAE, RMSE, and Acc@±1. </a:t>
            </a:r>
            <a:br>
              <a:rPr kumimoji="0" lang="it-IT" altLang="it-IT" sz="1100" b="0" i="0" u="none" strike="noStrike" cap="none" normalizeH="0" baseline="0" dirty="0">
                <a:ln>
                  <a:noFill/>
                </a:ln>
                <a:solidFill>
                  <a:schemeClr val="tx1"/>
                </a:solidFill>
                <a:effectLst/>
              </a:rPr>
            </a:br>
            <a:endParaRPr kumimoji="0" lang="it-IT" altLang="it-IT"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AutoNum type="arabicPeriod" startAt="8"/>
              <a:tabLst/>
            </a:pPr>
            <a:r>
              <a:rPr kumimoji="0" lang="it-IT" altLang="it-IT" sz="1100" b="1" i="0" u="none" strike="noStrike" cap="none" normalizeH="0" baseline="0" dirty="0" err="1">
                <a:ln>
                  <a:noFill/>
                </a:ln>
                <a:solidFill>
                  <a:schemeClr val="tx1"/>
                </a:solidFill>
                <a:effectLst/>
              </a:rPr>
              <a:t>Interpret</a:t>
            </a:r>
            <a:r>
              <a:rPr kumimoji="0" lang="it-IT" altLang="it-IT" sz="1100" b="1" i="0" u="none" strike="noStrike" cap="none" normalizeH="0" baseline="0" dirty="0">
                <a:ln>
                  <a:noFill/>
                </a:ln>
                <a:solidFill>
                  <a:schemeClr val="tx1"/>
                </a:solidFill>
                <a:effectLst/>
              </a:rPr>
              <a:t> the </a:t>
            </a:r>
            <a:r>
              <a:rPr kumimoji="0" lang="it-IT" altLang="it-IT" sz="1100" b="1" i="0" u="none" strike="noStrike" cap="none" normalizeH="0" baseline="0" dirty="0" err="1">
                <a:ln>
                  <a:noFill/>
                </a:ln>
                <a:solidFill>
                  <a:schemeClr val="tx1"/>
                </a:solidFill>
                <a:effectLst/>
              </a:rPr>
              <a:t>limitations</a:t>
            </a:r>
            <a:r>
              <a:rPr kumimoji="0" lang="it-IT" altLang="it-IT" sz="1100" b="1" i="0" u="none" strike="noStrike" cap="none" normalizeH="0" baseline="0" dirty="0">
                <a:ln>
                  <a:noFill/>
                </a:ln>
                <a:solidFill>
                  <a:schemeClr val="tx1"/>
                </a:solidFill>
                <a:effectLst/>
              </a:rPr>
              <a:t> of the </a:t>
            </a:r>
            <a:r>
              <a:rPr kumimoji="0" lang="it-IT" altLang="it-IT" sz="1100" b="1" i="0" u="none" strike="noStrike" cap="none" normalizeH="0" baseline="0" dirty="0" err="1">
                <a:ln>
                  <a:noFill/>
                </a:ln>
                <a:solidFill>
                  <a:schemeClr val="tx1"/>
                </a:solidFill>
                <a:effectLst/>
              </a:rPr>
              <a:t>results</a:t>
            </a:r>
            <a:br>
              <a:rPr kumimoji="0" lang="it-IT" altLang="it-IT" sz="1100" b="0" i="0" u="none" strike="noStrike" cap="none" normalizeH="0" baseline="0" dirty="0">
                <a:ln>
                  <a:noFill/>
                </a:ln>
                <a:solidFill>
                  <a:schemeClr val="tx1"/>
                </a:solidFill>
                <a:effectLst/>
              </a:rPr>
            </a:br>
            <a:r>
              <a:rPr kumimoji="0" lang="it-IT" altLang="it-IT" sz="1100" b="0" i="0" u="none" strike="noStrike" cap="none" normalizeH="0" baseline="0" dirty="0" err="1">
                <a:ln>
                  <a:noFill/>
                </a:ln>
                <a:solidFill>
                  <a:schemeClr val="tx1"/>
                </a:solidFill>
                <a:effectLst/>
              </a:rPr>
              <a:t>Discuss</a:t>
            </a:r>
            <a:r>
              <a:rPr kumimoji="0" lang="it-IT" altLang="it-IT" sz="1100" b="0" i="0" u="none" strike="noStrike" cap="none" normalizeH="0" baseline="0" dirty="0">
                <a:ln>
                  <a:noFill/>
                </a:ln>
                <a:solidFill>
                  <a:schemeClr val="tx1"/>
                </a:solidFill>
                <a:effectLst/>
              </a:rPr>
              <a:t> the </a:t>
            </a:r>
            <a:r>
              <a:rPr kumimoji="0" lang="it-IT" altLang="it-IT" sz="1100" b="0" i="0" u="none" strike="noStrike" cap="none" normalizeH="0" baseline="0" dirty="0" err="1">
                <a:ln>
                  <a:noFill/>
                </a:ln>
                <a:solidFill>
                  <a:schemeClr val="tx1"/>
                </a:solidFill>
                <a:effectLst/>
              </a:rPr>
              <a:t>effect</a:t>
            </a:r>
            <a:r>
              <a:rPr kumimoji="0" lang="it-IT" altLang="it-IT" sz="1100" b="0" i="0" u="none" strike="noStrike" cap="none" normalizeH="0" baseline="0" dirty="0">
                <a:ln>
                  <a:noFill/>
                </a:ln>
                <a:solidFill>
                  <a:schemeClr val="tx1"/>
                </a:solidFill>
                <a:effectLst/>
              </a:rPr>
              <a:t> of </a:t>
            </a:r>
            <a:r>
              <a:rPr kumimoji="0" lang="it-IT" altLang="it-IT" sz="1100" b="0" i="0" u="none" strike="noStrike" cap="none" normalizeH="0" baseline="0" dirty="0" err="1">
                <a:ln>
                  <a:noFill/>
                </a:ln>
                <a:solidFill>
                  <a:schemeClr val="tx1"/>
                </a:solidFill>
                <a:effectLst/>
              </a:rPr>
              <a:t>temporal</a:t>
            </a:r>
            <a:r>
              <a:rPr kumimoji="0" lang="it-IT" altLang="it-IT" sz="1100" b="0" i="0" u="none" strike="noStrike" cap="none" normalizeH="0" baseline="0" dirty="0">
                <a:ln>
                  <a:noFill/>
                </a:ln>
                <a:solidFill>
                  <a:schemeClr val="tx1"/>
                </a:solidFill>
                <a:effectLst/>
              </a:rPr>
              <a:t> gaps, </a:t>
            </a:r>
            <a:r>
              <a:rPr kumimoji="0" lang="it-IT" altLang="it-IT" sz="1100" b="0" i="0" u="none" strike="noStrike" cap="none" normalizeH="0" baseline="0" dirty="0" err="1">
                <a:ln>
                  <a:noFill/>
                </a:ln>
                <a:solidFill>
                  <a:schemeClr val="tx1"/>
                </a:solidFill>
                <a:effectLst/>
              </a:rPr>
              <a:t>irregular</a:t>
            </a:r>
            <a:r>
              <a:rPr kumimoji="0" lang="it-IT" altLang="it-IT" sz="1100" b="0" i="0" u="none" strike="noStrike" cap="none" normalizeH="0" baseline="0" dirty="0">
                <a:ln>
                  <a:noFill/>
                </a:ln>
                <a:solidFill>
                  <a:schemeClr val="tx1"/>
                </a:solidFill>
                <a:effectLst/>
              </a:rPr>
              <a:t> sampling, </a:t>
            </a:r>
            <a:r>
              <a:rPr kumimoji="0" lang="it-IT" altLang="it-IT" sz="1100" b="0" i="0" u="none" strike="noStrike" cap="none" normalizeH="0" baseline="0" dirty="0" err="1">
                <a:ln>
                  <a:noFill/>
                </a:ln>
                <a:solidFill>
                  <a:schemeClr val="tx1"/>
                </a:solidFill>
                <a:effectLst/>
              </a:rPr>
              <a:t>interpolation</a:t>
            </a:r>
            <a:r>
              <a:rPr kumimoji="0" lang="it-IT" altLang="it-IT" sz="1100" b="0" i="0" u="none" strike="noStrike" cap="none" normalizeH="0" baseline="0" dirty="0">
                <a:ln>
                  <a:noFill/>
                </a:ln>
                <a:solidFill>
                  <a:schemeClr val="tx1"/>
                </a:solidFill>
                <a:effectLst/>
              </a:rPr>
              <a:t> </a:t>
            </a:r>
            <a:r>
              <a:rPr kumimoji="0" lang="it-IT" altLang="it-IT" sz="1100" b="0" i="0" u="none" strike="noStrike" cap="none" normalizeH="0" baseline="0" dirty="0" err="1">
                <a:ln>
                  <a:noFill/>
                </a:ln>
                <a:solidFill>
                  <a:schemeClr val="tx1"/>
                </a:solidFill>
                <a:effectLst/>
              </a:rPr>
              <a:t>choices</a:t>
            </a:r>
            <a:r>
              <a:rPr kumimoji="0" lang="it-IT" altLang="it-IT" sz="1100" b="0" i="0" u="none" strike="noStrike" cap="none" normalizeH="0" baseline="0" dirty="0">
                <a:ln>
                  <a:noFill/>
                </a:ln>
                <a:solidFill>
                  <a:schemeClr val="tx1"/>
                </a:solidFill>
                <a:effectLst/>
              </a:rPr>
              <a:t>, </a:t>
            </a:r>
            <a:r>
              <a:rPr kumimoji="0" lang="it-IT" altLang="it-IT" sz="1100" b="0" i="0" u="none" strike="noStrike" cap="none" normalizeH="0" baseline="0" dirty="0" err="1">
                <a:ln>
                  <a:noFill/>
                </a:ln>
                <a:solidFill>
                  <a:schemeClr val="tx1"/>
                </a:solidFill>
                <a:effectLst/>
              </a:rPr>
              <a:t>timestamp</a:t>
            </a:r>
            <a:r>
              <a:rPr kumimoji="0" lang="it-IT" altLang="it-IT" sz="1100" b="0" i="0" u="none" strike="noStrike" cap="none" normalizeH="0" baseline="0" dirty="0">
                <a:ln>
                  <a:noFill/>
                </a:ln>
                <a:solidFill>
                  <a:schemeClr val="tx1"/>
                </a:solidFill>
                <a:effectLst/>
              </a:rPr>
              <a:t> </a:t>
            </a:r>
            <a:r>
              <a:rPr kumimoji="0" lang="it-IT" altLang="it-IT" sz="1100" b="0" i="0" u="none" strike="noStrike" cap="none" normalizeH="0" baseline="0" dirty="0" err="1">
                <a:ln>
                  <a:noFill/>
                </a:ln>
                <a:solidFill>
                  <a:schemeClr val="tx1"/>
                </a:solidFill>
                <a:effectLst/>
              </a:rPr>
              <a:t>alignment</a:t>
            </a:r>
            <a:r>
              <a:rPr kumimoji="0" lang="it-IT" altLang="it-IT" sz="1100" b="0" i="0" u="none" strike="noStrike" cap="none" normalizeH="0" baseline="0" dirty="0">
                <a:ln>
                  <a:noFill/>
                </a:ln>
                <a:solidFill>
                  <a:schemeClr val="tx1"/>
                </a:solidFill>
                <a:effectLst/>
              </a:rPr>
              <a:t>, and class </a:t>
            </a:r>
            <a:r>
              <a:rPr kumimoji="0" lang="it-IT" altLang="it-IT" sz="1100" b="0" i="0" u="none" strike="noStrike" cap="none" normalizeH="0" baseline="0" dirty="0" err="1">
                <a:ln>
                  <a:noFill/>
                </a:ln>
                <a:solidFill>
                  <a:schemeClr val="tx1"/>
                </a:solidFill>
                <a:effectLst/>
              </a:rPr>
              <a:t>imbalance</a:t>
            </a:r>
            <a:r>
              <a:rPr kumimoji="0" lang="it-IT" altLang="it-IT" sz="1100" b="0" i="0" u="none" strike="noStrike" cap="none" normalizeH="0" baseline="0" dirty="0">
                <a:ln>
                  <a:noFill/>
                </a:ln>
                <a:solidFill>
                  <a:schemeClr val="tx1"/>
                </a:solidFill>
                <a:effectLst/>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it-IT" altLang="it-IT" sz="1200"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it-IT" altLang="it-IT" sz="12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4197141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74">
          <a:extLst>
            <a:ext uri="{FF2B5EF4-FFF2-40B4-BE49-F238E27FC236}">
              <a16:creationId xmlns:a16="http://schemas.microsoft.com/office/drawing/2014/main" id="{61FEB215-7A04-3DB5-0D55-F063A90B096A}"/>
            </a:ext>
          </a:extLst>
        </p:cNvPr>
        <p:cNvGrpSpPr/>
        <p:nvPr/>
      </p:nvGrpSpPr>
      <p:grpSpPr>
        <a:xfrm>
          <a:off x="0" y="0"/>
          <a:ext cx="0" cy="0"/>
          <a:chOff x="0" y="0"/>
          <a:chExt cx="0" cy="0"/>
        </a:xfrm>
      </p:grpSpPr>
      <p:pic>
        <p:nvPicPr>
          <p:cNvPr id="50" name="Picture 49" descr="A black line on a white background&#10;&#10;AI-generated content may be incorrect.">
            <a:extLst>
              <a:ext uri="{FF2B5EF4-FFF2-40B4-BE49-F238E27FC236}">
                <a16:creationId xmlns:a16="http://schemas.microsoft.com/office/drawing/2014/main" id="{AF5FE875-EBE9-320B-DEB9-9FDBD9FD0820}"/>
              </a:ext>
            </a:extLst>
          </p:cNvPr>
          <p:cNvPicPr>
            <a:picLocks noChangeAspect="1"/>
          </p:cNvPicPr>
          <p:nvPr/>
        </p:nvPicPr>
        <p:blipFill>
          <a:blip r:embed="rId3">
            <a:alphaModFix amt="50000"/>
            <a:extLst>
              <a:ext uri="{28A0092B-C50C-407E-A947-70E740481C1C}">
                <a14:useLocalDpi xmlns:a14="http://schemas.microsoft.com/office/drawing/2010/main" val="0"/>
              </a:ext>
            </a:extLst>
          </a:blip>
          <a:srcRect l="12585" r="45882" b="12907"/>
          <a:stretch>
            <a:fillRect/>
          </a:stretch>
        </p:blipFill>
        <p:spPr>
          <a:xfrm>
            <a:off x="303954" y="1291205"/>
            <a:ext cx="1267789" cy="2363104"/>
          </a:xfrm>
          <a:prstGeom prst="rect">
            <a:avLst/>
          </a:prstGeom>
        </p:spPr>
      </p:pic>
      <p:sp>
        <p:nvSpPr>
          <p:cNvPr id="3" name="TextBox 2">
            <a:extLst>
              <a:ext uri="{FF2B5EF4-FFF2-40B4-BE49-F238E27FC236}">
                <a16:creationId xmlns:a16="http://schemas.microsoft.com/office/drawing/2014/main" id="{CC8A2EA6-BFCF-5494-7B36-428163A97D38}"/>
              </a:ext>
            </a:extLst>
          </p:cNvPr>
          <p:cNvSpPr txBox="1"/>
          <p:nvPr/>
        </p:nvSpPr>
        <p:spPr>
          <a:xfrm>
            <a:off x="360456" y="1051535"/>
            <a:ext cx="3890488" cy="647228"/>
          </a:xfrm>
          <a:prstGeom prst="rect">
            <a:avLst/>
          </a:prstGeom>
          <a:noFill/>
        </p:spPr>
        <p:txBody>
          <a:bodyPr wrap="square">
            <a:spAutoFit/>
          </a:bodyPr>
          <a:lstStyle/>
          <a:p>
            <a:pPr lvl="0" algn="just">
              <a:lnSpc>
                <a:spcPct val="90000"/>
              </a:lnSpc>
            </a:pPr>
            <a:r>
              <a:rPr lang="en-US" sz="1000" dirty="0"/>
              <a:t>This diagram illustrates a </a:t>
            </a:r>
            <a:r>
              <a:rPr lang="en-US" sz="1000" b="1" dirty="0"/>
              <a:t>grid-based PIR and environmental sensor deployment strategy</a:t>
            </a:r>
            <a:r>
              <a:rPr lang="en-US" sz="1000" dirty="0"/>
              <a:t> for the </a:t>
            </a:r>
            <a:r>
              <a:rPr lang="en-US" sz="1000" i="1" dirty="0"/>
              <a:t>Samen </a:t>
            </a:r>
            <a:r>
              <a:rPr lang="en-US" sz="1000" i="1" dirty="0" err="1"/>
              <a:t>Werken</a:t>
            </a:r>
            <a:r>
              <a:rPr lang="en-US" sz="1000" dirty="0"/>
              <a:t> open-plan office (8.9 m × 4.9 m), designed to support accurate occupancy detection and indoor air quality (IAQ) monitoring.</a:t>
            </a:r>
          </a:p>
        </p:txBody>
      </p:sp>
      <p:pic>
        <p:nvPicPr>
          <p:cNvPr id="12" name="Picture 11" descr="A blueprint of a room&#10;&#10;AI-generated content may be incorrect.">
            <a:extLst>
              <a:ext uri="{FF2B5EF4-FFF2-40B4-BE49-F238E27FC236}">
                <a16:creationId xmlns:a16="http://schemas.microsoft.com/office/drawing/2014/main" id="{D6330166-56A7-E3FB-4CD6-0D759A814A90}"/>
              </a:ext>
            </a:extLst>
          </p:cNvPr>
          <p:cNvPicPr>
            <a:picLocks noChangeAspect="1"/>
          </p:cNvPicPr>
          <p:nvPr/>
        </p:nvPicPr>
        <p:blipFill>
          <a:blip r:embed="rId4">
            <a:extLst>
              <a:ext uri="{28A0092B-C50C-407E-A947-70E740481C1C}">
                <a14:useLocalDpi xmlns:a14="http://schemas.microsoft.com/office/drawing/2010/main" val="0"/>
              </a:ext>
            </a:extLst>
          </a:blip>
          <a:srcRect t="-1" b="1576"/>
          <a:stretch>
            <a:fillRect/>
          </a:stretch>
        </p:blipFill>
        <p:spPr>
          <a:xfrm>
            <a:off x="5887981" y="526295"/>
            <a:ext cx="5264434" cy="4093832"/>
          </a:xfrm>
          <a:prstGeom prst="rect">
            <a:avLst/>
          </a:prstGeom>
        </p:spPr>
      </p:pic>
      <p:cxnSp>
        <p:nvCxnSpPr>
          <p:cNvPr id="40" name="Google Shape;377;p20">
            <a:extLst>
              <a:ext uri="{FF2B5EF4-FFF2-40B4-BE49-F238E27FC236}">
                <a16:creationId xmlns:a16="http://schemas.microsoft.com/office/drawing/2014/main" id="{12856457-E37D-E47C-B7BD-2437DF597FFD}"/>
              </a:ext>
            </a:extLst>
          </p:cNvPr>
          <p:cNvCxnSpPr>
            <a:cxnSpLocks/>
          </p:cNvCxnSpPr>
          <p:nvPr/>
        </p:nvCxnSpPr>
        <p:spPr>
          <a:xfrm>
            <a:off x="5522763" y="792073"/>
            <a:ext cx="0" cy="4221471"/>
          </a:xfrm>
          <a:prstGeom prst="straightConnector1">
            <a:avLst/>
          </a:prstGeom>
          <a:noFill/>
          <a:ln w="19050" cap="flat" cmpd="sng">
            <a:solidFill>
              <a:schemeClr val="accent4"/>
            </a:solidFill>
            <a:prstDash val="dash"/>
            <a:round/>
            <a:headEnd type="none" w="sm" len="sm"/>
            <a:tailEnd type="none" w="sm" len="sm"/>
          </a:ln>
        </p:spPr>
      </p:cxnSp>
      <p:sp>
        <p:nvSpPr>
          <p:cNvPr id="14" name="Oval 13">
            <a:extLst>
              <a:ext uri="{FF2B5EF4-FFF2-40B4-BE49-F238E27FC236}">
                <a16:creationId xmlns:a16="http://schemas.microsoft.com/office/drawing/2014/main" id="{9157A8E5-3694-4DAE-0E7A-F7B6BF5D8ABF}"/>
              </a:ext>
            </a:extLst>
          </p:cNvPr>
          <p:cNvSpPr/>
          <p:nvPr/>
        </p:nvSpPr>
        <p:spPr>
          <a:xfrm>
            <a:off x="9742516" y="1114698"/>
            <a:ext cx="87284" cy="86492"/>
          </a:xfrm>
          <a:prstGeom prst="ellipse">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dirty="0"/>
          </a:p>
        </p:txBody>
      </p:sp>
      <p:sp>
        <p:nvSpPr>
          <p:cNvPr id="15" name="Oval 14">
            <a:extLst>
              <a:ext uri="{FF2B5EF4-FFF2-40B4-BE49-F238E27FC236}">
                <a16:creationId xmlns:a16="http://schemas.microsoft.com/office/drawing/2014/main" id="{B3295CE7-23EA-B2F2-686A-949716A07A22}"/>
              </a:ext>
            </a:extLst>
          </p:cNvPr>
          <p:cNvSpPr/>
          <p:nvPr/>
        </p:nvSpPr>
        <p:spPr>
          <a:xfrm>
            <a:off x="9742516" y="2050088"/>
            <a:ext cx="87284" cy="86492"/>
          </a:xfrm>
          <a:prstGeom prst="ellipse">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dirty="0"/>
          </a:p>
        </p:txBody>
      </p:sp>
      <p:sp>
        <p:nvSpPr>
          <p:cNvPr id="16" name="Oval 15">
            <a:extLst>
              <a:ext uri="{FF2B5EF4-FFF2-40B4-BE49-F238E27FC236}">
                <a16:creationId xmlns:a16="http://schemas.microsoft.com/office/drawing/2014/main" id="{8D7E84D5-A1CC-A8E5-52AD-8087F1F42B8B}"/>
              </a:ext>
            </a:extLst>
          </p:cNvPr>
          <p:cNvSpPr/>
          <p:nvPr/>
        </p:nvSpPr>
        <p:spPr>
          <a:xfrm>
            <a:off x="9150784" y="1670265"/>
            <a:ext cx="87284" cy="86492"/>
          </a:xfrm>
          <a:prstGeom prst="ellipse">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dirty="0"/>
          </a:p>
        </p:txBody>
      </p:sp>
      <p:sp>
        <p:nvSpPr>
          <p:cNvPr id="17" name="Oval 16">
            <a:extLst>
              <a:ext uri="{FF2B5EF4-FFF2-40B4-BE49-F238E27FC236}">
                <a16:creationId xmlns:a16="http://schemas.microsoft.com/office/drawing/2014/main" id="{6CBC55A5-4535-9F32-6004-596EEFE11804}"/>
              </a:ext>
            </a:extLst>
          </p:cNvPr>
          <p:cNvSpPr/>
          <p:nvPr/>
        </p:nvSpPr>
        <p:spPr>
          <a:xfrm>
            <a:off x="9150784" y="2605655"/>
            <a:ext cx="87284" cy="86492"/>
          </a:xfrm>
          <a:prstGeom prst="ellipse">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dirty="0"/>
          </a:p>
        </p:txBody>
      </p:sp>
      <p:sp>
        <p:nvSpPr>
          <p:cNvPr id="18" name="Oval 17">
            <a:extLst>
              <a:ext uri="{FF2B5EF4-FFF2-40B4-BE49-F238E27FC236}">
                <a16:creationId xmlns:a16="http://schemas.microsoft.com/office/drawing/2014/main" id="{38544FA4-F718-CBA0-966B-A1A8EB5268D9}"/>
              </a:ext>
            </a:extLst>
          </p:cNvPr>
          <p:cNvSpPr/>
          <p:nvPr/>
        </p:nvSpPr>
        <p:spPr>
          <a:xfrm>
            <a:off x="7809388" y="1114698"/>
            <a:ext cx="87284" cy="86492"/>
          </a:xfrm>
          <a:prstGeom prst="ellipse">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dirty="0"/>
          </a:p>
        </p:txBody>
      </p:sp>
      <p:sp>
        <p:nvSpPr>
          <p:cNvPr id="19" name="Oval 18">
            <a:extLst>
              <a:ext uri="{FF2B5EF4-FFF2-40B4-BE49-F238E27FC236}">
                <a16:creationId xmlns:a16="http://schemas.microsoft.com/office/drawing/2014/main" id="{7C82570B-A912-0490-1987-95469B52CA37}"/>
              </a:ext>
            </a:extLst>
          </p:cNvPr>
          <p:cNvSpPr/>
          <p:nvPr/>
        </p:nvSpPr>
        <p:spPr>
          <a:xfrm>
            <a:off x="7809388" y="2050088"/>
            <a:ext cx="87284" cy="86492"/>
          </a:xfrm>
          <a:prstGeom prst="ellipse">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dirty="0"/>
          </a:p>
        </p:txBody>
      </p:sp>
      <p:sp>
        <p:nvSpPr>
          <p:cNvPr id="20" name="Oval 19">
            <a:extLst>
              <a:ext uri="{FF2B5EF4-FFF2-40B4-BE49-F238E27FC236}">
                <a16:creationId xmlns:a16="http://schemas.microsoft.com/office/drawing/2014/main" id="{880C5072-F49A-CA2E-1B57-6A7ED1BB706D}"/>
              </a:ext>
            </a:extLst>
          </p:cNvPr>
          <p:cNvSpPr/>
          <p:nvPr/>
        </p:nvSpPr>
        <p:spPr>
          <a:xfrm>
            <a:off x="7217656" y="1670265"/>
            <a:ext cx="87284" cy="86492"/>
          </a:xfrm>
          <a:prstGeom prst="ellipse">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dirty="0"/>
          </a:p>
        </p:txBody>
      </p:sp>
      <p:sp>
        <p:nvSpPr>
          <p:cNvPr id="21" name="Oval 20">
            <a:extLst>
              <a:ext uri="{FF2B5EF4-FFF2-40B4-BE49-F238E27FC236}">
                <a16:creationId xmlns:a16="http://schemas.microsoft.com/office/drawing/2014/main" id="{CDDF07BD-D3D2-FBB0-AE12-E1371F721B33}"/>
              </a:ext>
            </a:extLst>
          </p:cNvPr>
          <p:cNvSpPr/>
          <p:nvPr/>
        </p:nvSpPr>
        <p:spPr>
          <a:xfrm>
            <a:off x="7217656" y="2605655"/>
            <a:ext cx="87284" cy="86492"/>
          </a:xfrm>
          <a:prstGeom prst="ellipse">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dirty="0"/>
          </a:p>
        </p:txBody>
      </p:sp>
      <p:pic>
        <p:nvPicPr>
          <p:cNvPr id="23" name="Picture 22" descr="A drawing of a pipe&#10;&#10;AI-generated content may be incorrect.">
            <a:extLst>
              <a:ext uri="{FF2B5EF4-FFF2-40B4-BE49-F238E27FC236}">
                <a16:creationId xmlns:a16="http://schemas.microsoft.com/office/drawing/2014/main" id="{E28C237E-D19E-DC92-7B0B-CB38F83A2BF4}"/>
              </a:ext>
            </a:extLst>
          </p:cNvPr>
          <p:cNvPicPr>
            <a:picLocks noGrp="1" noRot="1" noChangeAspect="1" noMove="1" noResize="1" noEditPoints="1" noAdjustHandles="1" noChangeArrowheads="1" noChangeShapeType="1" noCrop="1"/>
          </p:cNvPicPr>
          <p:nvPr/>
        </p:nvPicPr>
        <p:blipFill>
          <a:blip r:embed="rId5">
            <a:alphaModFix amt="50000"/>
            <a:extLst>
              <a:ext uri="{28A0092B-C50C-407E-A947-70E740481C1C}">
                <a14:useLocalDpi xmlns:a14="http://schemas.microsoft.com/office/drawing/2010/main" val="0"/>
              </a:ext>
            </a:extLst>
          </a:blip>
          <a:srcRect t="10457"/>
          <a:stretch>
            <a:fillRect/>
          </a:stretch>
        </p:blipFill>
        <p:spPr>
          <a:xfrm>
            <a:off x="431178" y="3867764"/>
            <a:ext cx="1875945" cy="2291561"/>
          </a:xfrm>
          <a:prstGeom prst="rect">
            <a:avLst/>
          </a:prstGeom>
        </p:spPr>
      </p:pic>
      <p:cxnSp>
        <p:nvCxnSpPr>
          <p:cNvPr id="26" name="Google Shape;377;p20">
            <a:extLst>
              <a:ext uri="{FF2B5EF4-FFF2-40B4-BE49-F238E27FC236}">
                <a16:creationId xmlns:a16="http://schemas.microsoft.com/office/drawing/2014/main" id="{30B0773E-C24C-A682-2579-A451D693625A}"/>
              </a:ext>
            </a:extLst>
          </p:cNvPr>
          <p:cNvCxnSpPr>
            <a:cxnSpLocks/>
          </p:cNvCxnSpPr>
          <p:nvPr/>
        </p:nvCxnSpPr>
        <p:spPr>
          <a:xfrm flipH="1">
            <a:off x="394009" y="3763873"/>
            <a:ext cx="2112813" cy="0"/>
          </a:xfrm>
          <a:prstGeom prst="straightConnector1">
            <a:avLst/>
          </a:prstGeom>
          <a:noFill/>
          <a:ln w="19050" cap="flat" cmpd="sng">
            <a:solidFill>
              <a:schemeClr val="accent4"/>
            </a:solidFill>
            <a:prstDash val="dash"/>
            <a:round/>
            <a:headEnd type="none" w="sm" len="sm"/>
            <a:tailEnd type="none" w="sm" len="sm"/>
          </a:ln>
        </p:spPr>
      </p:cxnSp>
      <p:sp>
        <p:nvSpPr>
          <p:cNvPr id="28" name="Oval 27">
            <a:extLst>
              <a:ext uri="{FF2B5EF4-FFF2-40B4-BE49-F238E27FC236}">
                <a16:creationId xmlns:a16="http://schemas.microsoft.com/office/drawing/2014/main" id="{9B970F2D-DA1D-08B0-EE06-32E141C76838}"/>
              </a:ext>
            </a:extLst>
          </p:cNvPr>
          <p:cNvSpPr/>
          <p:nvPr/>
        </p:nvSpPr>
        <p:spPr>
          <a:xfrm>
            <a:off x="1039585" y="4102772"/>
            <a:ext cx="143599" cy="132619"/>
          </a:xfrm>
          <a:prstGeom prst="ellipse">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dirty="0"/>
          </a:p>
        </p:txBody>
      </p:sp>
      <p:grpSp>
        <p:nvGrpSpPr>
          <p:cNvPr id="54" name="Group 53">
            <a:extLst>
              <a:ext uri="{FF2B5EF4-FFF2-40B4-BE49-F238E27FC236}">
                <a16:creationId xmlns:a16="http://schemas.microsoft.com/office/drawing/2014/main" id="{33F287E0-0FBB-8835-123E-D578D67EDE7E}"/>
              </a:ext>
            </a:extLst>
          </p:cNvPr>
          <p:cNvGrpSpPr/>
          <p:nvPr/>
        </p:nvGrpSpPr>
        <p:grpSpPr>
          <a:xfrm>
            <a:off x="1039586" y="4289128"/>
            <a:ext cx="532158" cy="271742"/>
            <a:chOff x="1039586" y="4289128"/>
            <a:chExt cx="532158" cy="271742"/>
          </a:xfrm>
        </p:grpSpPr>
        <p:cxnSp>
          <p:nvCxnSpPr>
            <p:cNvPr id="30" name="Straight Connector 29">
              <a:extLst>
                <a:ext uri="{FF2B5EF4-FFF2-40B4-BE49-F238E27FC236}">
                  <a16:creationId xmlns:a16="http://schemas.microsoft.com/office/drawing/2014/main" id="{3849743C-C179-4A52-DC06-17D7BC24C3A1}"/>
                </a:ext>
              </a:extLst>
            </p:cNvPr>
            <p:cNvCxnSpPr>
              <a:cxnSpLocks/>
            </p:cNvCxnSpPr>
            <p:nvPr/>
          </p:nvCxnSpPr>
          <p:spPr>
            <a:xfrm>
              <a:off x="1114433" y="4330778"/>
              <a:ext cx="419210" cy="0"/>
            </a:xfrm>
            <a:prstGeom prst="line">
              <a:avLst/>
            </a:prstGeom>
            <a:ln w="12700">
              <a:solidFill>
                <a:schemeClr val="tx2">
                  <a:lumMod val="50000"/>
                  <a:lumOff val="50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C467C6C3-C57F-CF74-F2C5-4DCA610199DA}"/>
                </a:ext>
              </a:extLst>
            </p:cNvPr>
            <p:cNvCxnSpPr>
              <a:cxnSpLocks/>
            </p:cNvCxnSpPr>
            <p:nvPr/>
          </p:nvCxnSpPr>
          <p:spPr>
            <a:xfrm flipH="1">
              <a:off x="1503168" y="4289128"/>
              <a:ext cx="30475" cy="95387"/>
            </a:xfrm>
            <a:prstGeom prst="line">
              <a:avLst/>
            </a:prstGeom>
            <a:ln w="6350">
              <a:solidFill>
                <a:schemeClr val="tx2">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185875EB-E5D8-52A2-ED17-1846DE32C36B}"/>
                </a:ext>
              </a:extLst>
            </p:cNvPr>
            <p:cNvCxnSpPr>
              <a:cxnSpLocks/>
            </p:cNvCxnSpPr>
            <p:nvPr/>
          </p:nvCxnSpPr>
          <p:spPr>
            <a:xfrm flipH="1">
              <a:off x="1099195" y="4289128"/>
              <a:ext cx="30475" cy="95387"/>
            </a:xfrm>
            <a:prstGeom prst="line">
              <a:avLst/>
            </a:prstGeom>
            <a:ln w="6350">
              <a:solidFill>
                <a:schemeClr val="tx2">
                  <a:lumMod val="50000"/>
                  <a:lumOff val="50000"/>
                </a:schemeClr>
              </a:solidFill>
            </a:ln>
          </p:spPr>
          <p:style>
            <a:lnRef idx="2">
              <a:schemeClr val="accent1"/>
            </a:lnRef>
            <a:fillRef idx="0">
              <a:schemeClr val="accent1"/>
            </a:fillRef>
            <a:effectRef idx="1">
              <a:schemeClr val="accent1"/>
            </a:effectRef>
            <a:fontRef idx="minor">
              <a:schemeClr val="tx1"/>
            </a:fontRef>
          </p:style>
        </p:cxnSp>
        <p:sp>
          <p:nvSpPr>
            <p:cNvPr id="36" name="TextBox 35">
              <a:extLst>
                <a:ext uri="{FF2B5EF4-FFF2-40B4-BE49-F238E27FC236}">
                  <a16:creationId xmlns:a16="http://schemas.microsoft.com/office/drawing/2014/main" id="{79C431F3-D625-8E8B-7C86-4D22131BC76C}"/>
                </a:ext>
              </a:extLst>
            </p:cNvPr>
            <p:cNvSpPr txBox="1"/>
            <p:nvPr/>
          </p:nvSpPr>
          <p:spPr>
            <a:xfrm>
              <a:off x="1039586" y="4329140"/>
              <a:ext cx="532158" cy="231730"/>
            </a:xfrm>
            <a:prstGeom prst="rect">
              <a:avLst/>
            </a:prstGeom>
            <a:noFill/>
          </p:spPr>
          <p:txBody>
            <a:bodyPr wrap="square">
              <a:spAutoFit/>
            </a:bodyPr>
            <a:lstStyle/>
            <a:p>
              <a:pPr lvl="0" algn="just">
                <a:lnSpc>
                  <a:spcPct val="90000"/>
                </a:lnSpc>
              </a:pPr>
              <a:r>
                <a:rPr lang="en-US" sz="1000" dirty="0">
                  <a:solidFill>
                    <a:schemeClr val="tx2">
                      <a:lumMod val="50000"/>
                      <a:lumOff val="50000"/>
                    </a:schemeClr>
                  </a:solidFill>
                </a:rPr>
                <a:t>30 cm</a:t>
              </a:r>
              <a:endParaRPr lang="en-US" sz="1000" b="1" dirty="0">
                <a:solidFill>
                  <a:schemeClr val="tx2">
                    <a:lumMod val="50000"/>
                    <a:lumOff val="50000"/>
                  </a:schemeClr>
                </a:solidFill>
              </a:endParaRPr>
            </a:p>
          </p:txBody>
        </p:sp>
      </p:grpSp>
      <p:sp>
        <p:nvSpPr>
          <p:cNvPr id="37" name="Oval 36">
            <a:extLst>
              <a:ext uri="{FF2B5EF4-FFF2-40B4-BE49-F238E27FC236}">
                <a16:creationId xmlns:a16="http://schemas.microsoft.com/office/drawing/2014/main" id="{14FE1ADB-AC1C-800B-F857-9A5B9F0010F1}"/>
              </a:ext>
            </a:extLst>
          </p:cNvPr>
          <p:cNvSpPr/>
          <p:nvPr/>
        </p:nvSpPr>
        <p:spPr>
          <a:xfrm>
            <a:off x="985909" y="2406946"/>
            <a:ext cx="143761" cy="132769"/>
          </a:xfrm>
          <a:prstGeom prst="ellipse">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dirty="0"/>
          </a:p>
        </p:txBody>
      </p:sp>
      <p:pic>
        <p:nvPicPr>
          <p:cNvPr id="25" name="Picture 24">
            <a:extLst>
              <a:ext uri="{FF2B5EF4-FFF2-40B4-BE49-F238E27FC236}">
                <a16:creationId xmlns:a16="http://schemas.microsoft.com/office/drawing/2014/main" id="{9F60C0E0-D175-8C99-2136-194623951251}"/>
              </a:ext>
            </a:extLst>
          </p:cNvPr>
          <p:cNvPicPr>
            <a:picLocks noGrp="1" noRot="1" noChangeAspect="1" noMove="1" noResize="1" noEditPoints="1" noAdjustHandles="1" noChangeArrowheads="1" noChangeShapeType="1" noCrop="1"/>
          </p:cNvPicPr>
          <p:nvPr/>
        </p:nvPicPr>
        <p:blipFill>
          <a:blip r:embed="rId6">
            <a:alphaModFix amt="70000"/>
            <a:extLst>
              <a:ext uri="{28A0092B-C50C-407E-A947-70E740481C1C}">
                <a14:useLocalDpi xmlns:a14="http://schemas.microsoft.com/office/drawing/2010/main" val="0"/>
              </a:ext>
            </a:extLst>
          </a:blip>
          <a:srcRect l="11437" r="11437"/>
          <a:stretch/>
        </p:blipFill>
        <p:spPr>
          <a:xfrm>
            <a:off x="381273" y="1848741"/>
            <a:ext cx="1980923" cy="1980923"/>
          </a:xfrm>
          <a:prstGeom prst="rect">
            <a:avLst/>
          </a:prstGeom>
        </p:spPr>
      </p:pic>
      <p:grpSp>
        <p:nvGrpSpPr>
          <p:cNvPr id="55" name="Group 54">
            <a:extLst>
              <a:ext uri="{FF2B5EF4-FFF2-40B4-BE49-F238E27FC236}">
                <a16:creationId xmlns:a16="http://schemas.microsoft.com/office/drawing/2014/main" id="{59002746-06CD-F554-E8A5-3CABD56CA267}"/>
              </a:ext>
            </a:extLst>
          </p:cNvPr>
          <p:cNvGrpSpPr>
            <a:grpSpLocks/>
          </p:cNvGrpSpPr>
          <p:nvPr/>
        </p:nvGrpSpPr>
        <p:grpSpPr>
          <a:xfrm>
            <a:off x="1066126" y="2437340"/>
            <a:ext cx="532158" cy="271742"/>
            <a:chOff x="1039586" y="4289128"/>
            <a:chExt cx="532158" cy="271742"/>
          </a:xfrm>
        </p:grpSpPr>
        <p:cxnSp>
          <p:nvCxnSpPr>
            <p:cNvPr id="56" name="Straight Connector 55">
              <a:extLst>
                <a:ext uri="{FF2B5EF4-FFF2-40B4-BE49-F238E27FC236}">
                  <a16:creationId xmlns:a16="http://schemas.microsoft.com/office/drawing/2014/main" id="{401BF33F-FD32-E4C5-048F-971031722D21}"/>
                </a:ext>
              </a:extLst>
            </p:cNvPr>
            <p:cNvCxnSpPr>
              <a:cxnSpLocks/>
            </p:cNvCxnSpPr>
            <p:nvPr/>
          </p:nvCxnSpPr>
          <p:spPr>
            <a:xfrm>
              <a:off x="1114433" y="4330778"/>
              <a:ext cx="419210" cy="0"/>
            </a:xfrm>
            <a:prstGeom prst="line">
              <a:avLst/>
            </a:prstGeom>
            <a:ln w="12700">
              <a:solidFill>
                <a:schemeClr val="tx2">
                  <a:lumMod val="50000"/>
                  <a:lumOff val="50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57" name="Straight Connector 56">
              <a:extLst>
                <a:ext uri="{FF2B5EF4-FFF2-40B4-BE49-F238E27FC236}">
                  <a16:creationId xmlns:a16="http://schemas.microsoft.com/office/drawing/2014/main" id="{B42FD238-E6C4-C68F-0C5D-14D262EBEE66}"/>
                </a:ext>
              </a:extLst>
            </p:cNvPr>
            <p:cNvCxnSpPr>
              <a:cxnSpLocks/>
            </p:cNvCxnSpPr>
            <p:nvPr/>
          </p:nvCxnSpPr>
          <p:spPr>
            <a:xfrm flipH="1">
              <a:off x="1503168" y="4289128"/>
              <a:ext cx="30475" cy="95387"/>
            </a:xfrm>
            <a:prstGeom prst="line">
              <a:avLst/>
            </a:prstGeom>
            <a:ln w="6350">
              <a:solidFill>
                <a:schemeClr val="tx2">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58" name="Straight Connector 57">
              <a:extLst>
                <a:ext uri="{FF2B5EF4-FFF2-40B4-BE49-F238E27FC236}">
                  <a16:creationId xmlns:a16="http://schemas.microsoft.com/office/drawing/2014/main" id="{D963561C-D8CA-ACBD-0900-C187AEE24DD6}"/>
                </a:ext>
              </a:extLst>
            </p:cNvPr>
            <p:cNvCxnSpPr>
              <a:cxnSpLocks/>
            </p:cNvCxnSpPr>
            <p:nvPr/>
          </p:nvCxnSpPr>
          <p:spPr>
            <a:xfrm flipH="1">
              <a:off x="1099195" y="4289128"/>
              <a:ext cx="30475" cy="95387"/>
            </a:xfrm>
            <a:prstGeom prst="line">
              <a:avLst/>
            </a:prstGeom>
            <a:ln w="6350">
              <a:solidFill>
                <a:schemeClr val="tx2">
                  <a:lumMod val="50000"/>
                  <a:lumOff val="50000"/>
                </a:schemeClr>
              </a:solidFill>
            </a:ln>
          </p:spPr>
          <p:style>
            <a:lnRef idx="2">
              <a:schemeClr val="accent1"/>
            </a:lnRef>
            <a:fillRef idx="0">
              <a:schemeClr val="accent1"/>
            </a:fillRef>
            <a:effectRef idx="1">
              <a:schemeClr val="accent1"/>
            </a:effectRef>
            <a:fontRef idx="minor">
              <a:schemeClr val="tx1"/>
            </a:fontRef>
          </p:style>
        </p:cxnSp>
        <p:sp>
          <p:nvSpPr>
            <p:cNvPr id="59" name="TextBox 58">
              <a:extLst>
                <a:ext uri="{FF2B5EF4-FFF2-40B4-BE49-F238E27FC236}">
                  <a16:creationId xmlns:a16="http://schemas.microsoft.com/office/drawing/2014/main" id="{3905B2B8-048C-D96A-D2AA-3D52D0F969EF}"/>
                </a:ext>
              </a:extLst>
            </p:cNvPr>
            <p:cNvSpPr txBox="1">
              <a:spLocks/>
            </p:cNvSpPr>
            <p:nvPr/>
          </p:nvSpPr>
          <p:spPr>
            <a:xfrm>
              <a:off x="1039586" y="4329140"/>
              <a:ext cx="532158" cy="231730"/>
            </a:xfrm>
            <a:prstGeom prst="rect">
              <a:avLst/>
            </a:prstGeom>
            <a:noFill/>
          </p:spPr>
          <p:txBody>
            <a:bodyPr wrap="square">
              <a:spAutoFit/>
            </a:bodyPr>
            <a:lstStyle/>
            <a:p>
              <a:pPr lvl="0" algn="just">
                <a:lnSpc>
                  <a:spcPct val="90000"/>
                </a:lnSpc>
              </a:pPr>
              <a:r>
                <a:rPr lang="en-US" sz="1000" dirty="0">
                  <a:solidFill>
                    <a:schemeClr val="tx2">
                      <a:lumMod val="50000"/>
                      <a:lumOff val="50000"/>
                    </a:schemeClr>
                  </a:solidFill>
                </a:rPr>
                <a:t>30 cm</a:t>
              </a:r>
              <a:endParaRPr lang="en-US" sz="1000" b="1" dirty="0">
                <a:solidFill>
                  <a:schemeClr val="tx2">
                    <a:lumMod val="50000"/>
                    <a:lumOff val="50000"/>
                  </a:schemeClr>
                </a:solidFill>
              </a:endParaRPr>
            </a:p>
          </p:txBody>
        </p:sp>
      </p:grpSp>
      <p:sp>
        <p:nvSpPr>
          <p:cNvPr id="2" name="TextBox 1">
            <a:extLst>
              <a:ext uri="{FF2B5EF4-FFF2-40B4-BE49-F238E27FC236}">
                <a16:creationId xmlns:a16="http://schemas.microsoft.com/office/drawing/2014/main" id="{2D58F88E-3D45-9B28-9570-ED293EF78EF6}"/>
              </a:ext>
            </a:extLst>
          </p:cNvPr>
          <p:cNvSpPr txBox="1">
            <a:spLocks/>
          </p:cNvSpPr>
          <p:nvPr/>
        </p:nvSpPr>
        <p:spPr>
          <a:xfrm>
            <a:off x="1929222" y="3755809"/>
            <a:ext cx="754405" cy="231730"/>
          </a:xfrm>
          <a:prstGeom prst="rect">
            <a:avLst/>
          </a:prstGeom>
          <a:noFill/>
        </p:spPr>
        <p:txBody>
          <a:bodyPr wrap="square">
            <a:spAutoFit/>
          </a:bodyPr>
          <a:lstStyle/>
          <a:p>
            <a:pPr lvl="0" algn="just">
              <a:lnSpc>
                <a:spcPct val="90000"/>
              </a:lnSpc>
            </a:pPr>
            <a:r>
              <a:rPr lang="en-US" sz="1000" i="1" dirty="0">
                <a:solidFill>
                  <a:schemeClr val="bg2">
                    <a:lumMod val="75000"/>
                  </a:schemeClr>
                </a:solidFill>
              </a:rPr>
              <a:t>Top View</a:t>
            </a:r>
          </a:p>
        </p:txBody>
      </p:sp>
      <p:sp>
        <p:nvSpPr>
          <p:cNvPr id="4" name="TextBox 3">
            <a:extLst>
              <a:ext uri="{FF2B5EF4-FFF2-40B4-BE49-F238E27FC236}">
                <a16:creationId xmlns:a16="http://schemas.microsoft.com/office/drawing/2014/main" id="{D2ADCF41-C945-C149-03E2-EB9C4CB04856}"/>
              </a:ext>
            </a:extLst>
          </p:cNvPr>
          <p:cNvSpPr txBox="1">
            <a:spLocks/>
          </p:cNvSpPr>
          <p:nvPr/>
        </p:nvSpPr>
        <p:spPr>
          <a:xfrm>
            <a:off x="1917950" y="3532143"/>
            <a:ext cx="754405" cy="231730"/>
          </a:xfrm>
          <a:prstGeom prst="rect">
            <a:avLst/>
          </a:prstGeom>
          <a:noFill/>
        </p:spPr>
        <p:txBody>
          <a:bodyPr wrap="square">
            <a:spAutoFit/>
          </a:bodyPr>
          <a:lstStyle/>
          <a:p>
            <a:pPr lvl="0" algn="just">
              <a:lnSpc>
                <a:spcPct val="90000"/>
              </a:lnSpc>
            </a:pPr>
            <a:r>
              <a:rPr lang="en-US" sz="1000" i="1" dirty="0">
                <a:solidFill>
                  <a:schemeClr val="bg2">
                    <a:lumMod val="75000"/>
                  </a:schemeClr>
                </a:solidFill>
              </a:rPr>
              <a:t>Side View</a:t>
            </a:r>
          </a:p>
        </p:txBody>
      </p:sp>
      <p:cxnSp>
        <p:nvCxnSpPr>
          <p:cNvPr id="8" name="Straight Connector 7">
            <a:extLst>
              <a:ext uri="{FF2B5EF4-FFF2-40B4-BE49-F238E27FC236}">
                <a16:creationId xmlns:a16="http://schemas.microsoft.com/office/drawing/2014/main" id="{FB9944E0-4979-550E-2CA2-62836EFCF3D9}"/>
              </a:ext>
            </a:extLst>
          </p:cNvPr>
          <p:cNvCxnSpPr>
            <a:cxnSpLocks/>
          </p:cNvCxnSpPr>
          <p:nvPr/>
        </p:nvCxnSpPr>
        <p:spPr>
          <a:xfrm>
            <a:off x="7259548" y="2688566"/>
            <a:ext cx="0" cy="1060294"/>
          </a:xfrm>
          <a:prstGeom prst="line">
            <a:avLst/>
          </a:prstGeom>
          <a:ln w="6350">
            <a:solidFill>
              <a:schemeClr val="tx2">
                <a:lumMod val="50000"/>
                <a:lumOff val="50000"/>
              </a:schemeClr>
            </a:solidFill>
          </a:ln>
        </p:spPr>
        <p:style>
          <a:lnRef idx="2">
            <a:schemeClr val="accent1"/>
          </a:lnRef>
          <a:fillRef idx="0">
            <a:schemeClr val="accent1"/>
          </a:fillRef>
          <a:effectRef idx="1">
            <a:schemeClr val="accent1"/>
          </a:effectRef>
          <a:fontRef idx="minor">
            <a:schemeClr val="tx1"/>
          </a:fontRef>
        </p:style>
      </p:cxnSp>
      <p:sp>
        <p:nvSpPr>
          <p:cNvPr id="29" name="TextBox 28">
            <a:extLst>
              <a:ext uri="{FF2B5EF4-FFF2-40B4-BE49-F238E27FC236}">
                <a16:creationId xmlns:a16="http://schemas.microsoft.com/office/drawing/2014/main" id="{52D5C443-2B0D-8E12-0BA2-9A64533D06DE}"/>
              </a:ext>
            </a:extLst>
          </p:cNvPr>
          <p:cNvSpPr txBox="1">
            <a:spLocks/>
          </p:cNvSpPr>
          <p:nvPr/>
        </p:nvSpPr>
        <p:spPr>
          <a:xfrm>
            <a:off x="6920857" y="3746983"/>
            <a:ext cx="798250" cy="231730"/>
          </a:xfrm>
          <a:prstGeom prst="rect">
            <a:avLst/>
          </a:prstGeom>
          <a:noFill/>
          <a:ln w="3175">
            <a:solidFill>
              <a:schemeClr val="tx2">
                <a:lumMod val="50000"/>
                <a:lumOff val="50000"/>
              </a:schemeClr>
            </a:solidFill>
          </a:ln>
        </p:spPr>
        <p:txBody>
          <a:bodyPr wrap="square">
            <a:spAutoFit/>
          </a:bodyPr>
          <a:lstStyle/>
          <a:p>
            <a:pPr lvl="0" algn="ctr">
              <a:lnSpc>
                <a:spcPct val="90000"/>
              </a:lnSpc>
            </a:pPr>
            <a:r>
              <a:rPr lang="en-US" sz="1000" dirty="0">
                <a:solidFill>
                  <a:schemeClr val="tx2">
                    <a:lumMod val="50000"/>
                    <a:lumOff val="50000"/>
                  </a:schemeClr>
                </a:solidFill>
              </a:rPr>
              <a:t>PIR sensor</a:t>
            </a:r>
            <a:endParaRPr lang="en-US" sz="1000" b="1" dirty="0">
              <a:solidFill>
                <a:schemeClr val="tx2">
                  <a:lumMod val="50000"/>
                  <a:lumOff val="50000"/>
                </a:schemeClr>
              </a:solidFill>
            </a:endParaRPr>
          </a:p>
        </p:txBody>
      </p:sp>
      <p:sp>
        <p:nvSpPr>
          <p:cNvPr id="32" name="TextBox 31">
            <a:extLst>
              <a:ext uri="{FF2B5EF4-FFF2-40B4-BE49-F238E27FC236}">
                <a16:creationId xmlns:a16="http://schemas.microsoft.com/office/drawing/2014/main" id="{F85F440F-C0CB-39BF-1580-4723E9FDCBA4}"/>
              </a:ext>
            </a:extLst>
          </p:cNvPr>
          <p:cNvSpPr txBox="1">
            <a:spLocks/>
          </p:cNvSpPr>
          <p:nvPr/>
        </p:nvSpPr>
        <p:spPr>
          <a:xfrm>
            <a:off x="8915218" y="3739496"/>
            <a:ext cx="558565" cy="231730"/>
          </a:xfrm>
          <a:prstGeom prst="rect">
            <a:avLst/>
          </a:prstGeom>
          <a:noFill/>
          <a:ln w="3175">
            <a:solidFill>
              <a:schemeClr val="tx2">
                <a:lumMod val="50000"/>
                <a:lumOff val="50000"/>
              </a:schemeClr>
            </a:solidFill>
          </a:ln>
        </p:spPr>
        <p:txBody>
          <a:bodyPr wrap="square">
            <a:spAutoFit/>
          </a:bodyPr>
          <a:lstStyle/>
          <a:p>
            <a:pPr lvl="0" algn="ctr">
              <a:lnSpc>
                <a:spcPct val="90000"/>
              </a:lnSpc>
            </a:pPr>
            <a:r>
              <a:rPr lang="en-US" sz="1000" dirty="0">
                <a:solidFill>
                  <a:schemeClr val="tx2">
                    <a:lumMod val="50000"/>
                    <a:lumOff val="50000"/>
                  </a:schemeClr>
                </a:solidFill>
              </a:rPr>
              <a:t>Sensi</a:t>
            </a:r>
            <a:endParaRPr lang="en-US" sz="1000" b="1" dirty="0">
              <a:solidFill>
                <a:schemeClr val="tx2">
                  <a:lumMod val="50000"/>
                  <a:lumOff val="50000"/>
                </a:schemeClr>
              </a:solidFill>
            </a:endParaRPr>
          </a:p>
        </p:txBody>
      </p:sp>
      <p:sp>
        <p:nvSpPr>
          <p:cNvPr id="34" name="Rectangle 33">
            <a:extLst>
              <a:ext uri="{FF2B5EF4-FFF2-40B4-BE49-F238E27FC236}">
                <a16:creationId xmlns:a16="http://schemas.microsoft.com/office/drawing/2014/main" id="{5F69118F-1577-4820-6389-CFBB4C09DBB0}"/>
              </a:ext>
            </a:extLst>
          </p:cNvPr>
          <p:cNvSpPr/>
          <p:nvPr/>
        </p:nvSpPr>
        <p:spPr>
          <a:xfrm>
            <a:off x="9091278" y="3322078"/>
            <a:ext cx="123286" cy="106921"/>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38" name="Rectangle 37">
            <a:extLst>
              <a:ext uri="{FF2B5EF4-FFF2-40B4-BE49-F238E27FC236}">
                <a16:creationId xmlns:a16="http://schemas.microsoft.com/office/drawing/2014/main" id="{69489095-A563-BFBB-B82C-CB6919051B69}"/>
              </a:ext>
            </a:extLst>
          </p:cNvPr>
          <p:cNvSpPr/>
          <p:nvPr/>
        </p:nvSpPr>
        <p:spPr>
          <a:xfrm>
            <a:off x="6313216" y="1864241"/>
            <a:ext cx="123286" cy="106921"/>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dirty="0"/>
          </a:p>
        </p:txBody>
      </p:sp>
      <p:sp>
        <p:nvSpPr>
          <p:cNvPr id="5" name="Google Shape;382;p20">
            <a:extLst>
              <a:ext uri="{FF2B5EF4-FFF2-40B4-BE49-F238E27FC236}">
                <a16:creationId xmlns:a16="http://schemas.microsoft.com/office/drawing/2014/main" id="{3DAA0057-2605-BB6A-A353-57CD3B76EC28}"/>
              </a:ext>
            </a:extLst>
          </p:cNvPr>
          <p:cNvSpPr txBox="1"/>
          <p:nvPr/>
        </p:nvSpPr>
        <p:spPr>
          <a:xfrm>
            <a:off x="8900622" y="4138334"/>
            <a:ext cx="3291378" cy="246181"/>
          </a:xfrm>
          <a:prstGeom prst="rect">
            <a:avLst/>
          </a:prstGeom>
          <a:noFill/>
          <a:ln>
            <a:noFill/>
          </a:ln>
        </p:spPr>
        <p:txBody>
          <a:bodyPr spcFirstLastPara="1" wrap="square" lIns="91425" tIns="45700" rIns="91425" bIns="45700" anchor="t" anchorCtr="0">
            <a:spAutoFit/>
          </a:bodyPr>
          <a:lstStyle/>
          <a:p>
            <a:pPr marL="457200" lvl="1" algn="just"/>
            <a:r>
              <a:rPr lang="it-IT" sz="1000" b="0" i="0" u="none" strike="noStrike" cap="none" dirty="0">
                <a:solidFill>
                  <a:schemeClr val="bg2">
                    <a:lumMod val="75000"/>
                  </a:schemeClr>
                </a:solidFill>
                <a:latin typeface="Arial"/>
                <a:ea typeface="Arial"/>
                <a:cs typeface="Arial"/>
                <a:sym typeface="Arial"/>
              </a:rPr>
              <a:t>SENSOR </a:t>
            </a:r>
            <a:r>
              <a:rPr lang="it-IT" sz="1000" b="1" i="0" u="none" strike="noStrike" cap="none" dirty="0">
                <a:solidFill>
                  <a:schemeClr val="bg2">
                    <a:lumMod val="75000"/>
                  </a:schemeClr>
                </a:solidFill>
                <a:latin typeface="Arial"/>
                <a:ea typeface="Arial"/>
                <a:cs typeface="Arial"/>
                <a:sym typeface="Arial"/>
              </a:rPr>
              <a:t>GRID</a:t>
            </a:r>
            <a:r>
              <a:rPr lang="it-IT" sz="1000" b="0" i="0" u="none" strike="noStrike" cap="none" dirty="0">
                <a:solidFill>
                  <a:schemeClr val="bg2">
                    <a:lumMod val="75000"/>
                  </a:schemeClr>
                </a:solidFill>
                <a:latin typeface="Arial"/>
                <a:ea typeface="Arial"/>
                <a:cs typeface="Arial"/>
                <a:sym typeface="Arial"/>
              </a:rPr>
              <a:t> APPROACH</a:t>
            </a:r>
          </a:p>
        </p:txBody>
      </p:sp>
      <p:sp>
        <p:nvSpPr>
          <p:cNvPr id="39" name="Rectangle 38">
            <a:extLst>
              <a:ext uri="{FF2B5EF4-FFF2-40B4-BE49-F238E27FC236}">
                <a16:creationId xmlns:a16="http://schemas.microsoft.com/office/drawing/2014/main" id="{A051FCEF-FE88-35CC-9A21-39DA1E92E881}"/>
              </a:ext>
            </a:extLst>
          </p:cNvPr>
          <p:cNvSpPr/>
          <p:nvPr/>
        </p:nvSpPr>
        <p:spPr>
          <a:xfrm>
            <a:off x="7853030" y="1846010"/>
            <a:ext cx="123286" cy="106921"/>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1" name="Rectangle 40">
            <a:extLst>
              <a:ext uri="{FF2B5EF4-FFF2-40B4-BE49-F238E27FC236}">
                <a16:creationId xmlns:a16="http://schemas.microsoft.com/office/drawing/2014/main" id="{98BF2C3A-634A-7DF9-924F-95636FE880F9}"/>
              </a:ext>
            </a:extLst>
          </p:cNvPr>
          <p:cNvSpPr/>
          <p:nvPr/>
        </p:nvSpPr>
        <p:spPr>
          <a:xfrm>
            <a:off x="9091278" y="1834576"/>
            <a:ext cx="123286" cy="106921"/>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2" name="Rectangle 41">
            <a:extLst>
              <a:ext uri="{FF2B5EF4-FFF2-40B4-BE49-F238E27FC236}">
                <a16:creationId xmlns:a16="http://schemas.microsoft.com/office/drawing/2014/main" id="{46D6CB60-BACE-D799-B9F9-D9230CDC20EA}"/>
              </a:ext>
            </a:extLst>
          </p:cNvPr>
          <p:cNvSpPr/>
          <p:nvPr/>
        </p:nvSpPr>
        <p:spPr>
          <a:xfrm>
            <a:off x="7853030" y="3332821"/>
            <a:ext cx="123286" cy="106921"/>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43" name="Straight Connector 42">
            <a:extLst>
              <a:ext uri="{FF2B5EF4-FFF2-40B4-BE49-F238E27FC236}">
                <a16:creationId xmlns:a16="http://schemas.microsoft.com/office/drawing/2014/main" id="{C11F3029-6F07-6D83-A986-DF0FFF0D0F7D}"/>
              </a:ext>
            </a:extLst>
          </p:cNvPr>
          <p:cNvCxnSpPr>
            <a:cxnSpLocks/>
          </p:cNvCxnSpPr>
          <p:nvPr/>
        </p:nvCxnSpPr>
        <p:spPr>
          <a:xfrm>
            <a:off x="9150784" y="3425708"/>
            <a:ext cx="0" cy="313788"/>
          </a:xfrm>
          <a:prstGeom prst="line">
            <a:avLst/>
          </a:prstGeom>
          <a:ln w="6350">
            <a:solidFill>
              <a:schemeClr val="tx2">
                <a:lumMod val="50000"/>
                <a:lumOff val="50000"/>
              </a:schemeClr>
            </a:solidFill>
          </a:ln>
        </p:spPr>
        <p:style>
          <a:lnRef idx="2">
            <a:schemeClr val="accent1"/>
          </a:lnRef>
          <a:fillRef idx="0">
            <a:schemeClr val="accent1"/>
          </a:fillRef>
          <a:effectRef idx="1">
            <a:schemeClr val="accent1"/>
          </a:effectRef>
          <a:fontRef idx="minor">
            <a:schemeClr val="tx1"/>
          </a:fontRef>
        </p:style>
      </p:cxnSp>
      <p:sp>
        <p:nvSpPr>
          <p:cNvPr id="47" name="Google Shape;423;p21">
            <a:extLst>
              <a:ext uri="{FF2B5EF4-FFF2-40B4-BE49-F238E27FC236}">
                <a16:creationId xmlns:a16="http://schemas.microsoft.com/office/drawing/2014/main" id="{2FB1A838-DA26-1849-44AA-37D06550E913}"/>
              </a:ext>
            </a:extLst>
          </p:cNvPr>
          <p:cNvSpPr txBox="1"/>
          <p:nvPr/>
        </p:nvSpPr>
        <p:spPr>
          <a:xfrm>
            <a:off x="188043" y="1988172"/>
            <a:ext cx="2683329" cy="258492"/>
          </a:xfrm>
          <a:prstGeom prst="rect">
            <a:avLst/>
          </a:prstGeom>
          <a:noFill/>
          <a:ln>
            <a:noFill/>
          </a:ln>
        </p:spPr>
        <p:txBody>
          <a:bodyPr spcFirstLastPara="1" wrap="square" lIns="91425" tIns="45700" rIns="91425" bIns="45700" anchor="t" anchorCtr="0">
            <a:spAutoFit/>
          </a:bodyPr>
          <a:lstStyle/>
          <a:p>
            <a:pPr lvl="0">
              <a:lnSpc>
                <a:spcPct val="90000"/>
              </a:lnSpc>
            </a:pPr>
            <a:r>
              <a:rPr lang="en-US" sz="1200" dirty="0">
                <a:solidFill>
                  <a:srgbClr val="4892DC"/>
                </a:solidFill>
                <a:latin typeface="Arial"/>
                <a:ea typeface="Arial"/>
                <a:cs typeface="Arial"/>
                <a:sym typeface="Arial"/>
              </a:rPr>
              <a:t>PIR positioning</a:t>
            </a:r>
            <a:endParaRPr sz="1200" dirty="0"/>
          </a:p>
        </p:txBody>
      </p:sp>
      <p:sp>
        <p:nvSpPr>
          <p:cNvPr id="48" name="TextBox 47">
            <a:extLst>
              <a:ext uri="{FF2B5EF4-FFF2-40B4-BE49-F238E27FC236}">
                <a16:creationId xmlns:a16="http://schemas.microsoft.com/office/drawing/2014/main" id="{3344FE7B-BF91-9588-53AB-F382E68572BA}"/>
              </a:ext>
            </a:extLst>
          </p:cNvPr>
          <p:cNvSpPr txBox="1"/>
          <p:nvPr/>
        </p:nvSpPr>
        <p:spPr>
          <a:xfrm>
            <a:off x="6529288" y="4029956"/>
            <a:ext cx="3826549" cy="231730"/>
          </a:xfrm>
          <a:prstGeom prst="rect">
            <a:avLst/>
          </a:prstGeom>
          <a:noFill/>
        </p:spPr>
        <p:txBody>
          <a:bodyPr wrap="square">
            <a:spAutoFit/>
          </a:bodyPr>
          <a:lstStyle/>
          <a:p>
            <a:pPr lvl="0" algn="just">
              <a:lnSpc>
                <a:spcPct val="90000"/>
              </a:lnSpc>
            </a:pPr>
            <a:r>
              <a:rPr lang="en-US" sz="1000" dirty="0">
                <a:solidFill>
                  <a:schemeClr val="tx2">
                    <a:lumMod val="50000"/>
                    <a:lumOff val="50000"/>
                  </a:schemeClr>
                </a:solidFill>
              </a:rPr>
              <a:t>Placed 1.5 – 2 m high</a:t>
            </a:r>
            <a:endParaRPr lang="en-US" sz="1000" b="1" dirty="0">
              <a:solidFill>
                <a:schemeClr val="tx2">
                  <a:lumMod val="50000"/>
                  <a:lumOff val="50000"/>
                </a:schemeClr>
              </a:solidFill>
            </a:endParaRPr>
          </a:p>
        </p:txBody>
      </p:sp>
      <p:sp>
        <p:nvSpPr>
          <p:cNvPr id="49" name="TextBox 48">
            <a:extLst>
              <a:ext uri="{FF2B5EF4-FFF2-40B4-BE49-F238E27FC236}">
                <a16:creationId xmlns:a16="http://schemas.microsoft.com/office/drawing/2014/main" id="{F28F0FBE-64FA-6DF0-DFE5-E4075ECB2E23}"/>
              </a:ext>
            </a:extLst>
          </p:cNvPr>
          <p:cNvSpPr txBox="1"/>
          <p:nvPr/>
        </p:nvSpPr>
        <p:spPr>
          <a:xfrm>
            <a:off x="9473783" y="4749560"/>
            <a:ext cx="3826549" cy="647228"/>
          </a:xfrm>
          <a:prstGeom prst="rect">
            <a:avLst/>
          </a:prstGeom>
          <a:noFill/>
        </p:spPr>
        <p:txBody>
          <a:bodyPr wrap="square">
            <a:spAutoFit/>
          </a:bodyPr>
          <a:lstStyle/>
          <a:p>
            <a:pPr marL="171450" lvl="0" indent="-171450" algn="just">
              <a:lnSpc>
                <a:spcPct val="90000"/>
              </a:lnSpc>
              <a:buFont typeface="Arial" panose="020B0604020202020204" pitchFamily="34" charset="0"/>
              <a:buChar char="•"/>
            </a:pPr>
            <a:r>
              <a:rPr lang="en-US" sz="1000" dirty="0">
                <a:solidFill>
                  <a:schemeClr val="tx2">
                    <a:lumMod val="50000"/>
                    <a:lumOff val="50000"/>
                  </a:schemeClr>
                </a:solidFill>
              </a:rPr>
              <a:t>Away from windows/ doors</a:t>
            </a:r>
          </a:p>
          <a:p>
            <a:pPr marL="171450" lvl="0" indent="-171450" algn="just">
              <a:lnSpc>
                <a:spcPct val="90000"/>
              </a:lnSpc>
              <a:buFont typeface="Arial" panose="020B0604020202020204" pitchFamily="34" charset="0"/>
              <a:buChar char="•"/>
            </a:pPr>
            <a:r>
              <a:rPr lang="en-US" sz="1000" dirty="0">
                <a:solidFill>
                  <a:schemeClr val="tx2">
                    <a:lumMod val="50000"/>
                    <a:lumOff val="50000"/>
                  </a:schemeClr>
                </a:solidFill>
              </a:rPr>
              <a:t>No-sun exposed facades</a:t>
            </a:r>
          </a:p>
          <a:p>
            <a:pPr marL="171450" lvl="0" indent="-171450" algn="just">
              <a:lnSpc>
                <a:spcPct val="90000"/>
              </a:lnSpc>
              <a:buFont typeface="Arial" panose="020B0604020202020204" pitchFamily="34" charset="0"/>
              <a:buChar char="•"/>
            </a:pPr>
            <a:r>
              <a:rPr lang="en-US" sz="1000" dirty="0">
                <a:solidFill>
                  <a:schemeClr val="tx2">
                    <a:lumMod val="50000"/>
                    <a:lumOff val="50000"/>
                  </a:schemeClr>
                </a:solidFill>
              </a:rPr>
              <a:t>Away from HVAC diffusers/ ducts</a:t>
            </a:r>
          </a:p>
          <a:p>
            <a:pPr marL="171450" lvl="0" indent="-171450" algn="just">
              <a:lnSpc>
                <a:spcPct val="90000"/>
              </a:lnSpc>
              <a:buFont typeface="Arial" panose="020B0604020202020204" pitchFamily="34" charset="0"/>
              <a:buChar char="•"/>
            </a:pPr>
            <a:r>
              <a:rPr lang="en-US" sz="1000" dirty="0">
                <a:solidFill>
                  <a:schemeClr val="tx2">
                    <a:lumMod val="50000"/>
                    <a:lumOff val="50000"/>
                  </a:schemeClr>
                </a:solidFill>
              </a:rPr>
              <a:t>Unblocked partitions</a:t>
            </a:r>
          </a:p>
        </p:txBody>
      </p:sp>
      <p:cxnSp>
        <p:nvCxnSpPr>
          <p:cNvPr id="52" name="Connector: Elbow 51">
            <a:extLst>
              <a:ext uri="{FF2B5EF4-FFF2-40B4-BE49-F238E27FC236}">
                <a16:creationId xmlns:a16="http://schemas.microsoft.com/office/drawing/2014/main" id="{32B0D897-4A68-68B8-1D10-2A2265D8A368}"/>
              </a:ext>
            </a:extLst>
          </p:cNvPr>
          <p:cNvCxnSpPr>
            <a:cxnSpLocks/>
          </p:cNvCxnSpPr>
          <p:nvPr/>
        </p:nvCxnSpPr>
        <p:spPr>
          <a:xfrm rot="16200000" flipH="1">
            <a:off x="8848938" y="4288214"/>
            <a:ext cx="913258" cy="279282"/>
          </a:xfrm>
          <a:prstGeom prst="bentConnector2">
            <a:avLst/>
          </a:prstGeom>
          <a:ln w="3175">
            <a:solidFill>
              <a:schemeClr val="tx2">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60" name="Google Shape;423;p21">
            <a:extLst>
              <a:ext uri="{FF2B5EF4-FFF2-40B4-BE49-F238E27FC236}">
                <a16:creationId xmlns:a16="http://schemas.microsoft.com/office/drawing/2014/main" id="{7DF101A2-198E-1A0D-2107-AB5370C0AFAB}"/>
              </a:ext>
            </a:extLst>
          </p:cNvPr>
          <p:cNvSpPr txBox="1"/>
          <p:nvPr/>
        </p:nvSpPr>
        <p:spPr>
          <a:xfrm>
            <a:off x="3845959" y="4702782"/>
            <a:ext cx="2683329" cy="424691"/>
          </a:xfrm>
          <a:prstGeom prst="rect">
            <a:avLst/>
          </a:prstGeom>
          <a:noFill/>
          <a:ln>
            <a:noFill/>
          </a:ln>
        </p:spPr>
        <p:txBody>
          <a:bodyPr spcFirstLastPara="1" wrap="square" lIns="91425" tIns="45700" rIns="91425" bIns="45700" anchor="t" anchorCtr="0">
            <a:spAutoFit/>
          </a:bodyPr>
          <a:lstStyle/>
          <a:p>
            <a:pPr lvl="0">
              <a:lnSpc>
                <a:spcPct val="90000"/>
              </a:lnSpc>
            </a:pPr>
            <a:r>
              <a:rPr lang="en-US" sz="1200" dirty="0">
                <a:solidFill>
                  <a:srgbClr val="4892DC"/>
                </a:solidFill>
                <a:latin typeface="Arial"/>
                <a:cs typeface="Arial"/>
                <a:sym typeface="Arial"/>
              </a:rPr>
              <a:t>VS. </a:t>
            </a:r>
          </a:p>
          <a:p>
            <a:pPr lvl="0">
              <a:lnSpc>
                <a:spcPct val="90000"/>
              </a:lnSpc>
            </a:pPr>
            <a:r>
              <a:rPr lang="en-US" sz="1200" dirty="0">
                <a:solidFill>
                  <a:srgbClr val="4892DC"/>
                </a:solidFill>
                <a:latin typeface="Arial"/>
                <a:cs typeface="Arial"/>
                <a:sym typeface="Arial"/>
              </a:rPr>
              <a:t>Ground Truth</a:t>
            </a:r>
            <a:endParaRPr sz="1200" dirty="0"/>
          </a:p>
        </p:txBody>
      </p:sp>
      <p:grpSp>
        <p:nvGrpSpPr>
          <p:cNvPr id="388" name="Group 387">
            <a:extLst>
              <a:ext uri="{FF2B5EF4-FFF2-40B4-BE49-F238E27FC236}">
                <a16:creationId xmlns:a16="http://schemas.microsoft.com/office/drawing/2014/main" id="{48ACABF5-280B-BF6D-EDAE-99780D80911C}"/>
              </a:ext>
            </a:extLst>
          </p:cNvPr>
          <p:cNvGrpSpPr/>
          <p:nvPr/>
        </p:nvGrpSpPr>
        <p:grpSpPr>
          <a:xfrm>
            <a:off x="3488801" y="5208530"/>
            <a:ext cx="4466552" cy="1191128"/>
            <a:chOff x="5467690" y="5546859"/>
            <a:chExt cx="4466552" cy="1191128"/>
          </a:xfrm>
        </p:grpSpPr>
        <p:sp>
          <p:nvSpPr>
            <p:cNvPr id="62" name="Google Shape;382;p20">
              <a:extLst>
                <a:ext uri="{FF2B5EF4-FFF2-40B4-BE49-F238E27FC236}">
                  <a16:creationId xmlns:a16="http://schemas.microsoft.com/office/drawing/2014/main" id="{7CFA5301-755B-E821-8C29-CC865A339917}"/>
                </a:ext>
              </a:extLst>
            </p:cNvPr>
            <p:cNvSpPr txBox="1"/>
            <p:nvPr/>
          </p:nvSpPr>
          <p:spPr>
            <a:xfrm>
              <a:off x="5467690" y="5980110"/>
              <a:ext cx="3291378" cy="707846"/>
            </a:xfrm>
            <a:prstGeom prst="rect">
              <a:avLst/>
            </a:prstGeom>
            <a:noFill/>
            <a:ln>
              <a:noFill/>
            </a:ln>
          </p:spPr>
          <p:txBody>
            <a:bodyPr spcFirstLastPara="1" wrap="square" lIns="91425" tIns="45700" rIns="91425" bIns="45700" anchor="t" anchorCtr="0">
              <a:spAutoFit/>
            </a:bodyPr>
            <a:lstStyle/>
            <a:p>
              <a:pPr marL="457200" lvl="1" algn="just"/>
              <a:r>
                <a:rPr lang="it-IT" sz="1000" b="1" i="0" u="none" strike="noStrike" cap="none" dirty="0">
                  <a:solidFill>
                    <a:srgbClr val="000000"/>
                  </a:solidFill>
                  <a:latin typeface="Arial"/>
                  <a:ea typeface="Arial"/>
                  <a:cs typeface="Arial"/>
                  <a:sym typeface="Arial"/>
                </a:rPr>
                <a:t>PLEASE GIVE THIS A QUICK SCAN.</a:t>
              </a:r>
            </a:p>
            <a:p>
              <a:pPr lvl="1" algn="just"/>
              <a:r>
                <a:rPr lang="it-IT" sz="1000" b="0" i="1" u="none" strike="noStrike" cap="none" dirty="0" err="1">
                  <a:solidFill>
                    <a:srgbClr val="000000"/>
                  </a:solidFill>
                  <a:latin typeface="Arial"/>
                  <a:ea typeface="Arial"/>
                  <a:cs typeface="Arial"/>
                  <a:sym typeface="Arial"/>
                </a:rPr>
                <a:t>Scannable</a:t>
              </a:r>
              <a:r>
                <a:rPr lang="it-IT" sz="1000" b="0" i="1" u="none" strike="noStrike" cap="none" dirty="0">
                  <a:solidFill>
                    <a:srgbClr val="000000"/>
                  </a:solidFill>
                  <a:latin typeface="Arial"/>
                  <a:ea typeface="Arial"/>
                  <a:cs typeface="Arial"/>
                  <a:sym typeface="Arial"/>
                </a:rPr>
                <a:t> by ANY (one) of the </a:t>
              </a:r>
              <a:r>
                <a:rPr lang="it-IT" sz="1000" b="0" i="1" u="none" strike="noStrike" cap="none" dirty="0" err="1">
                  <a:solidFill>
                    <a:srgbClr val="000000"/>
                  </a:solidFill>
                  <a:latin typeface="Arial"/>
                  <a:ea typeface="Arial"/>
                  <a:cs typeface="Arial"/>
                  <a:sym typeface="Arial"/>
                </a:rPr>
                <a:t>workroom’s</a:t>
              </a:r>
              <a:r>
                <a:rPr lang="it-IT" sz="1000" b="0" i="1" u="none" strike="noStrike" cap="none" dirty="0">
                  <a:solidFill>
                    <a:srgbClr val="000000"/>
                  </a:solidFill>
                  <a:latin typeface="Arial"/>
                  <a:ea typeface="Arial"/>
                  <a:cs typeface="Arial"/>
                  <a:sym typeface="Arial"/>
                </a:rPr>
                <a:t> </a:t>
              </a:r>
              <a:r>
                <a:rPr lang="it-IT" sz="1000" b="0" i="1" u="none" strike="noStrike" cap="none" dirty="0" err="1">
                  <a:solidFill>
                    <a:srgbClr val="000000"/>
                  </a:solidFill>
                  <a:latin typeface="Arial"/>
                  <a:ea typeface="Arial"/>
                  <a:cs typeface="Arial"/>
                  <a:sym typeface="Arial"/>
                </a:rPr>
                <a:t>occupants</a:t>
              </a:r>
              <a:r>
                <a:rPr lang="it-IT" sz="1000" i="1" dirty="0">
                  <a:solidFill>
                    <a:srgbClr val="000000"/>
                  </a:solidFill>
                  <a:latin typeface="Arial"/>
                  <a:ea typeface="Arial"/>
                  <a:cs typeface="Arial"/>
                  <a:sym typeface="Arial"/>
                </a:rPr>
                <a:t>, </a:t>
              </a:r>
              <a:r>
                <a:rPr lang="it-IT" sz="1000" b="0" i="1" u="none" strike="noStrike" cap="none" dirty="0" err="1">
                  <a:solidFill>
                    <a:srgbClr val="000000"/>
                  </a:solidFill>
                  <a:latin typeface="Arial"/>
                  <a:ea typeface="Arial"/>
                  <a:cs typeface="Arial"/>
                  <a:sym typeface="Arial"/>
                </a:rPr>
                <a:t>throughout</a:t>
              </a:r>
              <a:r>
                <a:rPr lang="it-IT" sz="1000" b="0" i="1" u="none" strike="noStrike" cap="none" dirty="0">
                  <a:solidFill>
                    <a:srgbClr val="000000"/>
                  </a:solidFill>
                  <a:latin typeface="Arial"/>
                  <a:ea typeface="Arial"/>
                  <a:cs typeface="Arial"/>
                  <a:sym typeface="Arial"/>
                </a:rPr>
                <a:t> the day</a:t>
              </a:r>
              <a:r>
                <a:rPr lang="it-IT" sz="1000" b="0" i="0" u="none" strike="noStrike" cap="none" dirty="0">
                  <a:solidFill>
                    <a:srgbClr val="000000"/>
                  </a:solidFill>
                  <a:latin typeface="Arial"/>
                  <a:ea typeface="Arial"/>
                  <a:cs typeface="Arial"/>
                  <a:sym typeface="Arial"/>
                </a:rPr>
                <a:t>.</a:t>
              </a:r>
            </a:p>
            <a:p>
              <a:pPr marL="457200" lvl="1" algn="just"/>
              <a:endParaRPr lang="it-IT" sz="1000" b="1" i="0" u="none" strike="noStrike" cap="none" dirty="0">
                <a:solidFill>
                  <a:schemeClr val="dk1"/>
                </a:solidFill>
                <a:latin typeface="Arial"/>
                <a:ea typeface="Arial"/>
                <a:cs typeface="Arial"/>
                <a:sym typeface="Arial"/>
              </a:endParaRPr>
            </a:p>
          </p:txBody>
        </p:sp>
        <p:pic>
          <p:nvPicPr>
            <p:cNvPr id="63" name="Google Shape;383;p20">
              <a:extLst>
                <a:ext uri="{FF2B5EF4-FFF2-40B4-BE49-F238E27FC236}">
                  <a16:creationId xmlns:a16="http://schemas.microsoft.com/office/drawing/2014/main" id="{B9E09E77-7567-2C48-6316-E59083F83EFF}"/>
                </a:ext>
              </a:extLst>
            </p:cNvPr>
            <p:cNvPicPr preferRelativeResize="0"/>
            <p:nvPr/>
          </p:nvPicPr>
          <p:blipFill>
            <a:blip r:embed="rId7">
              <a:extLst>
                <a:ext uri="{28A0092B-C50C-407E-A947-70E740481C1C}">
                  <a14:useLocalDpi xmlns:a14="http://schemas.microsoft.com/office/drawing/2010/main" val="0"/>
                </a:ext>
              </a:extLst>
            </a:blip>
            <a:srcRect/>
            <a:stretch/>
          </p:blipFill>
          <p:spPr>
            <a:xfrm>
              <a:off x="8713275" y="5592615"/>
              <a:ext cx="1049585" cy="1049585"/>
            </a:xfrm>
            <a:prstGeom prst="rect">
              <a:avLst/>
            </a:prstGeom>
            <a:noFill/>
            <a:ln>
              <a:noFill/>
            </a:ln>
          </p:spPr>
        </p:pic>
        <p:sp>
          <p:nvSpPr>
            <p:cNvPr id="384" name="Google Shape;375;p20">
              <a:extLst>
                <a:ext uri="{FF2B5EF4-FFF2-40B4-BE49-F238E27FC236}">
                  <a16:creationId xmlns:a16="http://schemas.microsoft.com/office/drawing/2014/main" id="{0217DBAB-5560-D37E-AC17-55BC7D7D465C}"/>
                </a:ext>
              </a:extLst>
            </p:cNvPr>
            <p:cNvSpPr txBox="1"/>
            <p:nvPr/>
          </p:nvSpPr>
          <p:spPr>
            <a:xfrm>
              <a:off x="5914175" y="5641239"/>
              <a:ext cx="2366698" cy="369291"/>
            </a:xfrm>
            <a:prstGeom prst="rect">
              <a:avLst/>
            </a:prstGeom>
            <a:noFill/>
            <a:ln>
              <a:noFill/>
            </a:ln>
          </p:spPr>
          <p:txBody>
            <a:bodyPr spcFirstLastPara="1" wrap="square" lIns="91425" tIns="45700" rIns="91425" bIns="45700" anchor="t" anchorCtr="0">
              <a:spAutoFit/>
            </a:bodyPr>
            <a:lstStyle/>
            <a:p>
              <a:pPr marL="0" marR="0" lvl="0" indent="0" algn="l" rtl="0">
                <a:lnSpc>
                  <a:spcPct val="90000"/>
                </a:lnSpc>
                <a:spcBef>
                  <a:spcPts val="0"/>
                </a:spcBef>
                <a:spcAft>
                  <a:spcPts val="0"/>
                </a:spcAft>
                <a:buNone/>
              </a:pPr>
              <a:r>
                <a:rPr lang="en-US" sz="2000" b="1" dirty="0">
                  <a:solidFill>
                    <a:srgbClr val="4892DC"/>
                  </a:solidFill>
                  <a:latin typeface="Arial"/>
                  <a:ea typeface="Arial"/>
                  <a:cs typeface="Arial"/>
                  <a:sym typeface="Arial"/>
                </a:rPr>
                <a:t>ENTRY</a:t>
              </a:r>
              <a:r>
                <a:rPr lang="en-US" sz="1600" b="1" dirty="0">
                  <a:solidFill>
                    <a:srgbClr val="4892DC"/>
                  </a:solidFill>
                  <a:latin typeface="Arial"/>
                  <a:ea typeface="Arial"/>
                  <a:cs typeface="Arial"/>
                  <a:sym typeface="Arial"/>
                </a:rPr>
                <a:t> </a:t>
              </a:r>
              <a:r>
                <a:rPr lang="en-US" sz="1200" dirty="0">
                  <a:solidFill>
                    <a:srgbClr val="4892DC"/>
                  </a:solidFill>
                  <a:latin typeface="Arial"/>
                  <a:ea typeface="Arial"/>
                  <a:cs typeface="Arial"/>
                  <a:sym typeface="Arial"/>
                </a:rPr>
                <a:t>survey</a:t>
              </a:r>
              <a:endParaRPr sz="1200" dirty="0"/>
            </a:p>
          </p:txBody>
        </p:sp>
        <p:sp>
          <p:nvSpPr>
            <p:cNvPr id="386" name="Rectangle 385">
              <a:extLst>
                <a:ext uri="{FF2B5EF4-FFF2-40B4-BE49-F238E27FC236}">
                  <a16:creationId xmlns:a16="http://schemas.microsoft.com/office/drawing/2014/main" id="{DDAD85F0-272C-9716-A5EB-62E8242D57A5}"/>
                </a:ext>
              </a:extLst>
            </p:cNvPr>
            <p:cNvSpPr/>
            <p:nvPr/>
          </p:nvSpPr>
          <p:spPr>
            <a:xfrm>
              <a:off x="5859101" y="5546859"/>
              <a:ext cx="4075141" cy="1191128"/>
            </a:xfrm>
            <a:prstGeom prst="rect">
              <a:avLst/>
            </a:prstGeom>
            <a:noFill/>
            <a:ln w="3175">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grpSp>
      <p:sp>
        <p:nvSpPr>
          <p:cNvPr id="390" name="Google Shape;423;p21">
            <a:extLst>
              <a:ext uri="{FF2B5EF4-FFF2-40B4-BE49-F238E27FC236}">
                <a16:creationId xmlns:a16="http://schemas.microsoft.com/office/drawing/2014/main" id="{3FAEFBCA-38E9-79CD-6387-DE5AF11ADE9B}"/>
              </a:ext>
            </a:extLst>
          </p:cNvPr>
          <p:cNvSpPr txBox="1"/>
          <p:nvPr/>
        </p:nvSpPr>
        <p:spPr>
          <a:xfrm>
            <a:off x="390708" y="416452"/>
            <a:ext cx="3455251" cy="590891"/>
          </a:xfrm>
          <a:prstGeom prst="rect">
            <a:avLst/>
          </a:prstGeom>
          <a:noFill/>
          <a:ln>
            <a:noFill/>
          </a:ln>
        </p:spPr>
        <p:txBody>
          <a:bodyPr spcFirstLastPara="1" wrap="square" lIns="91425" tIns="45700" rIns="91425" bIns="45700" anchor="t" anchorCtr="0">
            <a:spAutoFit/>
          </a:bodyPr>
          <a:lstStyle/>
          <a:p>
            <a:pPr lvl="0">
              <a:lnSpc>
                <a:spcPct val="90000"/>
              </a:lnSpc>
            </a:pPr>
            <a:r>
              <a:rPr lang="en-US" sz="2400" b="1" dirty="0">
                <a:solidFill>
                  <a:srgbClr val="4892DC"/>
                </a:solidFill>
                <a:latin typeface="Arial"/>
                <a:ea typeface="Arial"/>
                <a:cs typeface="Arial"/>
                <a:sym typeface="Arial"/>
              </a:rPr>
              <a:t>03</a:t>
            </a:r>
            <a:r>
              <a:rPr lang="en-US" sz="2400" b="1" i="0" u="none" strike="noStrike" cap="none" dirty="0">
                <a:solidFill>
                  <a:srgbClr val="4892DC"/>
                </a:solidFill>
                <a:latin typeface="Arial"/>
                <a:ea typeface="Arial"/>
                <a:cs typeface="Arial"/>
                <a:sym typeface="Arial"/>
              </a:rPr>
              <a:t>. PILOT</a:t>
            </a:r>
            <a:r>
              <a:rPr lang="en-US" b="1" i="0" u="none" strike="noStrike" cap="none" dirty="0">
                <a:solidFill>
                  <a:srgbClr val="4892DC"/>
                </a:solidFill>
                <a:latin typeface="Arial"/>
                <a:ea typeface="Arial"/>
                <a:cs typeface="Arial"/>
                <a:sym typeface="Arial"/>
              </a:rPr>
              <a:t> </a:t>
            </a:r>
          </a:p>
          <a:p>
            <a:pPr lvl="0">
              <a:lnSpc>
                <a:spcPct val="90000"/>
              </a:lnSpc>
            </a:pPr>
            <a:r>
              <a:rPr lang="en-US" sz="1200" dirty="0">
                <a:solidFill>
                  <a:srgbClr val="4892DC"/>
                </a:solidFill>
                <a:latin typeface="Arial"/>
                <a:cs typeface="Arial"/>
                <a:sym typeface="Arial"/>
              </a:rPr>
              <a:t>SENSOR PLACEMENT: </a:t>
            </a:r>
            <a:r>
              <a:rPr lang="en-US" sz="1200" b="1" dirty="0">
                <a:solidFill>
                  <a:srgbClr val="4892DC"/>
                </a:solidFill>
                <a:latin typeface="Arial"/>
                <a:cs typeface="Arial"/>
                <a:sym typeface="Arial"/>
              </a:rPr>
              <a:t>INITIAL PLANNED</a:t>
            </a:r>
            <a:endParaRPr sz="1200" b="1" dirty="0"/>
          </a:p>
        </p:txBody>
      </p:sp>
      <p:sp>
        <p:nvSpPr>
          <p:cNvPr id="6" name="TextBox 5">
            <a:extLst>
              <a:ext uri="{FF2B5EF4-FFF2-40B4-BE49-F238E27FC236}">
                <a16:creationId xmlns:a16="http://schemas.microsoft.com/office/drawing/2014/main" id="{B4BD006C-7960-14E6-6E73-DB0AE9317065}"/>
              </a:ext>
            </a:extLst>
          </p:cNvPr>
          <p:cNvSpPr txBox="1"/>
          <p:nvPr/>
        </p:nvSpPr>
        <p:spPr>
          <a:xfrm>
            <a:off x="180686" y="6399807"/>
            <a:ext cx="8464550" cy="784830"/>
          </a:xfrm>
          <a:prstGeom prst="rect">
            <a:avLst/>
          </a:prstGeom>
          <a:noFill/>
        </p:spPr>
        <p:txBody>
          <a:bodyPr wrap="square" rtlCol="0">
            <a:spAutoFit/>
          </a:bodyPr>
          <a:lstStyle/>
          <a:p>
            <a:r>
              <a:rPr lang="en-GB" sz="900" dirty="0"/>
              <a:t>Sheikh Khan, D., Kolarik, J., Anker Hviid, C., &amp; Weitzmann, P. (2021). Method for long-term mapping of occupancy patterns in open-plan and single office spaces by using passive-infrared (PIR) sensors mounted below desks. </a:t>
            </a:r>
            <a:r>
              <a:rPr lang="en-GB" sz="900" i="1" dirty="0"/>
              <a:t>Energy and Buildings</a:t>
            </a:r>
            <a:r>
              <a:rPr lang="en-GB" sz="900" dirty="0"/>
              <a:t>, </a:t>
            </a:r>
            <a:r>
              <a:rPr lang="en-GB" sz="900" i="1" dirty="0"/>
              <a:t>230</a:t>
            </a:r>
            <a:r>
              <a:rPr lang="en-GB" sz="900" dirty="0"/>
              <a:t>, 110534. https://</a:t>
            </a:r>
            <a:r>
              <a:rPr lang="en-GB" sz="900" dirty="0" err="1"/>
              <a:t>doi.org</a:t>
            </a:r>
            <a:r>
              <a:rPr lang="en-GB" sz="900" dirty="0"/>
              <a:t>/10.1016/j.enbuild.2020.110534 </a:t>
            </a:r>
          </a:p>
          <a:p>
            <a:endParaRPr lang="en-GB" sz="900" dirty="0"/>
          </a:p>
          <a:p>
            <a:endParaRPr lang="en-IT" dirty="0"/>
          </a:p>
        </p:txBody>
      </p:sp>
      <p:pic>
        <p:nvPicPr>
          <p:cNvPr id="11" name="Picture 10">
            <a:extLst>
              <a:ext uri="{FF2B5EF4-FFF2-40B4-BE49-F238E27FC236}">
                <a16:creationId xmlns:a16="http://schemas.microsoft.com/office/drawing/2014/main" id="{8216542B-7E90-C3D0-BF15-0300A38D237A}"/>
              </a:ext>
            </a:extLst>
          </p:cNvPr>
          <p:cNvPicPr>
            <a:picLocks noGrp="1" noRot="1" noChangeAspect="1" noMove="1" noResize="1" noEditPoints="1" noAdjustHandles="1" noChangeArrowheads="1" noChangeShapeType="1" noCrop="1"/>
          </p:cNvPicPr>
          <p:nvPr/>
        </p:nvPicPr>
        <p:blipFill>
          <a:blip r:embed="rId8">
            <a:extLst>
              <a:ext uri="{28A0092B-C50C-407E-A947-70E740481C1C}">
                <a14:useLocalDpi xmlns:a14="http://schemas.microsoft.com/office/drawing/2010/main" val="0"/>
              </a:ext>
            </a:extLst>
          </a:blip>
          <a:srcRect/>
          <a:stretch/>
        </p:blipFill>
        <p:spPr>
          <a:xfrm>
            <a:off x="23308" y="37750"/>
            <a:ext cx="12168690" cy="6850892"/>
          </a:xfrm>
          <a:prstGeom prst="rect">
            <a:avLst/>
          </a:prstGeom>
        </p:spPr>
      </p:pic>
      <p:sp>
        <p:nvSpPr>
          <p:cNvPr id="13" name="TextBox 12">
            <a:extLst>
              <a:ext uri="{FF2B5EF4-FFF2-40B4-BE49-F238E27FC236}">
                <a16:creationId xmlns:a16="http://schemas.microsoft.com/office/drawing/2014/main" id="{3A4225A8-A3D2-069F-DA23-F03F7540D2F3}"/>
              </a:ext>
            </a:extLst>
          </p:cNvPr>
          <p:cNvSpPr txBox="1"/>
          <p:nvPr/>
        </p:nvSpPr>
        <p:spPr>
          <a:xfrm>
            <a:off x="5203114" y="2762478"/>
            <a:ext cx="1252438" cy="261610"/>
          </a:xfrm>
          <a:prstGeom prst="rect">
            <a:avLst/>
          </a:prstGeom>
          <a:noFill/>
        </p:spPr>
        <p:txBody>
          <a:bodyPr wrap="square" rtlCol="0">
            <a:spAutoFit/>
          </a:bodyPr>
          <a:lstStyle/>
          <a:p>
            <a:r>
              <a:rPr lang="en-US" sz="1050" dirty="0">
                <a:solidFill>
                  <a:schemeClr val="tx2">
                    <a:lumMod val="50000"/>
                    <a:lumOff val="50000"/>
                  </a:schemeClr>
                </a:solidFill>
              </a:rPr>
              <a:t>1B5A</a:t>
            </a:r>
            <a:endParaRPr lang="it-IT" sz="1050" dirty="0">
              <a:solidFill>
                <a:schemeClr val="tx2">
                  <a:lumMod val="50000"/>
                  <a:lumOff val="50000"/>
                </a:schemeClr>
              </a:solidFill>
            </a:endParaRPr>
          </a:p>
        </p:txBody>
      </p:sp>
      <p:sp>
        <p:nvSpPr>
          <p:cNvPr id="27" name="TextBox 26">
            <a:extLst>
              <a:ext uri="{FF2B5EF4-FFF2-40B4-BE49-F238E27FC236}">
                <a16:creationId xmlns:a16="http://schemas.microsoft.com/office/drawing/2014/main" id="{700BD50E-D904-C671-65DF-4D549941B0F6}"/>
              </a:ext>
            </a:extLst>
          </p:cNvPr>
          <p:cNvSpPr txBox="1"/>
          <p:nvPr/>
        </p:nvSpPr>
        <p:spPr>
          <a:xfrm>
            <a:off x="5203114" y="2914878"/>
            <a:ext cx="1252438" cy="261610"/>
          </a:xfrm>
          <a:prstGeom prst="rect">
            <a:avLst/>
          </a:prstGeom>
          <a:noFill/>
        </p:spPr>
        <p:txBody>
          <a:bodyPr wrap="square" rtlCol="0">
            <a:spAutoFit/>
          </a:bodyPr>
          <a:lstStyle/>
          <a:p>
            <a:r>
              <a:rPr lang="en-US" sz="1050" dirty="0">
                <a:solidFill>
                  <a:schemeClr val="tx2">
                    <a:lumMod val="50000"/>
                    <a:lumOff val="50000"/>
                  </a:schemeClr>
                </a:solidFill>
              </a:rPr>
              <a:t>1B5B</a:t>
            </a:r>
            <a:endParaRPr lang="it-IT" sz="1050" dirty="0">
              <a:solidFill>
                <a:schemeClr val="tx2">
                  <a:lumMod val="50000"/>
                  <a:lumOff val="50000"/>
                </a:schemeClr>
              </a:solidFill>
            </a:endParaRPr>
          </a:p>
        </p:txBody>
      </p:sp>
      <p:pic>
        <p:nvPicPr>
          <p:cNvPr id="31" name="Picture 30" descr="A desk with computers and a computer&#10;&#10;AI-generated content may be incorrect.">
            <a:extLst>
              <a:ext uri="{FF2B5EF4-FFF2-40B4-BE49-F238E27FC236}">
                <a16:creationId xmlns:a16="http://schemas.microsoft.com/office/drawing/2014/main" id="{F5B0427B-D3E3-BB8F-98B1-6CEF19FFED1A}"/>
              </a:ext>
            </a:extLst>
          </p:cNvPr>
          <p:cNvPicPr>
            <a:picLocks noChangeAspect="1"/>
          </p:cNvPicPr>
          <p:nvPr/>
        </p:nvPicPr>
        <p:blipFill>
          <a:blip r:embed="rId9">
            <a:extLst>
              <a:ext uri="{28A0092B-C50C-407E-A947-70E740481C1C}">
                <a14:useLocalDpi xmlns:a14="http://schemas.microsoft.com/office/drawing/2010/main" val="0"/>
              </a:ext>
            </a:extLst>
          </a:blip>
          <a:srcRect l="30438" t="66411" r="19526" b="4868"/>
          <a:stretch>
            <a:fillRect/>
          </a:stretch>
        </p:blipFill>
        <p:spPr>
          <a:xfrm>
            <a:off x="8402590" y="5633286"/>
            <a:ext cx="2085235" cy="897690"/>
          </a:xfrm>
          <a:prstGeom prst="rect">
            <a:avLst/>
          </a:prstGeom>
        </p:spPr>
      </p:pic>
      <p:sp>
        <p:nvSpPr>
          <p:cNvPr id="44" name="TextBox 43">
            <a:extLst>
              <a:ext uri="{FF2B5EF4-FFF2-40B4-BE49-F238E27FC236}">
                <a16:creationId xmlns:a16="http://schemas.microsoft.com/office/drawing/2014/main" id="{550B046E-0E12-C0B4-A037-95DFF86D31B9}"/>
              </a:ext>
            </a:extLst>
          </p:cNvPr>
          <p:cNvSpPr txBox="1">
            <a:spLocks/>
          </p:cNvSpPr>
          <p:nvPr/>
        </p:nvSpPr>
        <p:spPr>
          <a:xfrm>
            <a:off x="4796022" y="4650837"/>
            <a:ext cx="2824835" cy="508729"/>
          </a:xfrm>
          <a:prstGeom prst="rect">
            <a:avLst/>
          </a:prstGeom>
          <a:noFill/>
          <a:ln w="3175">
            <a:solidFill>
              <a:schemeClr val="tx2">
                <a:lumMod val="50000"/>
                <a:lumOff val="50000"/>
              </a:schemeClr>
            </a:solidFill>
          </a:ln>
        </p:spPr>
        <p:txBody>
          <a:bodyPr wrap="square">
            <a:spAutoFit/>
          </a:bodyPr>
          <a:lstStyle/>
          <a:p>
            <a:pPr lvl="0" algn="ctr">
              <a:lnSpc>
                <a:spcPct val="90000"/>
              </a:lnSpc>
            </a:pPr>
            <a:r>
              <a:rPr lang="en-US" sz="1000" dirty="0">
                <a:solidFill>
                  <a:schemeClr val="tx2">
                    <a:lumMod val="50000"/>
                    <a:lumOff val="50000"/>
                  </a:schemeClr>
                </a:solidFill>
              </a:rPr>
              <a:t>Data collection frequency/ Timestamp: </a:t>
            </a:r>
          </a:p>
          <a:p>
            <a:pPr lvl="0" algn="ctr">
              <a:lnSpc>
                <a:spcPct val="90000"/>
              </a:lnSpc>
            </a:pPr>
            <a:r>
              <a:rPr lang="en-US" sz="1000" b="1" dirty="0">
                <a:solidFill>
                  <a:schemeClr val="tx2">
                    <a:lumMod val="50000"/>
                    <a:lumOff val="50000"/>
                  </a:schemeClr>
                </a:solidFill>
              </a:rPr>
              <a:t>10 min. </a:t>
            </a:r>
            <a:r>
              <a:rPr lang="en-US" sz="1000" dirty="0">
                <a:solidFill>
                  <a:schemeClr val="tx2">
                    <a:lumMod val="50000"/>
                    <a:lumOff val="50000"/>
                  </a:schemeClr>
                </a:solidFill>
              </a:rPr>
              <a:t>(up until 2025-10-08) and then switched to </a:t>
            </a:r>
            <a:r>
              <a:rPr lang="en-US" sz="1000" b="1" dirty="0">
                <a:solidFill>
                  <a:schemeClr val="tx2">
                    <a:lumMod val="50000"/>
                    <a:lumOff val="50000"/>
                  </a:schemeClr>
                </a:solidFill>
              </a:rPr>
              <a:t>1 min.</a:t>
            </a:r>
          </a:p>
        </p:txBody>
      </p:sp>
      <p:sp>
        <p:nvSpPr>
          <p:cNvPr id="45" name="Google Shape;423;p21">
            <a:extLst>
              <a:ext uri="{FF2B5EF4-FFF2-40B4-BE49-F238E27FC236}">
                <a16:creationId xmlns:a16="http://schemas.microsoft.com/office/drawing/2014/main" id="{AB213F3D-63DC-19A0-10A9-A165E9933D10}"/>
              </a:ext>
            </a:extLst>
          </p:cNvPr>
          <p:cNvSpPr txBox="1"/>
          <p:nvPr/>
        </p:nvSpPr>
        <p:spPr>
          <a:xfrm>
            <a:off x="431178" y="426336"/>
            <a:ext cx="3104967" cy="618591"/>
          </a:xfrm>
          <a:prstGeom prst="rect">
            <a:avLst/>
          </a:prstGeom>
          <a:solidFill>
            <a:schemeClr val="bg1"/>
          </a:solidFill>
          <a:ln>
            <a:noFill/>
          </a:ln>
        </p:spPr>
        <p:txBody>
          <a:bodyPr spcFirstLastPara="1" wrap="square" lIns="91425" tIns="45700" rIns="91425" bIns="45700" anchor="t" anchorCtr="0">
            <a:spAutoFit/>
          </a:bodyPr>
          <a:lstStyle/>
          <a:p>
            <a:pPr lvl="0">
              <a:lnSpc>
                <a:spcPct val="90000"/>
              </a:lnSpc>
            </a:pPr>
            <a:r>
              <a:rPr lang="en-US" sz="2400" b="1" dirty="0">
                <a:solidFill>
                  <a:srgbClr val="4892DC"/>
                </a:solidFill>
                <a:latin typeface="Arial"/>
                <a:ea typeface="Arial"/>
                <a:cs typeface="Arial"/>
                <a:sym typeface="Arial"/>
              </a:rPr>
              <a:t>3</a:t>
            </a:r>
            <a:r>
              <a:rPr lang="en-US" sz="2400" b="1" i="0" u="none" strike="noStrike" cap="none" dirty="0">
                <a:solidFill>
                  <a:srgbClr val="4892DC"/>
                </a:solidFill>
                <a:latin typeface="Arial"/>
                <a:ea typeface="Arial"/>
                <a:cs typeface="Arial"/>
                <a:sym typeface="Arial"/>
              </a:rPr>
              <a:t>. CASE STUDY</a:t>
            </a:r>
            <a:r>
              <a:rPr lang="en-US" sz="2400" b="1" dirty="0">
                <a:solidFill>
                  <a:srgbClr val="4892DC"/>
                </a:solidFill>
                <a:latin typeface="Arial"/>
                <a:ea typeface="Arial"/>
                <a:cs typeface="Arial"/>
                <a:sym typeface="Arial"/>
              </a:rPr>
              <a:t> </a:t>
            </a:r>
            <a:r>
              <a:rPr lang="en-US" sz="1400" dirty="0">
                <a:solidFill>
                  <a:srgbClr val="4892DC"/>
                </a:solidFill>
                <a:latin typeface="Arial"/>
                <a:ea typeface="Arial"/>
                <a:cs typeface="Arial"/>
                <a:sym typeface="Arial"/>
              </a:rPr>
              <a:t>PLACEMENT [Workroom]</a:t>
            </a:r>
            <a:endParaRPr lang="en-US" u="none" strike="noStrike" cap="none" dirty="0">
              <a:solidFill>
                <a:srgbClr val="4892DC"/>
              </a:solidFill>
              <a:latin typeface="Arial"/>
              <a:ea typeface="Arial"/>
              <a:cs typeface="Arial"/>
              <a:sym typeface="Arial"/>
            </a:endParaRPr>
          </a:p>
        </p:txBody>
      </p:sp>
    </p:spTree>
    <p:extLst>
      <p:ext uri="{BB962C8B-B14F-4D97-AF65-F5344CB8AC3E}">
        <p14:creationId xmlns:p14="http://schemas.microsoft.com/office/powerpoint/2010/main" val="21221427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74">
          <a:extLst>
            <a:ext uri="{FF2B5EF4-FFF2-40B4-BE49-F238E27FC236}">
              <a16:creationId xmlns:a16="http://schemas.microsoft.com/office/drawing/2014/main" id="{6746B431-45B8-E281-3411-E8B6CF03F7C3}"/>
            </a:ext>
          </a:extLst>
        </p:cNvPr>
        <p:cNvGrpSpPr/>
        <p:nvPr/>
      </p:nvGrpSpPr>
      <p:grpSpPr>
        <a:xfrm>
          <a:off x="0" y="0"/>
          <a:ext cx="0" cy="0"/>
          <a:chOff x="0" y="0"/>
          <a:chExt cx="0" cy="0"/>
        </a:xfrm>
      </p:grpSpPr>
      <p:pic>
        <p:nvPicPr>
          <p:cNvPr id="56" name="Picture 55" descr="A graph of a bar chart&#10;&#10;AI-generated content may be incorrect.">
            <a:extLst>
              <a:ext uri="{FF2B5EF4-FFF2-40B4-BE49-F238E27FC236}">
                <a16:creationId xmlns:a16="http://schemas.microsoft.com/office/drawing/2014/main" id="{BDE3E476-A73B-1909-400F-DA0D952A12C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08595" y="3121890"/>
            <a:ext cx="4723883" cy="2340448"/>
          </a:xfrm>
          <a:prstGeom prst="rect">
            <a:avLst/>
          </a:prstGeom>
        </p:spPr>
      </p:pic>
      <p:sp>
        <p:nvSpPr>
          <p:cNvPr id="8" name="TextBox 7">
            <a:extLst>
              <a:ext uri="{FF2B5EF4-FFF2-40B4-BE49-F238E27FC236}">
                <a16:creationId xmlns:a16="http://schemas.microsoft.com/office/drawing/2014/main" id="{049B9EC4-2A84-E123-BC8F-CA5EA11BFEB8}"/>
              </a:ext>
            </a:extLst>
          </p:cNvPr>
          <p:cNvSpPr txBox="1"/>
          <p:nvPr/>
        </p:nvSpPr>
        <p:spPr>
          <a:xfrm>
            <a:off x="663270" y="1220189"/>
            <a:ext cx="4811098" cy="461665"/>
          </a:xfrm>
          <a:prstGeom prst="rect">
            <a:avLst/>
          </a:prstGeom>
          <a:noFill/>
        </p:spPr>
        <p:txBody>
          <a:bodyPr wrap="square">
            <a:spAutoFit/>
          </a:bodyPr>
          <a:lstStyle/>
          <a:p>
            <a:pPr>
              <a:spcAft>
                <a:spcPts val="600"/>
              </a:spcAft>
            </a:pPr>
            <a:r>
              <a:rPr lang="it-IT" sz="1200" dirty="0" err="1">
                <a:solidFill>
                  <a:schemeClr val="tx2">
                    <a:lumMod val="50000"/>
                    <a:lumOff val="50000"/>
                  </a:schemeClr>
                </a:solidFill>
              </a:rPr>
              <a:t>Before</a:t>
            </a:r>
            <a:r>
              <a:rPr lang="it-IT" sz="1200" dirty="0">
                <a:solidFill>
                  <a:schemeClr val="tx2">
                    <a:lumMod val="50000"/>
                    <a:lumOff val="50000"/>
                  </a:schemeClr>
                </a:solidFill>
              </a:rPr>
              <a:t> </a:t>
            </a:r>
            <a:r>
              <a:rPr lang="it-IT" sz="1200" dirty="0" err="1">
                <a:solidFill>
                  <a:schemeClr val="tx2">
                    <a:lumMod val="50000"/>
                    <a:lumOff val="50000"/>
                  </a:schemeClr>
                </a:solidFill>
              </a:rPr>
              <a:t>using</a:t>
            </a:r>
            <a:r>
              <a:rPr lang="it-IT" sz="1200" dirty="0">
                <a:solidFill>
                  <a:schemeClr val="tx2">
                    <a:lumMod val="50000"/>
                    <a:lumOff val="50000"/>
                  </a:schemeClr>
                </a:solidFill>
              </a:rPr>
              <a:t> the dataset for </a:t>
            </a:r>
            <a:r>
              <a:rPr lang="it-IT" sz="1200" dirty="0" err="1">
                <a:solidFill>
                  <a:schemeClr val="tx2">
                    <a:lumMod val="50000"/>
                    <a:lumOff val="50000"/>
                  </a:schemeClr>
                </a:solidFill>
              </a:rPr>
              <a:t>occupancy</a:t>
            </a:r>
            <a:r>
              <a:rPr lang="it-IT" sz="1200" dirty="0">
                <a:solidFill>
                  <a:schemeClr val="tx2">
                    <a:lumMod val="50000"/>
                    <a:lumOff val="50000"/>
                  </a:schemeClr>
                </a:solidFill>
              </a:rPr>
              <a:t> </a:t>
            </a:r>
            <a:r>
              <a:rPr lang="it-IT" sz="1200" dirty="0" err="1">
                <a:solidFill>
                  <a:schemeClr val="tx2">
                    <a:lumMod val="50000"/>
                    <a:lumOff val="50000"/>
                  </a:schemeClr>
                </a:solidFill>
              </a:rPr>
              <a:t>estimation</a:t>
            </a:r>
            <a:r>
              <a:rPr lang="it-IT" sz="1200" dirty="0">
                <a:solidFill>
                  <a:schemeClr val="tx2">
                    <a:lumMod val="50000"/>
                    <a:lumOff val="50000"/>
                  </a:schemeClr>
                </a:solidFill>
              </a:rPr>
              <a:t>, </a:t>
            </a:r>
            <a:r>
              <a:rPr lang="it-IT" sz="1200" dirty="0" err="1">
                <a:solidFill>
                  <a:schemeClr val="tx2">
                    <a:lumMod val="50000"/>
                    <a:lumOff val="50000"/>
                  </a:schemeClr>
                </a:solidFill>
              </a:rPr>
              <a:t>potential</a:t>
            </a:r>
            <a:r>
              <a:rPr lang="it-IT" sz="1200" dirty="0">
                <a:solidFill>
                  <a:schemeClr val="tx2">
                    <a:lumMod val="50000"/>
                    <a:lumOff val="50000"/>
                  </a:schemeClr>
                </a:solidFill>
              </a:rPr>
              <a:t> data </a:t>
            </a:r>
            <a:r>
              <a:rPr lang="it-IT" sz="1200" dirty="0" err="1">
                <a:solidFill>
                  <a:schemeClr val="tx2">
                    <a:lumMod val="50000"/>
                    <a:lumOff val="50000"/>
                  </a:schemeClr>
                </a:solidFill>
              </a:rPr>
              <a:t>quality</a:t>
            </a:r>
            <a:r>
              <a:rPr lang="it-IT" sz="1200" dirty="0">
                <a:solidFill>
                  <a:schemeClr val="tx2">
                    <a:lumMod val="50000"/>
                    <a:lumOff val="50000"/>
                  </a:schemeClr>
                </a:solidFill>
              </a:rPr>
              <a:t> </a:t>
            </a:r>
            <a:r>
              <a:rPr lang="it-IT" sz="1200" dirty="0" err="1">
                <a:solidFill>
                  <a:schemeClr val="tx2">
                    <a:lumMod val="50000"/>
                    <a:lumOff val="50000"/>
                  </a:schemeClr>
                </a:solidFill>
              </a:rPr>
              <a:t>issues</a:t>
            </a:r>
            <a:r>
              <a:rPr lang="it-IT" sz="1200" dirty="0">
                <a:solidFill>
                  <a:schemeClr val="tx2">
                    <a:lumMod val="50000"/>
                    <a:lumOff val="50000"/>
                  </a:schemeClr>
                </a:solidFill>
              </a:rPr>
              <a:t> </a:t>
            </a:r>
            <a:r>
              <a:rPr lang="it-IT" sz="1200" dirty="0" err="1">
                <a:solidFill>
                  <a:schemeClr val="tx2">
                    <a:lumMod val="50000"/>
                    <a:lumOff val="50000"/>
                  </a:schemeClr>
                </a:solidFill>
              </a:rPr>
              <a:t>should</a:t>
            </a:r>
            <a:r>
              <a:rPr lang="it-IT" sz="1200" dirty="0">
                <a:solidFill>
                  <a:schemeClr val="tx2">
                    <a:lumMod val="50000"/>
                    <a:lumOff val="50000"/>
                  </a:schemeClr>
                </a:solidFill>
              </a:rPr>
              <a:t> be </a:t>
            </a:r>
            <a:r>
              <a:rPr lang="it-IT" sz="1200" dirty="0" err="1">
                <a:solidFill>
                  <a:schemeClr val="tx2">
                    <a:lumMod val="50000"/>
                    <a:lumOff val="50000"/>
                  </a:schemeClr>
                </a:solidFill>
              </a:rPr>
              <a:t>accounted</a:t>
            </a:r>
            <a:r>
              <a:rPr lang="it-IT" sz="1200" dirty="0">
                <a:solidFill>
                  <a:schemeClr val="tx2">
                    <a:lumMod val="50000"/>
                    <a:lumOff val="50000"/>
                  </a:schemeClr>
                </a:solidFill>
              </a:rPr>
              <a:t> for:</a:t>
            </a:r>
          </a:p>
        </p:txBody>
      </p:sp>
      <p:sp>
        <p:nvSpPr>
          <p:cNvPr id="15" name="Rectangle 3">
            <a:extLst>
              <a:ext uri="{FF2B5EF4-FFF2-40B4-BE49-F238E27FC236}">
                <a16:creationId xmlns:a16="http://schemas.microsoft.com/office/drawing/2014/main" id="{2A2D3FAE-6CB1-8E4B-67A2-B0A44031D149}"/>
              </a:ext>
            </a:extLst>
          </p:cNvPr>
          <p:cNvSpPr>
            <a:spLocks noChangeArrowheads="1"/>
          </p:cNvSpPr>
          <p:nvPr/>
        </p:nvSpPr>
        <p:spPr bwMode="auto">
          <a:xfrm>
            <a:off x="639087" y="2221491"/>
            <a:ext cx="5777214"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it-IT" altLang="it-IT" sz="1200" b="1" i="0" u="none" strike="noStrike" cap="none" normalizeH="0" baseline="0" dirty="0" err="1">
                <a:ln>
                  <a:noFill/>
                </a:ln>
                <a:effectLst/>
              </a:rPr>
              <a:t>Temporal</a:t>
            </a:r>
            <a:r>
              <a:rPr kumimoji="0" lang="it-IT" altLang="it-IT" sz="1200" b="1" i="0" u="none" strike="noStrike" cap="none" normalizeH="0" baseline="0" dirty="0">
                <a:ln>
                  <a:noFill/>
                </a:ln>
                <a:effectLst/>
              </a:rPr>
              <a:t> gaps in </a:t>
            </a:r>
            <a:r>
              <a:rPr kumimoji="0" lang="it-IT" altLang="it-IT" sz="1200" b="1" i="0" u="none" strike="noStrike" cap="none" normalizeH="0" baseline="0" dirty="0" err="1">
                <a:ln>
                  <a:noFill/>
                </a:ln>
                <a:effectLst/>
              </a:rPr>
              <a:t>sensor</a:t>
            </a:r>
            <a:r>
              <a:rPr kumimoji="0" lang="it-IT" altLang="it-IT" sz="1200" b="1" i="0" u="none" strike="noStrike" cap="none" normalizeH="0" baseline="0" dirty="0">
                <a:ln>
                  <a:noFill/>
                </a:ln>
                <a:effectLst/>
              </a:rPr>
              <a:t> data</a:t>
            </a:r>
            <a:br>
              <a:rPr kumimoji="0" lang="it-IT" altLang="it-IT" sz="1200" b="0" i="0" u="none" strike="noStrike" cap="none" normalizeH="0" baseline="0" dirty="0">
                <a:ln>
                  <a:noFill/>
                </a:ln>
                <a:solidFill>
                  <a:schemeClr val="tx1"/>
                </a:solidFill>
                <a:effectLst/>
              </a:rPr>
            </a:br>
            <a:r>
              <a:rPr kumimoji="0" lang="it-IT" altLang="it-IT" sz="1200" b="0" i="0" u="none" strike="noStrike" cap="none" normalizeH="0" baseline="0" dirty="0">
                <a:ln>
                  <a:noFill/>
                </a:ln>
                <a:solidFill>
                  <a:schemeClr val="tx1"/>
                </a:solidFill>
                <a:effectLst/>
              </a:rPr>
              <a:t>Some </a:t>
            </a:r>
            <a:r>
              <a:rPr kumimoji="0" lang="it-IT" altLang="it-IT" sz="1200" b="0" i="0" u="none" strike="noStrike" cap="none" normalizeH="0" baseline="0" dirty="0" err="1">
                <a:ln>
                  <a:noFill/>
                </a:ln>
                <a:solidFill>
                  <a:schemeClr val="tx1"/>
                </a:solidFill>
                <a:effectLst/>
              </a:rPr>
              <a:t>sensors</a:t>
            </a:r>
            <a:r>
              <a:rPr kumimoji="0" lang="it-IT" altLang="it-IT" sz="1200" b="0" i="0" u="none" strike="noStrike" cap="none" normalizeH="0" baseline="0" dirty="0">
                <a:ln>
                  <a:noFill/>
                </a:ln>
                <a:solidFill>
                  <a:schemeClr val="tx1"/>
                </a:solidFill>
                <a:effectLst/>
              </a:rPr>
              <a:t> </a:t>
            </a:r>
            <a:r>
              <a:rPr kumimoji="0" lang="it-IT" altLang="it-IT" sz="1200" b="0" i="0" u="none" strike="noStrike" cap="none" normalizeH="0" baseline="0" dirty="0" err="1">
                <a:ln>
                  <a:noFill/>
                </a:ln>
                <a:solidFill>
                  <a:schemeClr val="tx1"/>
                </a:solidFill>
                <a:effectLst/>
              </a:rPr>
              <a:t>have</a:t>
            </a:r>
            <a:r>
              <a:rPr kumimoji="0" lang="it-IT" altLang="it-IT" sz="1200" b="0" i="0" u="none" strike="noStrike" cap="none" normalizeH="0" baseline="0" dirty="0">
                <a:ln>
                  <a:noFill/>
                </a:ln>
                <a:solidFill>
                  <a:schemeClr val="tx1"/>
                </a:solidFill>
                <a:effectLst/>
              </a:rPr>
              <a:t> </a:t>
            </a:r>
            <a:r>
              <a:rPr kumimoji="0" lang="it-IT" altLang="it-IT" sz="1200" b="0" i="0" u="none" strike="noStrike" cap="none" normalizeH="0" baseline="0" dirty="0" err="1">
                <a:ln>
                  <a:noFill/>
                </a:ln>
                <a:solidFill>
                  <a:schemeClr val="tx1"/>
                </a:solidFill>
                <a:effectLst/>
              </a:rPr>
              <a:t>missing</a:t>
            </a:r>
            <a:r>
              <a:rPr kumimoji="0" lang="it-IT" altLang="it-IT" sz="1200" b="0" i="0" u="none" strike="noStrike" cap="none" normalizeH="0" baseline="0" dirty="0">
                <a:ln>
                  <a:noFill/>
                </a:ln>
                <a:solidFill>
                  <a:schemeClr val="tx1"/>
                </a:solidFill>
                <a:effectLst/>
              </a:rPr>
              <a:t> </a:t>
            </a:r>
            <a:r>
              <a:rPr kumimoji="0" lang="it-IT" altLang="it-IT" sz="1200" b="0" i="0" u="none" strike="noStrike" cap="none" normalizeH="0" baseline="0" dirty="0" err="1">
                <a:ln>
                  <a:noFill/>
                </a:ln>
                <a:solidFill>
                  <a:schemeClr val="tx1"/>
                </a:solidFill>
                <a:effectLst/>
              </a:rPr>
              <a:t>periods</a:t>
            </a:r>
            <a:r>
              <a:rPr kumimoji="0" lang="it-IT" altLang="it-IT" sz="1200" b="0" i="0" u="none" strike="noStrike" cap="none" normalizeH="0" baseline="0" dirty="0">
                <a:ln>
                  <a:noFill/>
                </a:ln>
                <a:solidFill>
                  <a:schemeClr val="tx1"/>
                </a:solidFill>
                <a:effectLst/>
              </a:rPr>
              <a:t>, </a:t>
            </a:r>
            <a:r>
              <a:rPr kumimoji="0" lang="it-IT" altLang="it-IT" sz="1200" b="0" i="0" u="none" strike="noStrike" cap="none" normalizeH="0" baseline="0" dirty="0" err="1">
                <a:ln>
                  <a:noFill/>
                </a:ln>
                <a:solidFill>
                  <a:schemeClr val="tx1"/>
                </a:solidFill>
                <a:effectLst/>
              </a:rPr>
              <a:t>sometimes</a:t>
            </a:r>
            <a:r>
              <a:rPr kumimoji="0" lang="it-IT" altLang="it-IT" sz="1200" b="0" i="0" u="none" strike="noStrike" cap="none" normalizeH="0" baseline="0" dirty="0">
                <a:ln>
                  <a:noFill/>
                </a:ln>
                <a:solidFill>
                  <a:schemeClr val="tx1"/>
                </a:solidFill>
                <a:effectLst/>
              </a:rPr>
              <a:t> up to 30–40 minutes.</a:t>
            </a:r>
            <a:br>
              <a:rPr kumimoji="0" lang="it-IT" altLang="it-IT" sz="1200" b="0" i="0" u="none" strike="noStrike" cap="none" normalizeH="0" baseline="0" dirty="0">
                <a:ln>
                  <a:noFill/>
                </a:ln>
                <a:solidFill>
                  <a:schemeClr val="tx1"/>
                </a:solidFill>
                <a:effectLst/>
              </a:rPr>
            </a:br>
            <a:r>
              <a:rPr kumimoji="0" lang="it-IT" altLang="it-IT" sz="1200" b="0" i="0" u="none" strike="noStrike" cap="none" normalizeH="0" baseline="0" dirty="0">
                <a:ln>
                  <a:noFill/>
                </a:ln>
                <a:solidFill>
                  <a:schemeClr val="tx1"/>
                </a:solidFill>
                <a:effectLst/>
              </a:rPr>
              <a:t> </a:t>
            </a: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it-IT" altLang="it-IT" sz="1200" b="1" i="0" u="none" strike="noStrike" cap="none" normalizeH="0" baseline="0" dirty="0" err="1">
                <a:ln>
                  <a:noFill/>
                </a:ln>
                <a:solidFill>
                  <a:schemeClr val="tx1"/>
                </a:solidFill>
                <a:effectLst/>
              </a:rPr>
              <a:t>Irregular</a:t>
            </a:r>
            <a:r>
              <a:rPr kumimoji="0" lang="it-IT" altLang="it-IT" sz="1200" b="1" i="0" u="none" strike="noStrike" cap="none" normalizeH="0" baseline="0" dirty="0">
                <a:ln>
                  <a:noFill/>
                </a:ln>
                <a:solidFill>
                  <a:schemeClr val="tx1"/>
                </a:solidFill>
                <a:effectLst/>
              </a:rPr>
              <a:t> sampling frequency</a:t>
            </a:r>
            <a:br>
              <a:rPr kumimoji="0" lang="it-IT" altLang="it-IT" sz="1200" b="0" i="0" u="none" strike="noStrike" cap="none" normalizeH="0" baseline="0" dirty="0">
                <a:ln>
                  <a:noFill/>
                </a:ln>
                <a:solidFill>
                  <a:schemeClr val="tx1"/>
                </a:solidFill>
                <a:effectLst/>
              </a:rPr>
            </a:br>
            <a:r>
              <a:rPr kumimoji="0" lang="it-IT" altLang="it-IT" sz="1200" b="0" i="0" u="none" strike="noStrike" cap="none" normalizeH="0" baseline="0" dirty="0">
                <a:ln>
                  <a:noFill/>
                </a:ln>
                <a:solidFill>
                  <a:schemeClr val="tx1"/>
                </a:solidFill>
                <a:effectLst/>
              </a:rPr>
              <a:t>Data </a:t>
            </a:r>
            <a:r>
              <a:rPr kumimoji="0" lang="it-IT" altLang="it-IT" sz="1200" b="0" i="0" u="none" strike="noStrike" cap="none" normalizeH="0" baseline="0" dirty="0" err="1">
                <a:ln>
                  <a:noFill/>
                </a:ln>
                <a:solidFill>
                  <a:schemeClr val="tx1"/>
                </a:solidFill>
                <a:effectLst/>
              </a:rPr>
              <a:t>were</a:t>
            </a:r>
            <a:r>
              <a:rPr kumimoji="0" lang="it-IT" altLang="it-IT" sz="1200" b="0" i="0" u="none" strike="noStrike" cap="none" normalizeH="0" baseline="0" dirty="0">
                <a:ln>
                  <a:noFill/>
                </a:ln>
                <a:solidFill>
                  <a:schemeClr val="tx1"/>
                </a:solidFill>
                <a:effectLst/>
              </a:rPr>
              <a:t> </a:t>
            </a:r>
            <a:r>
              <a:rPr kumimoji="0" lang="it-IT" altLang="it-IT" sz="1200" b="0" i="0" u="none" strike="noStrike" cap="none" normalizeH="0" baseline="0" dirty="0" err="1">
                <a:ln>
                  <a:noFill/>
                </a:ln>
                <a:solidFill>
                  <a:schemeClr val="tx1"/>
                </a:solidFill>
                <a:effectLst/>
              </a:rPr>
              <a:t>collected</a:t>
            </a:r>
            <a:r>
              <a:rPr kumimoji="0" lang="it-IT" altLang="it-IT" sz="1200" b="0" i="0" u="none" strike="noStrike" cap="none" normalizeH="0" baseline="0" dirty="0">
                <a:ln>
                  <a:noFill/>
                </a:ln>
                <a:solidFill>
                  <a:schemeClr val="tx1"/>
                </a:solidFill>
                <a:effectLst/>
              </a:rPr>
              <a:t> </a:t>
            </a:r>
            <a:r>
              <a:rPr kumimoji="0" lang="it-IT" altLang="it-IT" sz="1200" b="0" i="0" u="none" strike="noStrike" cap="none" normalizeH="0" baseline="0" dirty="0" err="1">
                <a:ln>
                  <a:noFill/>
                </a:ln>
                <a:solidFill>
                  <a:schemeClr val="tx1"/>
                </a:solidFill>
                <a:effectLst/>
              </a:rPr>
              <a:t>every</a:t>
            </a:r>
            <a:r>
              <a:rPr kumimoji="0" lang="it-IT" altLang="it-IT" sz="1200" b="0" i="0" u="none" strike="noStrike" cap="none" normalizeH="0" baseline="0" dirty="0">
                <a:ln>
                  <a:noFill/>
                </a:ln>
                <a:solidFill>
                  <a:schemeClr val="tx1"/>
                </a:solidFill>
                <a:effectLst/>
              </a:rPr>
              <a:t> 10 minutes up to 2025-10-08, </a:t>
            </a:r>
            <a:r>
              <a:rPr kumimoji="0" lang="it-IT" altLang="it-IT" sz="1200" b="0" i="0" u="none" strike="noStrike" cap="none" normalizeH="0" baseline="0" dirty="0" err="1">
                <a:ln>
                  <a:noFill/>
                </a:ln>
                <a:solidFill>
                  <a:schemeClr val="tx1"/>
                </a:solidFill>
                <a:effectLst/>
              </a:rPr>
              <a:t>then</a:t>
            </a:r>
            <a:r>
              <a:rPr kumimoji="0" lang="it-IT" altLang="it-IT" sz="1200" b="0" i="0" u="none" strike="noStrike" cap="none" normalizeH="0" baseline="0" dirty="0">
                <a:ln>
                  <a:noFill/>
                </a:ln>
                <a:solidFill>
                  <a:schemeClr val="tx1"/>
                </a:solidFill>
                <a:effectLst/>
              </a:rPr>
              <a:t> </a:t>
            </a:r>
            <a:r>
              <a:rPr kumimoji="0" lang="it-IT" altLang="it-IT" sz="1200" b="0" i="0" u="none" strike="noStrike" cap="none" normalizeH="0" baseline="0" dirty="0" err="1">
                <a:ln>
                  <a:noFill/>
                </a:ln>
                <a:solidFill>
                  <a:schemeClr val="tx1"/>
                </a:solidFill>
                <a:effectLst/>
              </a:rPr>
              <a:t>every</a:t>
            </a:r>
            <a:r>
              <a:rPr kumimoji="0" lang="it-IT" altLang="it-IT" sz="1200" b="0" i="0" u="none" strike="noStrike" cap="none" normalizeH="0" baseline="0" dirty="0">
                <a:ln>
                  <a:noFill/>
                </a:ln>
                <a:solidFill>
                  <a:schemeClr val="tx1"/>
                </a:solidFill>
                <a:effectLst/>
              </a:rPr>
              <a:t> 1 minute after </a:t>
            </a:r>
            <a:r>
              <a:rPr kumimoji="0" lang="it-IT" altLang="it-IT" sz="1200" b="0" i="0" u="none" strike="noStrike" cap="none" normalizeH="0" baseline="0" dirty="0" err="1">
                <a:ln>
                  <a:noFill/>
                </a:ln>
                <a:solidFill>
                  <a:schemeClr val="tx1"/>
                </a:solidFill>
                <a:effectLst/>
              </a:rPr>
              <a:t>that</a:t>
            </a:r>
            <a:r>
              <a:rPr kumimoji="0" lang="it-IT" altLang="it-IT" sz="1200" b="0" i="0" u="none" strike="noStrike" cap="none" normalizeH="0" baseline="0" dirty="0">
                <a:ln>
                  <a:noFill/>
                </a:ln>
                <a:solidFill>
                  <a:schemeClr val="tx1"/>
                </a:solidFill>
                <a:effectLst/>
              </a:rPr>
              <a:t>. </a:t>
            </a:r>
            <a:br>
              <a:rPr kumimoji="0" lang="it-IT" altLang="it-IT" sz="1200" b="0" i="0" u="none" strike="noStrike" cap="none" normalizeH="0" baseline="0" dirty="0">
                <a:ln>
                  <a:noFill/>
                </a:ln>
                <a:solidFill>
                  <a:schemeClr val="tx1"/>
                </a:solidFill>
                <a:effectLst/>
              </a:rPr>
            </a:br>
            <a:endParaRPr kumimoji="0" lang="it-IT" altLang="it-IT" sz="1200" b="0" i="0" u="none" strike="noStrike" cap="none" normalizeH="0" baseline="0" dirty="0">
              <a:ln>
                <a:noFill/>
              </a:ln>
              <a:solidFill>
                <a:schemeClr val="tx1"/>
              </a:solidFill>
              <a:effectLst/>
            </a:endParaRP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it-IT" altLang="it-IT" sz="1200" b="1" i="0" u="none" strike="noStrike" cap="none" normalizeH="0" baseline="0" dirty="0" err="1">
                <a:ln>
                  <a:noFill/>
                </a:ln>
                <a:solidFill>
                  <a:schemeClr val="tx1"/>
                </a:solidFill>
                <a:effectLst/>
              </a:rPr>
              <a:t>Missing-value</a:t>
            </a:r>
            <a:r>
              <a:rPr kumimoji="0" lang="it-IT" altLang="it-IT" sz="1200" b="1" i="0" u="none" strike="noStrike" cap="none" normalizeH="0" baseline="0" dirty="0">
                <a:ln>
                  <a:noFill/>
                </a:ln>
                <a:solidFill>
                  <a:schemeClr val="tx1"/>
                </a:solidFill>
                <a:effectLst/>
              </a:rPr>
              <a:t> </a:t>
            </a:r>
            <a:r>
              <a:rPr kumimoji="0" lang="it-IT" altLang="it-IT" sz="1200" b="1" i="0" u="none" strike="noStrike" cap="none" normalizeH="0" baseline="0" dirty="0" err="1">
                <a:ln>
                  <a:noFill/>
                </a:ln>
                <a:solidFill>
                  <a:schemeClr val="tx1"/>
                </a:solidFill>
                <a:effectLst/>
              </a:rPr>
              <a:t>handling</a:t>
            </a:r>
            <a:r>
              <a:rPr kumimoji="0" lang="it-IT" altLang="it-IT" sz="1200" b="1" i="0" u="none" strike="noStrike" cap="none" normalizeH="0" baseline="0" dirty="0">
                <a:ln>
                  <a:noFill/>
                </a:ln>
                <a:solidFill>
                  <a:schemeClr val="tx1"/>
                </a:solidFill>
                <a:effectLst/>
              </a:rPr>
              <a:t> / </a:t>
            </a:r>
            <a:r>
              <a:rPr kumimoji="0" lang="it-IT" altLang="it-IT" sz="1200" b="1" i="0" u="none" strike="noStrike" cap="none" normalizeH="0" baseline="0" dirty="0" err="1">
                <a:ln>
                  <a:noFill/>
                </a:ln>
                <a:solidFill>
                  <a:schemeClr val="tx1"/>
                </a:solidFill>
                <a:effectLst/>
              </a:rPr>
              <a:t>interpolation</a:t>
            </a:r>
            <a:r>
              <a:rPr kumimoji="0" lang="it-IT" altLang="it-IT" sz="1200" b="1" i="0" u="none" strike="noStrike" cap="none" normalizeH="0" baseline="0" dirty="0">
                <a:ln>
                  <a:noFill/>
                </a:ln>
                <a:solidFill>
                  <a:schemeClr val="tx1"/>
                </a:solidFill>
                <a:effectLst/>
              </a:rPr>
              <a:t> risk</a:t>
            </a:r>
            <a:br>
              <a:rPr kumimoji="0" lang="it-IT" altLang="it-IT" sz="1200" b="0" i="0" u="none" strike="noStrike" cap="none" normalizeH="0" baseline="0" dirty="0">
                <a:ln>
                  <a:noFill/>
                </a:ln>
                <a:solidFill>
                  <a:schemeClr val="tx1"/>
                </a:solidFill>
                <a:effectLst/>
              </a:rPr>
            </a:br>
            <a:r>
              <a:rPr kumimoji="0" lang="it-IT" altLang="it-IT" sz="1200" b="0" i="0" u="none" strike="noStrike" cap="none" normalizeH="0" baseline="0" dirty="0">
                <a:ln>
                  <a:noFill/>
                </a:ln>
                <a:solidFill>
                  <a:schemeClr val="tx1"/>
                </a:solidFill>
                <a:effectLst/>
              </a:rPr>
              <a:t>Short gaps </a:t>
            </a:r>
            <a:r>
              <a:rPr kumimoji="0" lang="it-IT" altLang="it-IT" sz="1200" b="0" i="0" u="none" strike="noStrike" cap="none" normalizeH="0" baseline="0" dirty="0" err="1">
                <a:ln>
                  <a:noFill/>
                </a:ln>
                <a:solidFill>
                  <a:schemeClr val="tx1"/>
                </a:solidFill>
                <a:effectLst/>
              </a:rPr>
              <a:t>may</a:t>
            </a:r>
            <a:r>
              <a:rPr kumimoji="0" lang="it-IT" altLang="it-IT" sz="1200" b="0" i="0" u="none" strike="noStrike" cap="none" normalizeH="0" baseline="0" dirty="0">
                <a:ln>
                  <a:noFill/>
                </a:ln>
                <a:solidFill>
                  <a:schemeClr val="tx1"/>
                </a:solidFill>
                <a:effectLst/>
              </a:rPr>
              <a:t> be </a:t>
            </a:r>
            <a:r>
              <a:rPr kumimoji="0" lang="it-IT" altLang="it-IT" sz="1200" b="0" i="0" u="none" strike="noStrike" cap="none" normalizeH="0" baseline="0" dirty="0" err="1">
                <a:ln>
                  <a:noFill/>
                </a:ln>
                <a:solidFill>
                  <a:schemeClr val="tx1"/>
                </a:solidFill>
                <a:effectLst/>
              </a:rPr>
              <a:t>handled</a:t>
            </a:r>
            <a:r>
              <a:rPr kumimoji="0" lang="it-IT" altLang="it-IT" sz="1200" b="0" i="0" u="none" strike="noStrike" cap="none" normalizeH="0" baseline="0" dirty="0">
                <a:ln>
                  <a:noFill/>
                </a:ln>
                <a:solidFill>
                  <a:schemeClr val="tx1"/>
                </a:solidFill>
                <a:effectLst/>
              </a:rPr>
              <a:t> with time-</a:t>
            </a:r>
            <a:r>
              <a:rPr kumimoji="0" lang="it-IT" altLang="it-IT" sz="1200" b="0" i="0" u="none" strike="noStrike" cap="none" normalizeH="0" baseline="0" dirty="0" err="1">
                <a:ln>
                  <a:noFill/>
                </a:ln>
                <a:solidFill>
                  <a:schemeClr val="tx1"/>
                </a:solidFill>
                <a:effectLst/>
              </a:rPr>
              <a:t>aware</a:t>
            </a:r>
            <a:r>
              <a:rPr kumimoji="0" lang="it-IT" altLang="it-IT" sz="1200" b="0" i="0" u="none" strike="noStrike" cap="none" normalizeH="0" baseline="0" dirty="0">
                <a:ln>
                  <a:noFill/>
                </a:ln>
                <a:solidFill>
                  <a:schemeClr val="tx1"/>
                </a:solidFill>
                <a:effectLst/>
              </a:rPr>
              <a:t> </a:t>
            </a:r>
            <a:r>
              <a:rPr kumimoji="0" lang="it-IT" altLang="it-IT" sz="1200" b="0" i="0" u="none" strike="noStrike" cap="none" normalizeH="0" baseline="0" dirty="0" err="1">
                <a:ln>
                  <a:noFill/>
                </a:ln>
                <a:solidFill>
                  <a:schemeClr val="tx1"/>
                </a:solidFill>
                <a:effectLst/>
              </a:rPr>
              <a:t>interpolation</a:t>
            </a:r>
            <a:r>
              <a:rPr kumimoji="0" lang="it-IT" altLang="it-IT" sz="1200" b="0" i="0" u="none" strike="noStrike" cap="none" normalizeH="0" baseline="0" dirty="0">
                <a:ln>
                  <a:noFill/>
                </a:ln>
                <a:solidFill>
                  <a:schemeClr val="tx1"/>
                </a:solidFill>
                <a:effectLst/>
              </a:rPr>
              <a:t>, </a:t>
            </a:r>
            <a:r>
              <a:rPr kumimoji="0" lang="it-IT" altLang="it-IT" sz="1200" b="0" i="0" u="none" strike="noStrike" cap="none" normalizeH="0" baseline="0" dirty="0" err="1">
                <a:ln>
                  <a:noFill/>
                </a:ln>
                <a:solidFill>
                  <a:schemeClr val="tx1"/>
                </a:solidFill>
                <a:effectLst/>
              </a:rPr>
              <a:t>but</a:t>
            </a:r>
            <a:r>
              <a:rPr kumimoji="0" lang="it-IT" altLang="it-IT" sz="1200" b="0" i="0" u="none" strike="noStrike" cap="none" normalizeH="0" baseline="0" dirty="0">
                <a:ln>
                  <a:noFill/>
                </a:ln>
                <a:solidFill>
                  <a:schemeClr val="tx1"/>
                </a:solidFill>
                <a:effectLst/>
              </a:rPr>
              <a:t> long gaps </a:t>
            </a:r>
            <a:r>
              <a:rPr kumimoji="0" lang="it-IT" altLang="it-IT" sz="1200" b="0" i="0" u="none" strike="noStrike" cap="none" normalizeH="0" baseline="0" dirty="0" err="1">
                <a:ln>
                  <a:noFill/>
                </a:ln>
                <a:solidFill>
                  <a:schemeClr val="tx1"/>
                </a:solidFill>
                <a:effectLst/>
              </a:rPr>
              <a:t>should</a:t>
            </a:r>
            <a:r>
              <a:rPr kumimoji="0" lang="it-IT" altLang="it-IT" sz="1200" b="0" i="0" u="none" strike="noStrike" cap="none" normalizeH="0" baseline="0" dirty="0">
                <a:ln>
                  <a:noFill/>
                </a:ln>
                <a:solidFill>
                  <a:schemeClr val="tx1"/>
                </a:solidFill>
                <a:effectLst/>
              </a:rPr>
              <a:t> be </a:t>
            </a:r>
            <a:r>
              <a:rPr kumimoji="0" lang="it-IT" altLang="it-IT" sz="1200" b="0" i="0" u="none" strike="noStrike" cap="none" normalizeH="0" baseline="0" dirty="0" err="1">
                <a:ln>
                  <a:noFill/>
                </a:ln>
                <a:solidFill>
                  <a:schemeClr val="tx1"/>
                </a:solidFill>
                <a:effectLst/>
              </a:rPr>
              <a:t>flagged</a:t>
            </a:r>
            <a:r>
              <a:rPr kumimoji="0" lang="it-IT" altLang="it-IT" sz="1200" b="0" i="0" u="none" strike="noStrike" cap="none" normalizeH="0" baseline="0" dirty="0">
                <a:ln>
                  <a:noFill/>
                </a:ln>
                <a:solidFill>
                  <a:schemeClr val="tx1"/>
                </a:solidFill>
                <a:effectLst/>
              </a:rPr>
              <a:t> or </a:t>
            </a:r>
            <a:r>
              <a:rPr kumimoji="0" lang="it-IT" altLang="it-IT" sz="1200" b="0" i="0" u="none" strike="noStrike" cap="none" normalizeH="0" baseline="0" dirty="0" err="1">
                <a:ln>
                  <a:noFill/>
                </a:ln>
                <a:solidFill>
                  <a:schemeClr val="tx1"/>
                </a:solidFill>
                <a:effectLst/>
              </a:rPr>
              <a:t>excluded</a:t>
            </a:r>
            <a:r>
              <a:rPr kumimoji="0" lang="it-IT" altLang="it-IT" sz="1200" b="0" i="0" u="none" strike="noStrike" cap="none" normalizeH="0" baseline="0" dirty="0">
                <a:ln>
                  <a:noFill/>
                </a:ln>
                <a:solidFill>
                  <a:schemeClr val="tx1"/>
                </a:solidFill>
                <a:effectLst/>
              </a:rPr>
              <a:t>. </a:t>
            </a:r>
            <a:br>
              <a:rPr kumimoji="0" lang="it-IT" altLang="it-IT" sz="1200" b="0" i="0" u="none" strike="noStrike" cap="none" normalizeH="0" baseline="0" dirty="0">
                <a:ln>
                  <a:noFill/>
                </a:ln>
                <a:solidFill>
                  <a:schemeClr val="tx1"/>
                </a:solidFill>
                <a:effectLst/>
              </a:rPr>
            </a:br>
            <a:endParaRPr kumimoji="0" lang="it-IT" altLang="it-IT" sz="1200" b="0" i="0" u="none" strike="noStrike" cap="none" normalizeH="0" baseline="0" dirty="0">
              <a:ln>
                <a:noFill/>
              </a:ln>
              <a:solidFill>
                <a:schemeClr val="tx1"/>
              </a:solidFill>
              <a:effectLst/>
            </a:endParaRP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it-IT" altLang="it-IT" sz="1200" b="1" i="0" u="none" strike="noStrike" cap="none" normalizeH="0" baseline="0" dirty="0" err="1">
                <a:ln>
                  <a:noFill/>
                </a:ln>
                <a:solidFill>
                  <a:schemeClr val="tx1"/>
                </a:solidFill>
                <a:effectLst/>
              </a:rPr>
              <a:t>Timestamp</a:t>
            </a:r>
            <a:r>
              <a:rPr kumimoji="0" lang="it-IT" altLang="it-IT" sz="1200" b="1" i="0" u="none" strike="noStrike" cap="none" normalizeH="0" baseline="0" dirty="0">
                <a:ln>
                  <a:noFill/>
                </a:ln>
                <a:solidFill>
                  <a:schemeClr val="tx1"/>
                </a:solidFill>
                <a:effectLst/>
              </a:rPr>
              <a:t> </a:t>
            </a:r>
            <a:r>
              <a:rPr kumimoji="0" lang="it-IT" altLang="it-IT" sz="1200" b="1" i="0" u="none" strike="noStrike" cap="none" normalizeH="0" baseline="0" dirty="0" err="1">
                <a:ln>
                  <a:noFill/>
                </a:ln>
                <a:solidFill>
                  <a:schemeClr val="tx1"/>
                </a:solidFill>
                <a:effectLst/>
              </a:rPr>
              <a:t>alignment</a:t>
            </a:r>
            <a:r>
              <a:rPr kumimoji="0" lang="it-IT" altLang="it-IT" sz="1200" b="1" i="0" u="none" strike="noStrike" cap="none" normalizeH="0" baseline="0" dirty="0">
                <a:ln>
                  <a:noFill/>
                </a:ln>
                <a:solidFill>
                  <a:schemeClr val="tx1"/>
                </a:solidFill>
                <a:effectLst/>
              </a:rPr>
              <a:t> and </a:t>
            </a:r>
            <a:r>
              <a:rPr kumimoji="0" lang="it-IT" altLang="it-IT" sz="1200" b="1" i="0" u="none" strike="noStrike" cap="none" normalizeH="0" baseline="0" dirty="0" err="1">
                <a:ln>
                  <a:noFill/>
                </a:ln>
                <a:solidFill>
                  <a:schemeClr val="tx1"/>
                </a:solidFill>
                <a:effectLst/>
              </a:rPr>
              <a:t>sensor</a:t>
            </a:r>
            <a:r>
              <a:rPr kumimoji="0" lang="it-IT" altLang="it-IT" sz="1200" b="1" i="0" u="none" strike="noStrike" cap="none" normalizeH="0" baseline="0" dirty="0">
                <a:ln>
                  <a:noFill/>
                </a:ln>
                <a:solidFill>
                  <a:schemeClr val="tx1"/>
                </a:solidFill>
                <a:effectLst/>
              </a:rPr>
              <a:t> </a:t>
            </a:r>
            <a:r>
              <a:rPr kumimoji="0" lang="it-IT" altLang="it-IT" sz="1200" b="1" i="0" u="none" strike="noStrike" cap="none" normalizeH="0" baseline="0" dirty="0" err="1">
                <a:ln>
                  <a:noFill/>
                </a:ln>
                <a:solidFill>
                  <a:schemeClr val="tx1"/>
                </a:solidFill>
                <a:effectLst/>
              </a:rPr>
              <a:t>merging</a:t>
            </a:r>
            <a:br>
              <a:rPr kumimoji="0" lang="it-IT" altLang="it-IT" sz="1200" b="0" i="0" u="none" strike="noStrike" cap="none" normalizeH="0" baseline="0" dirty="0">
                <a:ln>
                  <a:noFill/>
                </a:ln>
                <a:solidFill>
                  <a:schemeClr val="tx1"/>
                </a:solidFill>
                <a:effectLst/>
              </a:rPr>
            </a:br>
            <a:r>
              <a:rPr kumimoji="0" lang="it-IT" altLang="it-IT" sz="1200" b="0" i="0" u="none" strike="noStrike" cap="none" normalizeH="0" baseline="0" dirty="0" err="1">
                <a:ln>
                  <a:noFill/>
                </a:ln>
                <a:solidFill>
                  <a:schemeClr val="tx1"/>
                </a:solidFill>
                <a:effectLst/>
              </a:rPr>
              <a:t>Different</a:t>
            </a:r>
            <a:r>
              <a:rPr kumimoji="0" lang="it-IT" altLang="it-IT" sz="1200" b="0" i="0" u="none" strike="noStrike" cap="none" normalizeH="0" baseline="0" dirty="0">
                <a:ln>
                  <a:noFill/>
                </a:ln>
                <a:solidFill>
                  <a:schemeClr val="tx1"/>
                </a:solidFill>
                <a:effectLst/>
              </a:rPr>
              <a:t> </a:t>
            </a:r>
            <a:r>
              <a:rPr kumimoji="0" lang="it-IT" altLang="it-IT" sz="1200" b="0" i="0" u="none" strike="noStrike" cap="none" normalizeH="0" baseline="0" dirty="0" err="1">
                <a:ln>
                  <a:noFill/>
                </a:ln>
                <a:solidFill>
                  <a:schemeClr val="tx1"/>
                </a:solidFill>
                <a:effectLst/>
              </a:rPr>
              <a:t>sensors</a:t>
            </a:r>
            <a:r>
              <a:rPr kumimoji="0" lang="it-IT" altLang="it-IT" sz="1200" b="0" i="0" u="none" strike="noStrike" cap="none" normalizeH="0" baseline="0" dirty="0">
                <a:ln>
                  <a:noFill/>
                </a:ln>
                <a:solidFill>
                  <a:schemeClr val="tx1"/>
                </a:solidFill>
                <a:effectLst/>
              </a:rPr>
              <a:t> </a:t>
            </a:r>
            <a:r>
              <a:rPr kumimoji="0" lang="it-IT" altLang="it-IT" sz="1200" b="0" i="0" u="none" strike="noStrike" cap="none" normalizeH="0" baseline="0" dirty="0" err="1">
                <a:ln>
                  <a:noFill/>
                </a:ln>
                <a:solidFill>
                  <a:schemeClr val="tx1"/>
                </a:solidFill>
                <a:effectLst/>
              </a:rPr>
              <a:t>may</a:t>
            </a:r>
            <a:r>
              <a:rPr kumimoji="0" lang="it-IT" altLang="it-IT" sz="1200" b="0" i="0" u="none" strike="noStrike" cap="none" normalizeH="0" baseline="0" dirty="0">
                <a:ln>
                  <a:noFill/>
                </a:ln>
                <a:solidFill>
                  <a:schemeClr val="tx1"/>
                </a:solidFill>
                <a:effectLst/>
              </a:rPr>
              <a:t> </a:t>
            </a:r>
            <a:r>
              <a:rPr kumimoji="0" lang="it-IT" altLang="it-IT" sz="1200" b="0" i="0" u="none" strike="noStrike" cap="none" normalizeH="0" baseline="0" dirty="0" err="1">
                <a:ln>
                  <a:noFill/>
                </a:ln>
                <a:solidFill>
                  <a:schemeClr val="tx1"/>
                </a:solidFill>
                <a:effectLst/>
              </a:rPr>
              <a:t>not</a:t>
            </a:r>
            <a:r>
              <a:rPr kumimoji="0" lang="it-IT" altLang="it-IT" sz="1200" b="0" i="0" u="none" strike="noStrike" cap="none" normalizeH="0" baseline="0" dirty="0">
                <a:ln>
                  <a:noFill/>
                </a:ln>
                <a:solidFill>
                  <a:schemeClr val="tx1"/>
                </a:solidFill>
                <a:effectLst/>
              </a:rPr>
              <a:t> log </a:t>
            </a:r>
            <a:r>
              <a:rPr kumimoji="0" lang="it-IT" altLang="it-IT" sz="1200" b="0" i="0" u="none" strike="noStrike" cap="none" normalizeH="0" baseline="0" dirty="0" err="1">
                <a:ln>
                  <a:noFill/>
                </a:ln>
                <a:solidFill>
                  <a:schemeClr val="tx1"/>
                </a:solidFill>
                <a:effectLst/>
              </a:rPr>
              <a:t>at</a:t>
            </a:r>
            <a:r>
              <a:rPr kumimoji="0" lang="it-IT" altLang="it-IT" sz="1200" b="0" i="0" u="none" strike="noStrike" cap="none" normalizeH="0" baseline="0" dirty="0">
                <a:ln>
                  <a:noFill/>
                </a:ln>
                <a:solidFill>
                  <a:schemeClr val="tx1"/>
                </a:solidFill>
                <a:effectLst/>
              </a:rPr>
              <a:t> the </a:t>
            </a:r>
            <a:r>
              <a:rPr kumimoji="0" lang="it-IT" altLang="it-IT" sz="1200" b="0" i="0" u="none" strike="noStrike" cap="none" normalizeH="0" baseline="0" dirty="0" err="1">
                <a:ln>
                  <a:noFill/>
                </a:ln>
                <a:solidFill>
                  <a:schemeClr val="tx1"/>
                </a:solidFill>
                <a:effectLst/>
              </a:rPr>
              <a:t>exact</a:t>
            </a:r>
            <a:r>
              <a:rPr kumimoji="0" lang="it-IT" altLang="it-IT" sz="1200" b="0" i="0" u="none" strike="noStrike" cap="none" normalizeH="0" baseline="0" dirty="0">
                <a:ln>
                  <a:noFill/>
                </a:ln>
                <a:solidFill>
                  <a:schemeClr val="tx1"/>
                </a:solidFill>
                <a:effectLst/>
              </a:rPr>
              <a:t> </a:t>
            </a:r>
            <a:r>
              <a:rPr kumimoji="0" lang="it-IT" altLang="it-IT" sz="1200" b="0" i="0" u="none" strike="noStrike" cap="none" normalizeH="0" baseline="0" dirty="0" err="1">
                <a:ln>
                  <a:noFill/>
                </a:ln>
                <a:solidFill>
                  <a:schemeClr val="tx1"/>
                </a:solidFill>
                <a:effectLst/>
              </a:rPr>
              <a:t>same</a:t>
            </a:r>
            <a:r>
              <a:rPr kumimoji="0" lang="it-IT" altLang="it-IT" sz="1200" b="0" i="0" u="none" strike="noStrike" cap="none" normalizeH="0" baseline="0" dirty="0">
                <a:ln>
                  <a:noFill/>
                </a:ln>
                <a:solidFill>
                  <a:schemeClr val="tx1"/>
                </a:solidFill>
                <a:effectLst/>
              </a:rPr>
              <a:t> time, so </a:t>
            </a:r>
            <a:r>
              <a:rPr kumimoji="0" lang="it-IT" altLang="it-IT" sz="1200" b="0" i="0" u="none" strike="noStrike" cap="none" normalizeH="0" baseline="0" dirty="0" err="1">
                <a:ln>
                  <a:noFill/>
                </a:ln>
                <a:solidFill>
                  <a:schemeClr val="tx1"/>
                </a:solidFill>
                <a:effectLst/>
              </a:rPr>
              <a:t>merging</a:t>
            </a:r>
            <a:r>
              <a:rPr kumimoji="0" lang="it-IT" altLang="it-IT" sz="1200" b="0" i="0" u="none" strike="noStrike" cap="none" normalizeH="0" baseline="0" dirty="0">
                <a:ln>
                  <a:noFill/>
                </a:ln>
                <a:solidFill>
                  <a:schemeClr val="tx1"/>
                </a:solidFill>
                <a:effectLst/>
              </a:rPr>
              <a:t> </a:t>
            </a:r>
            <a:r>
              <a:rPr kumimoji="0" lang="it-IT" altLang="it-IT" sz="1200" b="0" i="0" u="none" strike="noStrike" cap="none" normalizeH="0" baseline="0" dirty="0" err="1">
                <a:ln>
                  <a:noFill/>
                </a:ln>
                <a:solidFill>
                  <a:schemeClr val="tx1"/>
                </a:solidFill>
                <a:effectLst/>
              </a:rPr>
              <a:t>requires</a:t>
            </a:r>
            <a:r>
              <a:rPr kumimoji="0" lang="it-IT" altLang="it-IT" sz="1200" b="0" i="0" u="none" strike="noStrike" cap="none" normalizeH="0" baseline="0" dirty="0">
                <a:ln>
                  <a:noFill/>
                </a:ln>
                <a:solidFill>
                  <a:schemeClr val="tx1"/>
                </a:solidFill>
                <a:effectLst/>
              </a:rPr>
              <a:t> </a:t>
            </a:r>
            <a:r>
              <a:rPr kumimoji="0" lang="it-IT" altLang="it-IT" sz="1200" b="0" i="0" u="none" strike="noStrike" cap="none" normalizeH="0" baseline="0" dirty="0" err="1">
                <a:ln>
                  <a:noFill/>
                </a:ln>
                <a:solidFill>
                  <a:schemeClr val="tx1"/>
                </a:solidFill>
                <a:effectLst/>
              </a:rPr>
              <a:t>nearest</a:t>
            </a:r>
            <a:r>
              <a:rPr kumimoji="0" lang="it-IT" altLang="it-IT" sz="1200" b="0" i="0" u="none" strike="noStrike" cap="none" normalizeH="0" baseline="0" dirty="0">
                <a:ln>
                  <a:noFill/>
                </a:ln>
                <a:solidFill>
                  <a:schemeClr val="tx1"/>
                </a:solidFill>
                <a:effectLst/>
              </a:rPr>
              <a:t>-time or </a:t>
            </a:r>
            <a:r>
              <a:rPr kumimoji="0" lang="it-IT" altLang="it-IT" sz="1200" b="0" i="0" u="none" strike="noStrike" cap="none" normalizeH="0" baseline="0" dirty="0" err="1">
                <a:ln>
                  <a:noFill/>
                </a:ln>
                <a:solidFill>
                  <a:schemeClr val="tx1"/>
                </a:solidFill>
                <a:effectLst/>
              </a:rPr>
              <a:t>resampling</a:t>
            </a:r>
            <a:r>
              <a:rPr kumimoji="0" lang="it-IT" altLang="it-IT" sz="1200" b="0" i="0" u="none" strike="noStrike" cap="none" normalizeH="0" baseline="0" dirty="0">
                <a:ln>
                  <a:noFill/>
                </a:ln>
                <a:solidFill>
                  <a:schemeClr val="tx1"/>
                </a:solidFill>
                <a:effectLst/>
              </a:rPr>
              <a:t> </a:t>
            </a:r>
            <a:r>
              <a:rPr kumimoji="0" lang="it-IT" altLang="it-IT" sz="1200" b="0" i="0" u="none" strike="noStrike" cap="none" normalizeH="0" baseline="0" dirty="0" err="1">
                <a:ln>
                  <a:noFill/>
                </a:ln>
                <a:solidFill>
                  <a:schemeClr val="tx1"/>
                </a:solidFill>
                <a:effectLst/>
              </a:rPr>
              <a:t>logic</a:t>
            </a:r>
            <a:r>
              <a:rPr kumimoji="0" lang="it-IT" altLang="it-IT" sz="1200" b="0" i="0" u="none" strike="noStrike" cap="none" normalizeH="0" baseline="0" dirty="0">
                <a:ln>
                  <a:noFill/>
                </a:ln>
                <a:solidFill>
                  <a:schemeClr val="tx1"/>
                </a:solidFill>
                <a:effectLst/>
              </a:rPr>
              <a:t>. </a:t>
            </a:r>
            <a:br>
              <a:rPr kumimoji="0" lang="it-IT" altLang="it-IT" sz="1200" b="0" i="0" u="none" strike="noStrike" cap="none" normalizeH="0" baseline="0" dirty="0">
                <a:ln>
                  <a:noFill/>
                </a:ln>
                <a:solidFill>
                  <a:schemeClr val="tx1"/>
                </a:solidFill>
                <a:effectLst/>
              </a:rPr>
            </a:br>
            <a:endParaRPr kumimoji="0" lang="it-IT" altLang="it-IT" sz="1200" b="0" i="0" u="none" strike="noStrike" cap="none" normalizeH="0" baseline="0" dirty="0">
              <a:ln>
                <a:noFill/>
              </a:ln>
              <a:solidFill>
                <a:schemeClr val="tx1"/>
              </a:solidFill>
              <a:effectLst/>
            </a:endParaRP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it-IT" altLang="it-IT" sz="1200" b="1" i="0" u="none" strike="noStrike" cap="none" normalizeH="0" baseline="0" dirty="0">
                <a:ln>
                  <a:noFill/>
                </a:ln>
                <a:solidFill>
                  <a:schemeClr val="tx1"/>
                </a:solidFill>
                <a:effectLst/>
              </a:rPr>
              <a:t>Class </a:t>
            </a:r>
            <a:r>
              <a:rPr kumimoji="0" lang="it-IT" altLang="it-IT" sz="1200" b="1" i="0" u="none" strike="noStrike" cap="none" normalizeH="0" baseline="0" dirty="0" err="1">
                <a:ln>
                  <a:noFill/>
                </a:ln>
                <a:solidFill>
                  <a:schemeClr val="tx1"/>
                </a:solidFill>
                <a:effectLst/>
              </a:rPr>
              <a:t>imbalance</a:t>
            </a:r>
            <a:r>
              <a:rPr kumimoji="0" lang="it-IT" altLang="it-IT" sz="1200" b="1" i="0" u="none" strike="noStrike" cap="none" normalizeH="0" baseline="0" dirty="0">
                <a:ln>
                  <a:noFill/>
                </a:ln>
                <a:solidFill>
                  <a:schemeClr val="tx1"/>
                </a:solidFill>
                <a:effectLst/>
              </a:rPr>
              <a:t> in </a:t>
            </a:r>
            <a:r>
              <a:rPr kumimoji="0" lang="it-IT" altLang="it-IT" sz="1200" b="1" i="0" u="none" strike="noStrike" cap="none" normalizeH="0" baseline="0" dirty="0" err="1">
                <a:ln>
                  <a:noFill/>
                </a:ln>
                <a:solidFill>
                  <a:schemeClr val="tx1"/>
                </a:solidFill>
                <a:effectLst/>
              </a:rPr>
              <a:t>occupancy</a:t>
            </a:r>
            <a:r>
              <a:rPr kumimoji="0" lang="it-IT" altLang="it-IT" sz="1200" b="1" i="0" u="none" strike="noStrike" cap="none" normalizeH="0" baseline="0" dirty="0">
                <a:ln>
                  <a:noFill/>
                </a:ln>
                <a:solidFill>
                  <a:schemeClr val="tx1"/>
                </a:solidFill>
                <a:effectLst/>
              </a:rPr>
              <a:t> labels</a:t>
            </a:r>
            <a:br>
              <a:rPr kumimoji="0" lang="it-IT" altLang="it-IT" sz="1200" b="0" i="0" u="none" strike="noStrike" cap="none" normalizeH="0" baseline="0" dirty="0">
                <a:ln>
                  <a:noFill/>
                </a:ln>
                <a:solidFill>
                  <a:schemeClr val="tx1"/>
                </a:solidFill>
                <a:effectLst/>
              </a:rPr>
            </a:br>
            <a:r>
              <a:rPr kumimoji="0" lang="it-IT" altLang="it-IT" sz="1200" b="0" i="0" u="none" strike="noStrike" cap="none" normalizeH="0" baseline="0" dirty="0" err="1">
                <a:ln>
                  <a:noFill/>
                </a:ln>
                <a:solidFill>
                  <a:schemeClr val="tx1"/>
                </a:solidFill>
                <a:effectLst/>
              </a:rPr>
              <a:t>Occupancy</a:t>
            </a:r>
            <a:r>
              <a:rPr kumimoji="0" lang="it-IT" altLang="it-IT" sz="1200" b="0" i="0" u="none" strike="noStrike" cap="none" normalizeH="0" baseline="0" dirty="0">
                <a:ln>
                  <a:noFill/>
                </a:ln>
                <a:solidFill>
                  <a:schemeClr val="tx1"/>
                </a:solidFill>
                <a:effectLst/>
              </a:rPr>
              <a:t> </a:t>
            </a:r>
            <a:r>
              <a:rPr kumimoji="0" lang="it-IT" altLang="it-IT" sz="1200" b="0" i="0" u="none" strike="noStrike" cap="none" normalizeH="0" baseline="0" dirty="0" err="1">
                <a:ln>
                  <a:noFill/>
                </a:ln>
                <a:solidFill>
                  <a:schemeClr val="tx1"/>
                </a:solidFill>
                <a:effectLst/>
              </a:rPr>
              <a:t>examples</a:t>
            </a:r>
            <a:r>
              <a:rPr kumimoji="0" lang="it-IT" altLang="it-IT" sz="1200" b="0" i="0" u="none" strike="noStrike" cap="none" normalizeH="0" baseline="0" dirty="0">
                <a:ln>
                  <a:noFill/>
                </a:ln>
                <a:solidFill>
                  <a:schemeClr val="tx1"/>
                </a:solidFill>
                <a:effectLst/>
              </a:rPr>
              <a:t> are </a:t>
            </a:r>
            <a:r>
              <a:rPr kumimoji="0" lang="it-IT" altLang="it-IT" sz="1200" b="0" i="0" u="none" strike="noStrike" cap="none" normalizeH="0" baseline="0" dirty="0" err="1">
                <a:ln>
                  <a:noFill/>
                </a:ln>
                <a:solidFill>
                  <a:schemeClr val="tx1"/>
                </a:solidFill>
                <a:effectLst/>
              </a:rPr>
              <a:t>not</a:t>
            </a:r>
            <a:r>
              <a:rPr kumimoji="0" lang="it-IT" altLang="it-IT" sz="1200" b="0" i="0" u="none" strike="noStrike" cap="none" normalizeH="0" baseline="0" dirty="0">
                <a:ln>
                  <a:noFill/>
                </a:ln>
                <a:solidFill>
                  <a:schemeClr val="tx1"/>
                </a:solidFill>
                <a:effectLst/>
              </a:rPr>
              <a:t> </a:t>
            </a:r>
            <a:r>
              <a:rPr kumimoji="0" lang="it-IT" altLang="it-IT" sz="1200" b="0" i="0" u="none" strike="noStrike" cap="none" normalizeH="0" baseline="0" dirty="0" err="1">
                <a:ln>
                  <a:noFill/>
                </a:ln>
                <a:solidFill>
                  <a:schemeClr val="tx1"/>
                </a:solidFill>
                <a:effectLst/>
              </a:rPr>
              <a:t>evenly</a:t>
            </a:r>
            <a:r>
              <a:rPr kumimoji="0" lang="it-IT" altLang="it-IT" sz="1200" b="0" i="0" u="none" strike="noStrike" cap="none" normalizeH="0" baseline="0" dirty="0">
                <a:ln>
                  <a:noFill/>
                </a:ln>
                <a:solidFill>
                  <a:schemeClr val="tx1"/>
                </a:solidFill>
                <a:effectLst/>
              </a:rPr>
              <a:t> </a:t>
            </a:r>
            <a:r>
              <a:rPr kumimoji="0" lang="it-IT" altLang="it-IT" sz="1200" b="0" i="0" u="none" strike="noStrike" cap="none" normalizeH="0" baseline="0" dirty="0" err="1">
                <a:ln>
                  <a:noFill/>
                </a:ln>
                <a:solidFill>
                  <a:schemeClr val="tx1"/>
                </a:solidFill>
                <a:effectLst/>
              </a:rPr>
              <a:t>distributed</a:t>
            </a:r>
            <a:r>
              <a:rPr kumimoji="0" lang="it-IT" altLang="it-IT" sz="1200" b="0" i="0" u="none" strike="noStrike" cap="none" normalizeH="0" baseline="0" dirty="0">
                <a:ln>
                  <a:noFill/>
                </a:ln>
                <a:solidFill>
                  <a:schemeClr val="tx1"/>
                </a:solidFill>
                <a:effectLst/>
              </a:rPr>
              <a:t> </a:t>
            </a:r>
            <a:r>
              <a:rPr kumimoji="0" lang="it-IT" altLang="it-IT" sz="1200" b="0" i="0" u="none" strike="noStrike" cap="none" normalizeH="0" baseline="0" dirty="0" err="1">
                <a:ln>
                  <a:noFill/>
                </a:ln>
                <a:solidFill>
                  <a:schemeClr val="tx1"/>
                </a:solidFill>
                <a:effectLst/>
              </a:rPr>
              <a:t>across</a:t>
            </a:r>
            <a:r>
              <a:rPr kumimoji="0" lang="it-IT" altLang="it-IT" sz="1200" b="0" i="0" u="none" strike="noStrike" cap="none" normalizeH="0" baseline="0" dirty="0">
                <a:ln>
                  <a:noFill/>
                </a:ln>
                <a:solidFill>
                  <a:schemeClr val="tx1"/>
                </a:solidFill>
                <a:effectLst/>
              </a:rPr>
              <a:t> </a:t>
            </a:r>
            <a:r>
              <a:rPr kumimoji="0" lang="it-IT" altLang="it-IT" sz="1200" b="0" i="0" u="none" strike="noStrike" cap="none" normalizeH="0" baseline="0" dirty="0" err="1">
                <a:ln>
                  <a:noFill/>
                </a:ln>
                <a:solidFill>
                  <a:schemeClr val="tx1"/>
                </a:solidFill>
                <a:effectLst/>
              </a:rPr>
              <a:t>all</a:t>
            </a:r>
            <a:r>
              <a:rPr kumimoji="0" lang="it-IT" altLang="it-IT" sz="1200" b="0" i="0" u="none" strike="noStrike" cap="none" normalizeH="0" baseline="0" dirty="0">
                <a:ln>
                  <a:noFill/>
                </a:ln>
                <a:solidFill>
                  <a:schemeClr val="tx1"/>
                </a:solidFill>
                <a:effectLst/>
              </a:rPr>
              <a:t> </a:t>
            </a:r>
            <a:r>
              <a:rPr kumimoji="0" lang="it-IT" altLang="it-IT" sz="1200" b="0" i="0" u="none" strike="noStrike" cap="none" normalizeH="0" baseline="0" dirty="0" err="1">
                <a:ln>
                  <a:noFill/>
                </a:ln>
                <a:solidFill>
                  <a:schemeClr val="tx1"/>
                </a:solidFill>
                <a:effectLst/>
              </a:rPr>
              <a:t>possible</a:t>
            </a:r>
            <a:r>
              <a:rPr kumimoji="0" lang="it-IT" altLang="it-IT" sz="1200" b="0" i="0" u="none" strike="noStrike" cap="none" normalizeH="0" baseline="0" dirty="0">
                <a:ln>
                  <a:noFill/>
                </a:ln>
                <a:solidFill>
                  <a:schemeClr val="tx1"/>
                </a:solidFill>
                <a:effectLst/>
              </a:rPr>
              <a:t> room </a:t>
            </a:r>
            <a:r>
              <a:rPr kumimoji="0" lang="it-IT" altLang="it-IT" sz="1200" b="0" i="0" u="none" strike="noStrike" cap="none" normalizeH="0" baseline="0" dirty="0" err="1">
                <a:ln>
                  <a:noFill/>
                </a:ln>
                <a:solidFill>
                  <a:schemeClr val="tx1"/>
                </a:solidFill>
                <a:effectLst/>
              </a:rPr>
              <a:t>counts</a:t>
            </a:r>
            <a:r>
              <a:rPr kumimoji="0" lang="it-IT" altLang="it-IT" sz="1200" b="0" i="0" u="none" strike="noStrike" cap="none" normalizeH="0" baseline="0" dirty="0">
                <a:ln>
                  <a:noFill/>
                </a:ln>
                <a:solidFill>
                  <a:schemeClr val="tx1"/>
                </a:solidFill>
                <a:effectLst/>
              </a:rPr>
              <a:t>, so the model </a:t>
            </a:r>
            <a:r>
              <a:rPr kumimoji="0" lang="it-IT" altLang="it-IT" sz="1200" b="0" i="0" u="none" strike="noStrike" cap="none" normalizeH="0" baseline="0" dirty="0" err="1">
                <a:ln>
                  <a:noFill/>
                </a:ln>
                <a:solidFill>
                  <a:schemeClr val="tx1"/>
                </a:solidFill>
                <a:effectLst/>
              </a:rPr>
              <a:t>is</a:t>
            </a:r>
            <a:r>
              <a:rPr kumimoji="0" lang="it-IT" altLang="it-IT" sz="1200" b="0" i="0" u="none" strike="noStrike" cap="none" normalizeH="0" baseline="0" dirty="0">
                <a:ln>
                  <a:noFill/>
                </a:ln>
                <a:solidFill>
                  <a:schemeClr val="tx1"/>
                </a:solidFill>
                <a:effectLst/>
              </a:rPr>
              <a:t> more </a:t>
            </a:r>
            <a:r>
              <a:rPr kumimoji="0" lang="it-IT" altLang="it-IT" sz="1200" b="0" i="0" u="none" strike="noStrike" cap="none" normalizeH="0" baseline="0" dirty="0" err="1">
                <a:ln>
                  <a:noFill/>
                </a:ln>
                <a:solidFill>
                  <a:schemeClr val="tx1"/>
                </a:solidFill>
                <a:effectLst/>
              </a:rPr>
              <a:t>reliable</a:t>
            </a:r>
            <a:r>
              <a:rPr kumimoji="0" lang="it-IT" altLang="it-IT" sz="1200" b="0" i="0" u="none" strike="noStrike" cap="none" normalizeH="0" baseline="0" dirty="0">
                <a:ln>
                  <a:noFill/>
                </a:ln>
                <a:solidFill>
                  <a:schemeClr val="tx1"/>
                </a:solidFill>
                <a:effectLst/>
              </a:rPr>
              <a:t> for common </a:t>
            </a:r>
            <a:r>
              <a:rPr kumimoji="0" lang="it-IT" altLang="it-IT" sz="1200" b="0" i="0" u="none" strike="noStrike" cap="none" normalizeH="0" baseline="0" dirty="0" err="1">
                <a:ln>
                  <a:noFill/>
                </a:ln>
                <a:solidFill>
                  <a:schemeClr val="tx1"/>
                </a:solidFill>
                <a:effectLst/>
              </a:rPr>
              <a:t>occupancy</a:t>
            </a:r>
            <a:r>
              <a:rPr kumimoji="0" lang="it-IT" altLang="it-IT" sz="1200" b="0" i="0" u="none" strike="noStrike" cap="none" normalizeH="0" baseline="0" dirty="0">
                <a:ln>
                  <a:noFill/>
                </a:ln>
                <a:solidFill>
                  <a:schemeClr val="tx1"/>
                </a:solidFill>
                <a:effectLst/>
              </a:rPr>
              <a:t> </a:t>
            </a:r>
            <a:r>
              <a:rPr kumimoji="0" lang="it-IT" altLang="it-IT" sz="1200" b="0" i="0" u="none" strike="noStrike" cap="none" normalizeH="0" baseline="0" dirty="0" err="1">
                <a:ln>
                  <a:noFill/>
                </a:ln>
                <a:solidFill>
                  <a:schemeClr val="tx1"/>
                </a:solidFill>
                <a:effectLst/>
              </a:rPr>
              <a:t>levels</a:t>
            </a:r>
            <a:r>
              <a:rPr kumimoji="0" lang="it-IT" altLang="it-IT" sz="1200" b="0" i="0" u="none" strike="noStrike" cap="none" normalizeH="0" baseline="0" dirty="0">
                <a:ln>
                  <a:noFill/>
                </a:ln>
                <a:solidFill>
                  <a:schemeClr val="tx1"/>
                </a:solidFill>
                <a:effectLst/>
              </a:rPr>
              <a:t> </a:t>
            </a:r>
            <a:r>
              <a:rPr kumimoji="0" lang="it-IT" altLang="it-IT" sz="1200" b="0" i="0" u="none" strike="noStrike" cap="none" normalizeH="0" baseline="0" dirty="0" err="1">
                <a:ln>
                  <a:noFill/>
                </a:ln>
                <a:solidFill>
                  <a:schemeClr val="tx1"/>
                </a:solidFill>
                <a:effectLst/>
              </a:rPr>
              <a:t>than</a:t>
            </a:r>
            <a:r>
              <a:rPr kumimoji="0" lang="it-IT" altLang="it-IT" sz="1200" b="0" i="0" u="none" strike="noStrike" cap="none" normalizeH="0" baseline="0" dirty="0">
                <a:ln>
                  <a:noFill/>
                </a:ln>
                <a:solidFill>
                  <a:schemeClr val="tx1"/>
                </a:solidFill>
                <a:effectLst/>
              </a:rPr>
              <a:t> rare </a:t>
            </a:r>
            <a:r>
              <a:rPr kumimoji="0" lang="it-IT" altLang="it-IT" sz="1200" b="0" i="0" u="none" strike="noStrike" cap="none" normalizeH="0" baseline="0" dirty="0" err="1">
                <a:ln>
                  <a:noFill/>
                </a:ln>
                <a:solidFill>
                  <a:schemeClr val="tx1"/>
                </a:solidFill>
                <a:effectLst/>
              </a:rPr>
              <a:t>ones</a:t>
            </a:r>
            <a:r>
              <a:rPr kumimoji="0" lang="it-IT" altLang="it-IT" sz="1200" b="0" i="0" u="none" strike="noStrike" cap="none" normalizeH="0" baseline="0" dirty="0">
                <a:ln>
                  <a:noFill/>
                </a:ln>
                <a:solidFill>
                  <a:schemeClr val="tx1"/>
                </a:solidFill>
                <a:effectLst/>
              </a:rPr>
              <a:t>. </a:t>
            </a:r>
          </a:p>
        </p:txBody>
      </p:sp>
      <p:sp>
        <p:nvSpPr>
          <p:cNvPr id="16" name="Google Shape;423;p21">
            <a:extLst>
              <a:ext uri="{FF2B5EF4-FFF2-40B4-BE49-F238E27FC236}">
                <a16:creationId xmlns:a16="http://schemas.microsoft.com/office/drawing/2014/main" id="{2776F626-B1A6-A411-6B2A-0A34E1D73B00}"/>
              </a:ext>
            </a:extLst>
          </p:cNvPr>
          <p:cNvSpPr txBox="1"/>
          <p:nvPr/>
        </p:nvSpPr>
        <p:spPr>
          <a:xfrm>
            <a:off x="663270" y="486504"/>
            <a:ext cx="3644035" cy="618591"/>
          </a:xfrm>
          <a:prstGeom prst="rect">
            <a:avLst/>
          </a:prstGeom>
          <a:solidFill>
            <a:schemeClr val="bg1"/>
          </a:solidFill>
          <a:ln>
            <a:noFill/>
          </a:ln>
        </p:spPr>
        <p:txBody>
          <a:bodyPr spcFirstLastPara="1" wrap="square" lIns="91425" tIns="45700" rIns="91425" bIns="45700" anchor="t" anchorCtr="0">
            <a:spAutoFit/>
          </a:bodyPr>
          <a:lstStyle/>
          <a:p>
            <a:pPr lvl="0">
              <a:lnSpc>
                <a:spcPct val="90000"/>
              </a:lnSpc>
            </a:pPr>
            <a:r>
              <a:rPr lang="en-US" sz="2400" b="1">
                <a:solidFill>
                  <a:srgbClr val="4892DC"/>
                </a:solidFill>
                <a:latin typeface="Arial"/>
                <a:ea typeface="Arial"/>
                <a:cs typeface="Arial"/>
                <a:sym typeface="Arial"/>
              </a:rPr>
              <a:t>3</a:t>
            </a:r>
            <a:r>
              <a:rPr lang="en-US" sz="2400" b="1" i="0" u="none" strike="noStrike" cap="none">
                <a:solidFill>
                  <a:srgbClr val="4892DC"/>
                </a:solidFill>
                <a:latin typeface="Arial"/>
                <a:ea typeface="Arial"/>
                <a:cs typeface="Arial"/>
                <a:sym typeface="Arial"/>
              </a:rPr>
              <a:t>. </a:t>
            </a:r>
            <a:r>
              <a:rPr lang="en-US" sz="2400" b="1" i="0" u="none" strike="noStrike" cap="none" dirty="0">
                <a:solidFill>
                  <a:srgbClr val="4892DC"/>
                </a:solidFill>
                <a:latin typeface="Arial"/>
                <a:ea typeface="Arial"/>
                <a:cs typeface="Arial"/>
                <a:sym typeface="Arial"/>
              </a:rPr>
              <a:t>CASE STUDY</a:t>
            </a:r>
            <a:r>
              <a:rPr lang="en-US" sz="2400" b="1" dirty="0">
                <a:solidFill>
                  <a:srgbClr val="4892DC"/>
                </a:solidFill>
                <a:latin typeface="Arial"/>
                <a:ea typeface="Arial"/>
                <a:cs typeface="Arial"/>
                <a:sym typeface="Arial"/>
              </a:rPr>
              <a:t> </a:t>
            </a:r>
          </a:p>
          <a:p>
            <a:pPr lvl="0">
              <a:lnSpc>
                <a:spcPct val="90000"/>
              </a:lnSpc>
            </a:pPr>
            <a:r>
              <a:rPr lang="en-US" sz="1400" dirty="0">
                <a:solidFill>
                  <a:srgbClr val="4892DC"/>
                </a:solidFill>
                <a:latin typeface="Arial"/>
                <a:ea typeface="Arial"/>
                <a:cs typeface="Arial"/>
                <a:sym typeface="Arial"/>
              </a:rPr>
              <a:t>Key Data and Modeling Considerations</a:t>
            </a:r>
            <a:endParaRPr lang="en-US" u="none" strike="noStrike" cap="none" dirty="0">
              <a:solidFill>
                <a:srgbClr val="4892DC"/>
              </a:solidFill>
              <a:latin typeface="Arial"/>
              <a:ea typeface="Arial"/>
              <a:cs typeface="Arial"/>
              <a:sym typeface="Arial"/>
            </a:endParaRPr>
          </a:p>
        </p:txBody>
      </p:sp>
    </p:spTree>
    <p:extLst>
      <p:ext uri="{BB962C8B-B14F-4D97-AF65-F5344CB8AC3E}">
        <p14:creationId xmlns:p14="http://schemas.microsoft.com/office/powerpoint/2010/main" val="10810868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6416e60d-8431-40ad-8e0a-b8e7d25a9c42">
      <Terms xmlns="http://schemas.microsoft.com/office/infopath/2007/PartnerControls"/>
    </lcf76f155ced4ddcb4097134ff3c332f>
    <TaxCatchAll xmlns="819aff3d-adf9-4f79-9416-33d39113646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A97688A2435E73468C6367E7D2756EFC" ma:contentTypeVersion="10" ma:contentTypeDescription="Een nieuw document maken." ma:contentTypeScope="" ma:versionID="814ad3f074f576e42eb0b2746a989c98">
  <xsd:schema xmlns:xsd="http://www.w3.org/2001/XMLSchema" xmlns:xs="http://www.w3.org/2001/XMLSchema" xmlns:p="http://schemas.microsoft.com/office/2006/metadata/properties" xmlns:ns2="6416e60d-8431-40ad-8e0a-b8e7d25a9c42" xmlns:ns3="819aff3d-adf9-4f79-9416-33d391136465" targetNamespace="http://schemas.microsoft.com/office/2006/metadata/properties" ma:root="true" ma:fieldsID="54e736f6346d483042bcf2ef62afa311" ns2:_="" ns3:_="">
    <xsd:import namespace="6416e60d-8431-40ad-8e0a-b8e7d25a9c42"/>
    <xsd:import namespace="819aff3d-adf9-4f79-9416-33d39113646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416e60d-8431-40ad-8e0a-b8e7d25a9c4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Afbeeldingtags" ma:readOnly="false" ma:fieldId="{5cf76f15-5ced-4ddc-b409-7134ff3c332f}" ma:taxonomyMulti="true" ma:sspId="f8fd9321-a203-48ed-8f4e-ac1e8e0f5174"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19aff3d-adf9-4f79-9416-33d391136465"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954c9550-f74f-464e-848d-8eab8b3f91bd}" ma:internalName="TaxCatchAll" ma:showField="CatchAllData" ma:web="819aff3d-adf9-4f79-9416-33d39113646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F5B5ED5-319F-4083-857F-68F0D14453EC}">
  <ds:schemaRefs>
    <ds:schemaRef ds:uri="http://schemas.microsoft.com/office/2006/metadata/properties"/>
    <ds:schemaRef ds:uri="http://schemas.microsoft.com/office/infopath/2007/PartnerControls"/>
    <ds:schemaRef ds:uri="6416e60d-8431-40ad-8e0a-b8e7d25a9c42"/>
    <ds:schemaRef ds:uri="819aff3d-adf9-4f79-9416-33d391136465"/>
  </ds:schemaRefs>
</ds:datastoreItem>
</file>

<file path=customXml/itemProps2.xml><?xml version="1.0" encoding="utf-8"?>
<ds:datastoreItem xmlns:ds="http://schemas.openxmlformats.org/officeDocument/2006/customXml" ds:itemID="{B67500FD-F2E6-497C-8D54-3DFFFF4A8699}">
  <ds:schemaRefs>
    <ds:schemaRef ds:uri="http://schemas.microsoft.com/sharepoint/v3/contenttype/forms"/>
  </ds:schemaRefs>
</ds:datastoreItem>
</file>

<file path=customXml/itemProps3.xml><?xml version="1.0" encoding="utf-8"?>
<ds:datastoreItem xmlns:ds="http://schemas.openxmlformats.org/officeDocument/2006/customXml" ds:itemID="{E1DB8F22-E505-4278-A60E-6E841B32B8EB}"/>
</file>

<file path=docProps/app.xml><?xml version="1.0" encoding="utf-8"?>
<Properties xmlns="http://schemas.openxmlformats.org/officeDocument/2006/extended-properties" xmlns:vt="http://schemas.openxmlformats.org/officeDocument/2006/docPropsVTypes">
  <TotalTime>84</TotalTime>
  <Words>2862</Words>
  <Application>Microsoft Office PowerPoint</Application>
  <PresentationFormat>Widescreen</PresentationFormat>
  <Paragraphs>325</Paragraphs>
  <Slides>15</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Aptos</vt:lpstr>
      <vt:lpstr>Aptos Display</vt:lpstr>
      <vt:lpstr>Arial</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Toka Frihy</dc:creator>
  <cp:lastModifiedBy>Toka Frihy</cp:lastModifiedBy>
  <cp:revision>100</cp:revision>
  <cp:lastPrinted>2025-06-30T12:55:42Z</cp:lastPrinted>
  <dcterms:created xsi:type="dcterms:W3CDTF">2025-06-23T14:18:11Z</dcterms:created>
  <dcterms:modified xsi:type="dcterms:W3CDTF">2026-06-04T11:14:01Z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0x010100A97688A2435E73468C6367E7D2756EFC</vt:lpwstr>
  </property>
  <property fmtid="{D5CDD505-2E9C-101B-9397-08002B2CF9AE}" pid="3" name="MediaServiceImageTags">
    <vt:lpwstr/>
  </property>
</Properties>
</file>